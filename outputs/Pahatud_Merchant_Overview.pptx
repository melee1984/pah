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f1421fe3914d76" /><Relationship Type="http://schemas.openxmlformats.org/officeDocument/2006/relationships/extended-properties" Target="/docProps/app.xml" Id="R5d00bc6d5b554b6e" /><Relationship Type="http://schemas.openxmlformats.org/officeDocument/2006/relationships/officeDocument" Target="/ppt/presentation.xml" Id="R42a59f3c4ba244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10b25d04d5441b"/>
  </p:sldMasterIdLst>
  <p:notesMasterIdLst>
    <p:notesMasterId xmlns:r="http://schemas.openxmlformats.org/officeDocument/2006/relationships" r:id="R6c6fa41f5d444eb4"/>
  </p:notesMasterIdLst>
  <p:sldIdLst>
    <p:sldId xmlns:r="http://schemas.openxmlformats.org/officeDocument/2006/relationships" id="256" r:id="Rf01e5edef4be421d"/>
    <p:sldId xmlns:r="http://schemas.openxmlformats.org/officeDocument/2006/relationships" id="257" r:id="Rd05dd7f0f21b4d1d"/>
    <p:sldId xmlns:r="http://schemas.openxmlformats.org/officeDocument/2006/relationships" id="258" r:id="Rdefde00245e54d85"/>
    <p:sldId xmlns:r="http://schemas.openxmlformats.org/officeDocument/2006/relationships" id="259" r:id="R0b06027dfbff4777"/>
    <p:sldId xmlns:r="http://schemas.openxmlformats.org/officeDocument/2006/relationships" id="260" r:id="R622801da6ee4488a"/>
    <p:sldId xmlns:r="http://schemas.openxmlformats.org/officeDocument/2006/relationships" id="261" r:id="R950de2e62aff4efd"/>
    <p:sldId xmlns:r="http://schemas.openxmlformats.org/officeDocument/2006/relationships" id="262" r:id="R58cfe5d1178b4fe3"/>
    <p:sldId xmlns:r="http://schemas.openxmlformats.org/officeDocument/2006/relationships" id="263" r:id="R0f1241c2566a4a9b"/>
    <p:sldId xmlns:r="http://schemas.openxmlformats.org/officeDocument/2006/relationships" id="264" r:id="Rbd105b93ea2e44d1"/>
    <p:sldId xmlns:r="http://schemas.openxmlformats.org/officeDocument/2006/relationships" id="265" r:id="R4c96f647685f4f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86d23b50d9459a" /><Relationship Type="http://schemas.openxmlformats.org/officeDocument/2006/relationships/slideMaster" Target="/ppt/slideMasters/slideMaster1.xml" Id="R7910b25d04d5441b" /><Relationship Type="http://schemas.openxmlformats.org/officeDocument/2006/relationships/notesMaster" Target="/ppt/notesMasters/notesMaster1.xml" Id="R6c6fa41f5d444eb4" /><Relationship Type="http://schemas.openxmlformats.org/officeDocument/2006/relationships/presProps" Target="/ppt/presProps.xml" Id="R95a1273c3cc74136" /><Relationship Type="http://schemas.openxmlformats.org/officeDocument/2006/relationships/tableStyles" Target="/ppt/tableStyles.xml" Id="Rc9f1d18c47e1421c" /><Relationship Type="http://schemas.openxmlformats.org/officeDocument/2006/relationships/slide" Target="/ppt/slides/slide1.xml" Id="Rf01e5edef4be421d" /><Relationship Type="http://schemas.openxmlformats.org/officeDocument/2006/relationships/slide" Target="/ppt/slides/slide2.xml" Id="Rd05dd7f0f21b4d1d" /><Relationship Type="http://schemas.openxmlformats.org/officeDocument/2006/relationships/slide" Target="/ppt/slides/slide3.xml" Id="Rdefde00245e54d85" /><Relationship Type="http://schemas.openxmlformats.org/officeDocument/2006/relationships/slide" Target="/ppt/slides/slide4.xml" Id="R0b06027dfbff4777" /><Relationship Type="http://schemas.openxmlformats.org/officeDocument/2006/relationships/slide" Target="/ppt/slides/slide5.xml" Id="R622801da6ee4488a" /><Relationship Type="http://schemas.openxmlformats.org/officeDocument/2006/relationships/slide" Target="/ppt/slides/slide6.xml" Id="R950de2e62aff4efd" /><Relationship Type="http://schemas.openxmlformats.org/officeDocument/2006/relationships/slide" Target="/ppt/slides/slide7.xml" Id="R58cfe5d1178b4fe3" /><Relationship Type="http://schemas.openxmlformats.org/officeDocument/2006/relationships/slide" Target="/ppt/slides/slide8.xml" Id="R0f1241c2566a4a9b" /><Relationship Type="http://schemas.openxmlformats.org/officeDocument/2006/relationships/slide" Target="/ppt/slides/slide9.xml" Id="Rbd105b93ea2e44d1" /><Relationship Type="http://schemas.openxmlformats.org/officeDocument/2006/relationships/slide" Target="/ppt/slides/slide10.xml" Id="R4c96f647685f4f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69e19f108643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46a909e5594580" /><Relationship Type="http://schemas.openxmlformats.org/officeDocument/2006/relationships/notesMaster" Target="/ppt/notesMasters/notesMaster1.xml" Id="Re72f4bb18cc34c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c164908808434c" /><Relationship Type="http://schemas.openxmlformats.org/officeDocument/2006/relationships/notesMaster" Target="/ppt/notesMasters/notesMaster1.xml" Id="Rd6d9ac6598774c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ccc36bb33947ea" /><Relationship Type="http://schemas.openxmlformats.org/officeDocument/2006/relationships/notesMaster" Target="/ppt/notesMasters/notesMaster1.xml" Id="R685f9f9e313e4b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5b95eaebac467e" /><Relationship Type="http://schemas.openxmlformats.org/officeDocument/2006/relationships/notesMaster" Target="/ppt/notesMasters/notesMaster1.xml" Id="R29712bf1dc3d46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fed17ba824406e" /><Relationship Type="http://schemas.openxmlformats.org/officeDocument/2006/relationships/notesMaster" Target="/ppt/notesMasters/notesMaster1.xml" Id="R993352ba440a47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d1ae02c18f4f06" /><Relationship Type="http://schemas.openxmlformats.org/officeDocument/2006/relationships/notesMaster" Target="/ppt/notesMasters/notesMaster1.xml" Id="R30cfde27cd044d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8d5c86f74a4fa8" /><Relationship Type="http://schemas.openxmlformats.org/officeDocument/2006/relationships/notesMaster" Target="/ppt/notesMasters/notesMaster1.xml" Id="R299e44aedf8744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3d666b495b49bd" /><Relationship Type="http://schemas.openxmlformats.org/officeDocument/2006/relationships/notesMaster" Target="/ppt/notesMasters/notesMaster1.xml" Id="R11220ffc3ef844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bb3899bcaf4634" /><Relationship Type="http://schemas.openxmlformats.org/officeDocument/2006/relationships/notesMaster" Target="/ppt/notesMasters/notesMaster1.xml" Id="R39dc0faa9c9045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9943717e404267" /><Relationship Type="http://schemas.openxmlformats.org/officeDocument/2006/relationships/notesMaster" Target="/ppt/notesMasters/notesMaster1.xml" Id="R6478811ae09441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public/images/pahatud-logo-with-motor.jpg; routes/web.php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Introduce Pahatud Merchant as the operational workspace that keeps the customer-facing app accurate and responsive.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resources/views/merchant/includes/menu.blade.php; resources/views/merchant/pages/dashboard.blade.php; public/images/app-preview/home.png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Explain that the customer app and merchant portal are two sides of the same transaction, with merchant updates flowing into the customer experience.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resources/views/merchant/pages/help.blade.php; resources/views/merchant/pages/application.blade.php; routes/web.php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Clarify that approval documents apply to the application flow and that merchants should not open the store until operational information is 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resources/views/merchant/includes/menu.blade.php; resources/views/merchant/pages/help.blade.php; public/images/app-preview/restaurants.png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Use the customer screen to show why profile, branch, category, and status accuracy matters.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resources/js/components/merchant/pages/products/ViewComponent.vue; resources/views/merchant/pages/help.blade.php; public/images/banner-left.png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Emphasize real-time availability and transparent add-on pricing as practical controls for order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resources/views/merchant/pages/help.blade.php; resources/js/components/merchant/pages/orders/ViewComponent.vue; routes/web.php; public/images/app-preview/order-tracking.png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Connect merchant preparation steps with the customer's order-tracking experience. Avoid promising a specific rider assignment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resources/views/merchant/pages/promotions/index.blade.php; resources/views/merchant/pages/promotions/form.blade.php; resources/views/merchant/pages/coupons/form.blade.php; public/images/highlights/ads1.png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Separate the two mechanics clearly: checkout coupons take effect through coupon settings, while promotional banners require administrator approval before app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resources/js/components/merchant/pages/report/OrderReportTodayComponent.vue; resources/views/merchant/pages/reports/today.blade.php; resources/views/merchant/pages/help.blade.php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Do not insert sample revenue figures. Explain the relationship between gross, commission, and estimated merchant net using the labels from the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resources/views/merchant/pages/help.blade.php; resources/views/merchant/pages/dashboard.blade.php; resources/js/components/merchant/includes/MerchantStoreOnlineComponent.vue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Frame these as practical habits based on the implemented controls, not as contractual service-level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resources/views/merchant/pages/help.blade.php; resources/views/merchant/includes/menu.blade.php; public/images/announcements/pahatud-new-website.png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Close with concrete merchant capabilities and the support channels implemented in the merchant help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c5fbd76a9c4d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88f0dd93a3432a" /><Relationship Type="http://schemas.openxmlformats.org/officeDocument/2006/relationships/slideLayout" Target="/ppt/slideLayouts/slideLayout1.xml" Id="Ra211301bddf642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11301bddf642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8fde4fee248ea" /><Relationship Type="http://schemas.openxmlformats.org/officeDocument/2006/relationships/image" Target="/ppt/media/image.jpeg" Id="R1b5588b423ac4589" /><Relationship Type="http://schemas.openxmlformats.org/officeDocument/2006/relationships/notesSlide" Target="/ppt/notesSlides/notesSlide1.xml" Id="Rdfd7136e0a1040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200c0c4dd4967" /><Relationship Type="http://schemas.openxmlformats.org/officeDocument/2006/relationships/image" Target="/ppt/media/image.png" Id="R31290a6e2b2b4985" /><Relationship Type="http://schemas.openxmlformats.org/officeDocument/2006/relationships/notesSlide" Target="/ppt/notesSlides/notesSlide2.xml" Id="R9baffcfba69445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d7f7d1aa04ddb" /><Relationship Type="http://schemas.openxmlformats.org/officeDocument/2006/relationships/image" Target="/ppt/media/image2.jpeg" Id="R5aad7119f21e4168" /><Relationship Type="http://schemas.openxmlformats.org/officeDocument/2006/relationships/notesSlide" Target="/ppt/notesSlides/notesSlide3.xml" Id="Rd9f456e4fdee49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25f7264854656" /><Relationship Type="http://schemas.openxmlformats.org/officeDocument/2006/relationships/image" Target="/ppt/media/image2.png" Id="R472a009ef98d43a6" /><Relationship Type="http://schemas.openxmlformats.org/officeDocument/2006/relationships/notesSlide" Target="/ppt/notesSlides/notesSlide4.xml" Id="Rb93a8b6f05f142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ea475c0ec478f" /><Relationship Type="http://schemas.openxmlformats.org/officeDocument/2006/relationships/image" Target="/ppt/media/image3.png" Id="R580ec560f9ad47c3" /><Relationship Type="http://schemas.openxmlformats.org/officeDocument/2006/relationships/notesSlide" Target="/ppt/notesSlides/notesSlide5.xml" Id="R243738cb99644e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d30a096504c34" /><Relationship Type="http://schemas.openxmlformats.org/officeDocument/2006/relationships/image" Target="/ppt/media/image4.png" Id="Raefdd3b3a62c4d0c" /><Relationship Type="http://schemas.openxmlformats.org/officeDocument/2006/relationships/image" Target="/ppt/media/image5.png" Id="Rdd3ab2fadcd14cd6" /><Relationship Type="http://schemas.openxmlformats.org/officeDocument/2006/relationships/notesSlide" Target="/ppt/notesSlides/notesSlide6.xml" Id="Rce9b7f23967849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6a83302fe44df" /><Relationship Type="http://schemas.openxmlformats.org/officeDocument/2006/relationships/image" Target="/ppt/media/image6.png" Id="R759912c22d214558" /><Relationship Type="http://schemas.openxmlformats.org/officeDocument/2006/relationships/notesSlide" Target="/ppt/notesSlides/notesSlide7.xml" Id="R5ba054e8ca5246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a9d1dc4c24acc" /><Relationship Type="http://schemas.openxmlformats.org/officeDocument/2006/relationships/image" Target="/ppt/media/image7.png" Id="R2e91a7c070db45bb" /><Relationship Type="http://schemas.openxmlformats.org/officeDocument/2006/relationships/notesSlide" Target="/ppt/notesSlides/notesSlide8.xml" Id="Rf99ec87c250247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79578db4e4894" /><Relationship Type="http://schemas.openxmlformats.org/officeDocument/2006/relationships/image" Target="/ppt/media/image8.png" Id="R062321884b3c4c67" /><Relationship Type="http://schemas.openxmlformats.org/officeDocument/2006/relationships/notesSlide" Target="/ppt/notesSlides/notesSlide9.xml" Id="R26dae3eb467045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99f43440b433e" /><Relationship Type="http://schemas.openxmlformats.org/officeDocument/2006/relationships/image" Target="/ppt/media/image9.png" Id="R8ae734d562454864" /><Relationship Type="http://schemas.openxmlformats.org/officeDocument/2006/relationships/notesSlide" Target="/ppt/notesSlides/notesSlide10.xml" Id="Rce7dc02dad9044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567EA-2C42-4D42-B20D-B8230721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9EC15-B2CD-464B-AF83-448EC838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405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Pahatud Merchant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A9557-BF01-4657-AC9F-6567D31A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The merchant workspace behind the Pahatud customer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81F83-7C49-4460-89E8-23DD24F2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638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57C47-3E74-4326-B5E6-B5BCB603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C92725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C92725"/>
                </a:solidFill>
                <a:latin typeface="Avenir Next"/>
                <a:ea typeface="Avenir Next"/>
                <a:cs typeface="Avenir Next"/>
              </a:rPr>
              <a:t>Store setup  ·  catalog  ·  orders  ·  promotions  ·  sales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63885-7ED5-4E3C-95A9-B95652E8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28650"/>
            <a:ext cx="5295900" cy="560070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588b423ac4589"/>
          <a:srcRect xmlns:a="http://schemas.openxmlformats.org/drawingml/2006/main" l="18396" t="0" r="183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1275" y="828675"/>
            <a:ext cx="4933950" cy="5200650"/>
          </a:xfrm>
          <a:prstGeom xmlns:a="http://schemas.openxmlformats.org/drawingml/2006/main" prst="roundRect">
            <a:avLst>
              <a:gd name="adj" fmla="val 4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2A4B5-B027-485B-B88A-7B2F4AC1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769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Merchant overview</a:t>
            </a:r>
          </a:p>
        </p:txBody>
      </p:sp>
    </p:spTree>
    <p:extLst>
      <p:ext uri="{BB962C8B-B14F-4D97-AF65-F5344CB8AC3E}">
        <p14:creationId xmlns:p14="http://schemas.microsoft.com/office/powerpoint/2010/main" val="13717995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B3C08C-7707-471B-B765-FEA3B6DD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PRODUCT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56642-03F3-4171-BE15-BEBDB405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One connected service for customers and merchants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EC5F8-0FD2-4B0F-B51A-96FBDC6A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Customers discover and order in Pahatud. Merchants manage the storefront and fulfillment behind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4BC6C-964D-4E5E-9B2A-58AB672B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192BD-0BE8-4614-B1B6-11D184B9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CUSTOMER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A8B1F-5AE5-45AF-82D4-DE6E8CD5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76500"/>
            <a:ext cx="2667000" cy="35623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290a6e2b2b4985"/>
          <a:srcRect xmlns:a="http://schemas.openxmlformats.org/drawingml/2006/main" l="0" t="18571" r="0" b="185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8225" y="2581275"/>
            <a:ext cx="2400300" cy="3352800"/>
          </a:xfrm>
          <a:prstGeom xmlns:a="http://schemas.openxmlformats.org/drawingml/2006/main" prst="roundRect">
            <a:avLst>
              <a:gd name="adj" fmla="val 634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C920B-A103-4473-882E-AFE58C4D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4815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38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466EB-CBB3-450F-A9FC-45DC3544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095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1248D-BDFB-4460-A6F8-BEE5D6EA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076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88C88-D3BA-4F40-896D-9A0DE353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1526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MERCHANT WORKSPACE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2CBD7-766C-47D3-9ABE-6B383002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00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23CC6-FFE3-43CB-A911-E9805B63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241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Storefront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25624-3C89-433A-A2A6-E9FCD2D0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43175"/>
            <a:ext cx="3857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Profile, branches, categories, and online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165731-1399-4EF5-A780-3A0AE4B3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067050"/>
            <a:ext cx="552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D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C4AA7-0C37-4B9F-98EA-F5BFF077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86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9C193-5DFD-4855-A88E-61AB59E6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09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Catalog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00572-D399-4FB0-801E-763F2E70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28975"/>
            <a:ext cx="3857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Products, pricing, availability, variants, and add-ons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76313-D2F9-4301-BF64-C6886606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52850"/>
            <a:ext cx="552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D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B068CE-F103-4D32-9221-C5700492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71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ED0B6A-DBDE-4BC6-B712-B2DCFE75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8957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Operations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D180DC-C504-4D53-82ED-44E62008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14775"/>
            <a:ext cx="3857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Incoming orders, preparation, rider pickup, and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42FA5C-D0BA-4A7D-9D7A-6B2B791F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38650"/>
            <a:ext cx="552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D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6F8500-1E8A-4344-A0F3-DC476BD9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57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61F558-E88A-471D-BD12-98EA6B79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5815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Growth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3D7B6D-B314-44B7-9AA1-A243F226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00575"/>
            <a:ext cx="3857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Coupons, promotional banners, and app visibility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5DB5EC-8956-4166-9B9E-E8560492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124450"/>
            <a:ext cx="552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D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DA9F97-5B57-4096-85BD-7B4DFF39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43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8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0C23D0-CC92-4BDF-B1C7-ED05F95D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2673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Reporting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4D4996-C0FF-4F8A-B12F-08E292CF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86375"/>
            <a:ext cx="3857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Completed sales, commission, and merchant net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F0A984-ACC0-49A1-A9F3-397B1401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PAHATUD MERCHANT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405797-E8F6-43DF-B4EF-ED307E01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881745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C6A61A-87F8-4FA4-B027-40A4FBDA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MERCHANT ONBOARDING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4FA39-AFED-4185-883A-C0F30C50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From application to an order-ready 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B71AC-7545-430C-B45F-CEB3A37E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The merchant journey includes business details, required documents, review, and operational setup.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56514-792C-47EF-9AAF-B7891846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d7119f21e4168"/>
          <a:srcRect xmlns:a="http://schemas.openxmlformats.org/drawingml/2006/main" l="0" t="11408" r="0" b="114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71700"/>
            <a:ext cx="3952875" cy="371475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4E972-03B0-420E-A320-B0AFBB6C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43175"/>
            <a:ext cx="0" cy="2876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7D9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BCF0D-90E1-4CA5-A2AE-AF64B565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2669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B7939-9EC5-40E4-B7F8-42F1C829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276475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8CA0C-67AF-4C88-8E28-04BE8660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57425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Create the merchant account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8FB31-26AD-4D22-978C-39DF553A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431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Provide the restaurant and administrator information.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81146-4FD9-4DA7-A9D0-9C8C638F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990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761B1-BD73-4C05-8193-6D534DA3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000375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973FF-4461-4DE6-A6CE-FADDEAA9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81325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Complete the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8140F-FDC5-48DD-923E-08815D93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670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Confirm business, contact, address, and payout details.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1D81D-DCB5-498D-A34F-BECEF386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14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7E089-B5A8-42AE-A784-32C62D84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24275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3284A0-BE79-49A0-8A0A-957A531F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05225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Upload required documents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08E753-6181-422E-A24D-AE952313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909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Government ID and business registration are standard requirements.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BCEB84-EFB8-45C9-8B69-C3E046B4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438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68842-5434-461A-B6F7-89BD7910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448175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304A8B-5461-418C-9543-0BCECA16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29125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Resolve review findings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5B8A3-CEF5-419C-AD7E-08FD7516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7148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Replace rejected or expired files using administrator remarks.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48703E-9267-4A76-AFC0-098BBAA4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162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70AD24-E2E8-4F42-8097-6085FE53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172075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09F727-613B-4F27-B73E-2669302E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53025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Prepare the store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8E4600-6393-4C36-849D-DFC6E53A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4387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Check menu, categories, branches, pricing, and availability before going online.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9CB26D-94C1-462B-84B6-88C2DB1A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PAHATUD MERCHANT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357475-3254-4A94-A435-E6B368D1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692932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A36838-0CB4-4088-9ABF-A54C5176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STOREFRONT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6D574-2D23-4A96-B089-E4CA26BA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Merchant updates shape what customers see before ordering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6040A-B173-4C54-A3AF-6B678AAE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The portal controls essential discovery and availability information shown through Pahatud.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33335-0018-49AA-BDBC-402840F5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889D5-3E20-40A7-B1EA-14A20690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BD19A-0E79-438D-810C-4B34B219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38375"/>
            <a:ext cx="2076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B0FE7-A3C8-496B-A54F-4DF2A561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90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Restaurant name and customer-facing contact information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F6B0D-6C46-4D38-B3AD-D72B4BB3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194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9F1CF8-96BE-4FEE-8A04-742A64C2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BD462-3F12-4C1C-8AF4-B337C75F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05150"/>
            <a:ext cx="2076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Branches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EF7C6-143C-4E58-95CF-18539BE9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57575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Address, telephone, mobile, and service location details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365D6-37C2-40F3-99AA-700577A7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8620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D2F90-B576-4599-9600-70078F8F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8F7EF-8B50-4F70-88BB-E1C9AADA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71925"/>
            <a:ext cx="2076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Categories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478BC-CB6D-426D-8277-4B80C265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2435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Menu organization that helps customers browse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F4459-3A25-466F-9E94-57D00456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5297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42007B-4DA6-42AA-BE80-16C669AB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95F51-83F0-4215-9C70-23DC851F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38700"/>
            <a:ext cx="2076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Online 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FBB147-A1F2-4A87-8375-7F69E8F3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91125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Whether the store is currently accepting orders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0F3D3D-8BC5-44AA-8C4F-7209BA77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4648200" cy="4000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a009ef98d43a6"/>
          <a:srcRect xmlns:a="http://schemas.openxmlformats.org/drawingml/2006/main" l="0" t="26000" r="0" b="26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3700" y="2266950"/>
            <a:ext cx="3429000" cy="36576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9470D-D9F2-46BD-8CC2-A36AB007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657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Visible to customers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B8F83D-6986-4577-847A-017E956F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PAHATUD MERCHANT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3C7F46-5038-425E-8BB6-902F2DB2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471625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5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E06F78-80E4-4B5F-8DD3-AD377D59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777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7772"/>
                </a:solidFill>
                <a:latin typeface="Avenir Next"/>
                <a:ea typeface="Avenir Next"/>
                <a:cs typeface="Avenir Next"/>
              </a:rPr>
              <a:t>CATALOG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32B25-14D2-4F47-87BD-29378AA2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0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menu customers can order with confidence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4D437-8C63-4A99-A8AD-C452F77C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478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D7CFCA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D7CFCA"/>
                </a:solidFill>
                <a:latin typeface="Avenir Next"/>
                <a:ea typeface="Avenir Next"/>
                <a:cs typeface="Avenir Next"/>
              </a:rPr>
              <a:t>Clear product information reduces avoidable substitutions and cancellations.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ec560f9ad47c3"/>
          <a:stretch xmlns:a="http://schemas.openxmlformats.org/drawingml/2006/main"/>
        </p:blipFill>
        <p:spPr>
          <a:xfrm xmlns:a="http://schemas.openxmlformats.org/drawingml/2006/main">
            <a:off x="7410450" y="1653762"/>
            <a:ext cx="4248150" cy="351237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6222E-282F-4247-B627-64637FB6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EFC30-988F-4971-8B6E-BAD801FE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812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2308C-47E6-474A-A026-6DBC0E05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52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Product basics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D1C4F-C2D2-496B-A993-1C65C1C1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67025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C7BF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C7BFBA"/>
                </a:solidFill>
                <a:latin typeface="Avenir Next"/>
                <a:ea typeface="Avenir Next"/>
                <a:cs typeface="Avenir Next"/>
              </a:rPr>
              <a:t>Name, description, price, image, and category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8740D-0A3D-4BE8-9881-06D01591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8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C26D4-C15D-4354-8CF7-877BF2BE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94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DF534-29C5-4041-8F49-5C6D6D63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90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Availability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7399A-0DFF-4D30-B1BA-56492576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C7BF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C7BFBA"/>
                </a:solidFill>
                <a:latin typeface="Avenir Next"/>
                <a:ea typeface="Avenir Next"/>
                <a:cs typeface="Avenir Next"/>
              </a:rPr>
              <a:t>Publish active items and hide sold-out products quickly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8C88C-8893-481A-A526-FCAAD7E4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EE94A-B9DC-40A1-B1BD-3E35BD30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576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7651FA-BF5C-4023-8234-21F203F0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Customer choices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96171E-E2ED-4D7D-B0EB-149FDBDA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43425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C7BF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C7BFBA"/>
                </a:solidFill>
                <a:latin typeface="Avenir Next"/>
                <a:ea typeface="Avenir Next"/>
                <a:cs typeface="Avenir Next"/>
              </a:rPr>
              <a:t>Use variants and add-ons for size, flavor, extras, or preparation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3A79C-027E-494A-AAFD-653DB192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24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EA2224-A2E2-4968-83DA-990046C2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C28300-DCF2-4302-ABBE-04F2656F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67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Catalog hygiene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7335D1-985B-49FA-94BB-2EF72FC6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81625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C7BF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C7BFBA"/>
                </a:solidFill>
                <a:latin typeface="Avenir Next"/>
                <a:ea typeface="Avenir Next"/>
                <a:cs typeface="Avenir Next"/>
              </a:rPr>
              <a:t>Keep labels short and show every additional charge clearly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D9D1A5-902B-4BC0-B3FD-9E8AF7BF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FBD6D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BD6D2"/>
                </a:solidFill>
                <a:latin typeface="Avenir Next"/>
                <a:ea typeface="Avenir Next"/>
                <a:cs typeface="Avenir Next"/>
              </a:rPr>
              <a:t>PAHATUD MERCHANT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F39EAE-FF45-4961-B854-BAC9E97B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BD6D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BD6D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017060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E52767-5EFA-4B62-8BDC-7EF1D405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ORDER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0F950-21EC-40AD-AC13-80D705FD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Each order stays visible from acceptance to rider pickup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D1192-2B7B-4C4F-AAB5-3B78768A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The merchant workspace refreshes order activity and exposes the details needed to prepare the right package.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1DDB4-EFB7-4583-BC93-B70B0A85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D8786-57BC-47A4-8FEA-BEBE7DF7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33600"/>
            <a:ext cx="2857500" cy="3962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dd3b3a62c4d0c"/>
          <a:srcRect xmlns:a="http://schemas.openxmlformats.org/drawingml/2006/main" l="0" t="15179" r="0" b="151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0" y="2257425"/>
            <a:ext cx="2400300" cy="3714750"/>
          </a:xfrm>
          <a:prstGeom xmlns:a="http://schemas.openxmlformats.org/drawingml/2006/main" prst="roundRect">
            <a:avLst>
              <a:gd name="adj" fmla="val 6349"/>
            </a:avLst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ab2fadcd14cd6"/>
          <a:stretch xmlns:a="http://schemas.openxmlformats.org/drawingml/2006/main"/>
        </p:blipFill>
        <p:spPr>
          <a:xfrm xmlns:a="http://schemas.openxmlformats.org/drawingml/2006/main">
            <a:off x="6705600" y="46672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F5918-123E-4858-BE26-3EDB4F7C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667000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7D9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08070-C5F2-4B46-B23A-EBEA972E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295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9712E-C663-48CD-B1A1-942A93ED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05050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D36DE-96F8-4CFE-9CB5-4E34EAC3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57425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88B32-56F0-44D2-86AD-96476705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9080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Check every item, quantity, option, customer note, and delivery time.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389F6-ED19-4962-AC43-C6C0BFF9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1908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968B7-D7F8-49FA-A7AC-66B8B074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00400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57E62-747F-4C95-8233-2796D37F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52775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Confirm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49158-3589-44F3-A82F-D10F7DB4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8615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Respond promptly and keep the order visible during preparation.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CB87A-5B0A-4032-9D4F-C24D451D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862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9A88DF-0EC6-4700-B6D1-5C0E4769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95750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4E14EC-364C-4B42-BBFC-0006BB23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48125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Prepare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913ABF-94C4-43E8-8A66-B198F8D5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8150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Complete, pack, and check the full order before changing its status.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8AAB9F-F63B-4EBA-82CC-F8554DB3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815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8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FCE1EA-DC50-4657-BA98-3EC9AC6F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91100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9E6678-0F19-4AB8-99F3-5FBC9210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43475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Release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6464AC-5233-44D1-8BBB-F48E6321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7685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Mark ready when the package can be collected, then coordinate rider pickup.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50F985-E5A8-47EE-A133-410CEE84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38825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9272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C92725"/>
                </a:solidFill>
                <a:latin typeface="Avenir Next"/>
                <a:ea typeface="Avenir Next"/>
                <a:cs typeface="Avenir Next"/>
              </a:rPr>
              <a:t>Order detail includes totals, discounts, customer information, rider status, and delivery proof when available.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45C6E8-C9D2-4E89-B214-21AD9FAB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PAHATUD MERCHANT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6662DB-A764-4F18-BD8A-FB1B1B79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225160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E2CE57-AFE6-4F5B-A7D1-78E68981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MERCHANT MARKETING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3BC87-E482-4F24-9C6D-35529896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Two tools support store-specific offers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3D47E-CDE1-459E-A022-EBE177A5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Coupons change the checkout price. Promotional banners increase visibility after administrator approval.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6364D-24A6-4507-AF34-FC8DE1C1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912c22d214558"/>
          <a:srcRect xmlns:a="http://schemas.openxmlformats.org/drawingml/2006/main" l="0" t="558" r="0" b="5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200275"/>
            <a:ext cx="4905375" cy="2771775"/>
          </a:xfrm>
          <a:prstGeom xmlns:a="http://schemas.openxmlformats.org/drawingml/2006/main" prst="roundRect">
            <a:avLst>
              <a:gd name="adj" fmla="val 824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CB021-AF15-418D-BDCA-F09B72FB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383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COUPONS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AEA15-13E4-4574-8E1E-BAA6CBAD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527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Flexible checkout discounts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3559F-6AFA-4B77-8179-6C71036D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28950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Choose a fixed peso value or percentage. Add a minimum order, usage limit, validity window, and active switch.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3E2CF-6B89-4901-9FD0-0C9A2731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00500"/>
            <a:ext cx="470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73BED-0D7C-4637-8B1A-E0592B97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957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PROMOTIONAL BANNERS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42856-71F6-4BB1-88FC-AEC1ACDB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101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Scheduled app visibility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CD4A8-8144-4559-A16E-0A005DDB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86350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Upload a 1600 × 800 banner, set timing and display order, then submit it for review. Approved offers can move through scheduled, live, and expired states.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57503-1197-42FF-B499-5909E42D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4905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92725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C92725"/>
                </a:solidFill>
                <a:latin typeface="Avenir Next"/>
                <a:ea typeface="Avenir Next"/>
                <a:cs typeface="Avenir Next"/>
              </a:rPr>
              <a:t>Administrator approval protects what appears in the customer app.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ADA5AC-8A22-425C-A524-21F874B5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PAHATUD MERCHANT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A26BDF-A17D-4C58-9D0F-4AF695C9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497300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727D26-436A-48AA-B4F5-58A14976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SALES REPORTING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EC87C-54E4-4539-A2A2-43F03D01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Completed orders explain gross sales and merchant net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1B82F-4429-445C-B0C6-CE916B70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Merchants can run a date-range report and inspect the components behind each completed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F4DC7-AEAB-4AE0-8A4B-8F50666F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BDBC3-AF32-4989-8D54-95947C6C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GROSS COMPLETED SALES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87A7E-0EA8-4986-A545-C2730965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Order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06D63-AEFA-4D27-B7C3-EAD0ED50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Includes completed order totals for the selected reporting period.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D098D-9795-429C-940B-C02ED56F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57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A98F7-4020-41B5-A782-F730C3D5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0982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PLATFORM COMMISSION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635CE-D4EB-4F49-8959-8D393819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432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Commission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1FAB6-A669-4455-AEF4-29C41D68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67075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Reported separately so the merchant can see the platform share.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E3F1E-E2EA-4459-9882-81D1C15C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57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22845A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22845A"/>
                </a:solidFill>
                <a:latin typeface="Avenir Next"/>
                <a:ea typeface="Avenir Next"/>
                <a:cs typeface="Avenir Next"/>
              </a:rPr>
              <a:t>=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B21E8-9152-4474-B26A-6302E159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0275"/>
            <a:ext cx="3476625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C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6D312-4D9A-4CEC-BDF2-D845E032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9272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C92725"/>
                </a:solidFill>
                <a:latin typeface="Avenir Next"/>
                <a:ea typeface="Avenir Next"/>
                <a:cs typeface="Avenir Next"/>
              </a:rPr>
              <a:t>ESTIMATED MERCHANT NET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3571DF-2E13-4179-A81A-BD177C10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Net earnings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3FD551-0CD0-4AEB-B21F-848B761C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718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The amount assigned to the restaurant after commission and applicable entries.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033DF-D0CF-4CA6-886D-BCA909B1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1a7c070db45bb"/>
          <a:stretch xmlns:a="http://schemas.openxmlformats.org/drawingml/2006/main"/>
        </p:blipFill>
        <p:spPr>
          <a:xfrm xmlns:a="http://schemas.openxmlformats.org/drawingml/2006/main">
            <a:off x="685800" y="494347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B20D49-6A06-46B2-BABD-96FB7836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482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The order-level report also shows items, subtotal, delivery fee, discount, rider, completion time, and status.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32373B-5053-467F-B288-467890DD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6388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C9272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C92725"/>
                </a:solidFill>
                <a:latin typeface="Avenir Next"/>
                <a:ea typeface="Avenir Next"/>
                <a:cs typeface="Avenir Next"/>
              </a:rPr>
              <a:t>Only completed orders contribute to the displayed sales totals.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94599C-808C-47EB-B35B-D55C641C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PAHATUD MERCHANT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8EF4C1-EEC0-42CF-83D9-75D336BA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91967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A656EB-D63A-4F02-8E7A-E74AA224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MERCHANT ROUTINE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52EBD-9EE4-4E46-8680-916F72CB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A simple operating rhythm keeps the store reliable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4A9E0-9572-44CC-9AB2-AFC61E01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Most merchant work falls into four moments across the service day.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D7554-1560-4EE9-8CD9-1E061111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8A88A-1B2B-4DC3-BD2B-8EEBD250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FFE6B-0040-495D-AC75-CEF34E09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38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A13A9-CF92-496D-AE0D-FD3A7845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Before 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CF9CD-8609-4A84-B62B-D92BDB3C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2669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Review profile and branch details. Confirm menu prices and stock. Switch the store online only when staff can monitor orders.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08B3B8-C2CB-4314-8BD4-9D2EB35C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050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4633E-1F4C-4321-83F0-69751A6F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8130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38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2E0D1-22B5-4CD4-AFE0-47041361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19425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During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3BCC1-126F-487D-B613-3A261D03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33800"/>
            <a:ext cx="22669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Keep sold-out items unavailable. Watch incoming orders and respond quickly when a new request appears.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33DD0-263F-4DEE-98A4-7C2367EC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050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2F23A-54DC-42A7-A329-F3FA2612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8130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38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0856B6-9E26-4388-932A-5D4CCE16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19425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For every order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407DA-1D1C-4799-8A44-E3F66015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33800"/>
            <a:ext cx="22669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Check options and notes. Prepare the complete package, mark it ready, and release it to the correct rider.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0819DF-B062-4582-B27E-D6C3AAC4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050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93813C-6857-4B56-962D-DF761BF1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84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0F3F9-786E-4A56-A16B-B9D69431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19425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After 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2B167C-2B62-4191-932B-95889168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22669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Review completed sales, commission, and net. Update tomorrow's availability and switch the store offline when needed.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321884b3c4c67"/>
          <a:stretch xmlns:a="http://schemas.openxmlformats.org/drawingml/2006/main"/>
        </p:blipFill>
        <p:spPr>
          <a:xfrm xmlns:a="http://schemas.openxmlformats.org/drawingml/2006/main">
            <a:off x="9696450" y="4962525"/>
            <a:ext cx="1409700" cy="14097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A605C3-7F80-420A-9328-DF64EE68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8324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84797B-6CE6-46C6-A456-B4FFF985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43575"/>
            <a:ext cx="786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Help and documentation covers account setup, application status, products, orders, sales, payouts, and support.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82B705-7BD3-4340-86A6-EF5C9A68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PAHATUD MERCHANT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57B695-91B4-4D06-9F64-E8C51FA5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804001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638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557CFA-6AC3-442B-93AB-1A5642C1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D7D4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D7D4"/>
                </a:solidFill>
                <a:latin typeface="Avenir Next"/>
                <a:ea typeface="Avenir Next"/>
                <a:cs typeface="Avenir Next"/>
              </a:rPr>
              <a:t>PAHATUD MERCHANT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EAB9A-DB92-4A34-AB45-4EC0810D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85825"/>
            <a:ext cx="5572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Merchant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14EEF-D025-4163-9AB2-F2568B89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E8E6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E8E6"/>
                </a:solidFill>
                <a:latin typeface="Avenir Next"/>
                <a:ea typeface="Avenir Next"/>
                <a:cs typeface="Avenir Next"/>
              </a:rPr>
              <a:t>A clear operating workspace connected to the Pahatud customer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1AB79-678F-4B4A-8BBB-AF0057B1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E2E49-43BD-4B6E-893F-0D59C9A9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FEEA6-3358-4A5B-882C-34BE27B2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495550"/>
            <a:ext cx="585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customer-facing storefront in the Pahatud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19977-487A-49D6-ACE4-12C66EE0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7D6F2-09E4-4779-8B3C-DD7E86BA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64E26-69BD-467C-82F9-A47837E5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124200"/>
            <a:ext cx="585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Direct control of catalog and product availability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78CBC-6B5D-4471-A3A9-1FE816E1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3324A-5BBD-48CF-8C67-7E33F845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E37D9-0C66-454F-B79B-462984FD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752850"/>
            <a:ext cx="585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Order visibility through preparation and rider pickup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5D37D-2FA5-4D56-BC28-7BF5D9E2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9EB226-8E5A-482C-8E72-0DEEA489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C48596-6281-4493-AF5A-0B5E8695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381500"/>
            <a:ext cx="585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Sales reporting with gross, commission, and net amounts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C5C12-147D-4908-AFE0-15B385F4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615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98A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D108C0-BE6B-47A7-9EFB-0CF50E40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D7D4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D7D4"/>
                </a:solidFill>
                <a:latin typeface="Avenir Next"/>
                <a:ea typeface="Avenir Next"/>
                <a:cs typeface="Avenir Next"/>
              </a:rPr>
              <a:t>Merchant 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E0C0AF-0F6F-43FB-8F8C-F20DA964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info@pahatud.com   ·   +63 916 298 6547   ·   (082) 224 3919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734d562454864"/>
          <a:srcRect xmlns:a="http://schemas.openxmlformats.org/drawingml/2006/main" l="13926" t="0" r="13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571500"/>
            <a:ext cx="4095750" cy="5676900"/>
          </a:xfrm>
          <a:prstGeom xmlns:a="http://schemas.openxmlformats.org/drawingml/2006/main" prst="roundRect">
            <a:avLst>
              <a:gd name="adj" fmla="val 5581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B42F2B-499D-4661-AC97-71F003ED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FBD6D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BD6D2"/>
                </a:solidFill>
                <a:latin typeface="Avenir Next"/>
                <a:ea typeface="Avenir Next"/>
                <a:cs typeface="Avenir Next"/>
              </a:rPr>
              <a:t>PAHATUD MERCHANT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DBFD0E-9B82-4D24-B779-BF7C4F85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BD6D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BD6D2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06898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2026-10-01T08:20:59.1450000Z</dcterms:created>
  <dcterms:modified xsi:type="dcterms:W3CDTF">2026-10-01T08:20:59.1450000Z</dcterms:modified>
</coreProperties>
</file>