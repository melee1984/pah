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77f90fd3474725" /><Relationship Type="http://schemas.openxmlformats.org/officeDocument/2006/relationships/extended-properties" Target="/docProps/app.xml" Id="Rbfb0b51cdd724158" /><Relationship Type="http://schemas.openxmlformats.org/officeDocument/2006/relationships/officeDocument" Target="/ppt/presentation.xml" Id="R8fa8fa0b0353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edae750184d5d"/>
  </p:sldMasterIdLst>
  <p:notesMasterIdLst>
    <p:notesMasterId xmlns:r="http://schemas.openxmlformats.org/officeDocument/2006/relationships" r:id="R5c7dd56db8ca4ce0"/>
  </p:notesMasterIdLst>
  <p:sldIdLst>
    <p:sldId xmlns:r="http://schemas.openxmlformats.org/officeDocument/2006/relationships" id="256" r:id="Rfbd25518c0d04d40"/>
    <p:sldId xmlns:r="http://schemas.openxmlformats.org/officeDocument/2006/relationships" id="257" r:id="R5f1490052d984fe1"/>
    <p:sldId xmlns:r="http://schemas.openxmlformats.org/officeDocument/2006/relationships" id="258" r:id="Ra5031042d6c949c5"/>
    <p:sldId xmlns:r="http://schemas.openxmlformats.org/officeDocument/2006/relationships" id="259" r:id="R8b539639f6aa4c08"/>
    <p:sldId xmlns:r="http://schemas.openxmlformats.org/officeDocument/2006/relationships" id="260" r:id="Rf496dff649ef42b9"/>
    <p:sldId xmlns:r="http://schemas.openxmlformats.org/officeDocument/2006/relationships" id="261" r:id="R6e99af99ba5d48f4"/>
    <p:sldId xmlns:r="http://schemas.openxmlformats.org/officeDocument/2006/relationships" id="262" r:id="R903d49bf5f0b4dc7"/>
    <p:sldId xmlns:r="http://schemas.openxmlformats.org/officeDocument/2006/relationships" id="263" r:id="R1ea340f34c86489c"/>
    <p:sldId xmlns:r="http://schemas.openxmlformats.org/officeDocument/2006/relationships" id="264" r:id="Rf223836908ed4221"/>
    <p:sldId xmlns:r="http://schemas.openxmlformats.org/officeDocument/2006/relationships" id="265" r:id="R0647ecfb5d3745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026f521674c73" /><Relationship Type="http://schemas.openxmlformats.org/officeDocument/2006/relationships/slideMaster" Target="/ppt/slideMasters/slideMaster1.xml" Id="R639edae750184d5d" /><Relationship Type="http://schemas.openxmlformats.org/officeDocument/2006/relationships/notesMaster" Target="/ppt/notesMasters/notesMaster1.xml" Id="R5c7dd56db8ca4ce0" /><Relationship Type="http://schemas.openxmlformats.org/officeDocument/2006/relationships/presProps" Target="/ppt/presProps.xml" Id="R3909d1291dba48ff" /><Relationship Type="http://schemas.openxmlformats.org/officeDocument/2006/relationships/tableStyles" Target="/ppt/tableStyles.xml" Id="R36c8e7a861e848d7" /><Relationship Type="http://schemas.openxmlformats.org/officeDocument/2006/relationships/slide" Target="/ppt/slides/slide1.xml" Id="Rfbd25518c0d04d40" /><Relationship Type="http://schemas.openxmlformats.org/officeDocument/2006/relationships/slide" Target="/ppt/slides/slide2.xml" Id="R5f1490052d984fe1" /><Relationship Type="http://schemas.openxmlformats.org/officeDocument/2006/relationships/slide" Target="/ppt/slides/slide3.xml" Id="Ra5031042d6c949c5" /><Relationship Type="http://schemas.openxmlformats.org/officeDocument/2006/relationships/slide" Target="/ppt/slides/slide4.xml" Id="R8b539639f6aa4c08" /><Relationship Type="http://schemas.openxmlformats.org/officeDocument/2006/relationships/slide" Target="/ppt/slides/slide5.xml" Id="Rf496dff649ef42b9" /><Relationship Type="http://schemas.openxmlformats.org/officeDocument/2006/relationships/slide" Target="/ppt/slides/slide6.xml" Id="R6e99af99ba5d48f4" /><Relationship Type="http://schemas.openxmlformats.org/officeDocument/2006/relationships/slide" Target="/ppt/slides/slide7.xml" Id="R903d49bf5f0b4dc7" /><Relationship Type="http://schemas.openxmlformats.org/officeDocument/2006/relationships/slide" Target="/ppt/slides/slide8.xml" Id="R1ea340f34c86489c" /><Relationship Type="http://schemas.openxmlformats.org/officeDocument/2006/relationships/slide" Target="/ppt/slides/slide9.xml" Id="Rf223836908ed4221" /><Relationship Type="http://schemas.openxmlformats.org/officeDocument/2006/relationships/slide" Target="/ppt/slides/slide10.xml" Id="R0647ecfb5d37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eaba32920e43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77a202db046a8" /><Relationship Type="http://schemas.openxmlformats.org/officeDocument/2006/relationships/notesMaster" Target="/ppt/notesMasters/notesMaster1.xml" Id="R2e04aea73eb2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416731fd943df" /><Relationship Type="http://schemas.openxmlformats.org/officeDocument/2006/relationships/notesMaster" Target="/ppt/notesMasters/notesMaster1.xml" Id="R1fba6e786a324e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e54f1252634882" /><Relationship Type="http://schemas.openxmlformats.org/officeDocument/2006/relationships/notesMaster" Target="/ppt/notesMasters/notesMaster1.xml" Id="R1c69e6907025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f86961e8a4f2e" /><Relationship Type="http://schemas.openxmlformats.org/officeDocument/2006/relationships/notesMaster" Target="/ppt/notesMasters/notesMaster1.xml" Id="Re6b71aa27b80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015b2df9c94060" /><Relationship Type="http://schemas.openxmlformats.org/officeDocument/2006/relationships/notesMaster" Target="/ppt/notesMasters/notesMaster1.xml" Id="Re68d387c93a5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0237df5cc445a" /><Relationship Type="http://schemas.openxmlformats.org/officeDocument/2006/relationships/notesMaster" Target="/ppt/notesMasters/notesMaster1.xml" Id="R2966c3905beb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7f2f13935b4250" /><Relationship Type="http://schemas.openxmlformats.org/officeDocument/2006/relationships/notesMaster" Target="/ppt/notesMasters/notesMaster1.xml" Id="Re46bb67e3f2545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1b467d59734370" /><Relationship Type="http://schemas.openxmlformats.org/officeDocument/2006/relationships/notesMaster" Target="/ppt/notesMasters/notesMaster1.xml" Id="R8d01f5f3a3ad47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18853462d8458d" /><Relationship Type="http://schemas.openxmlformats.org/officeDocument/2006/relationships/notesMaster" Target="/ppt/notesMasters/notesMaster1.xml" Id="R266966bd7aaf41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c948bfbd044152" /><Relationship Type="http://schemas.openxmlformats.org/officeDocument/2006/relationships/notesMaster" Target="/ppt/notesMasters/notesMaster1.xml" Id="R24eed4390b64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public/images/pahatud-logo-with-motor.jpg; 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Introduce Pahatud Merchant as the operational workspace that keeps the customer-facing app accurate and responsive.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resources/views/merchant/includes/menu.blade.php; resources/views/merchant/pages/dashboard.blade.php; public/images/app-preview/home.png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Explain that the customer app and merchant portal are two sides of the same transaction, with merchant updates flowing into the customer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resources/views/merchant/pages/application.blade.php; 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Clarify that approval documents apply to the application flow and that merchants should not open the store until operational information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resources/views/merchant/includes/menu.blade.php; resources/views/merchant/pages/help.blade.php; public/images/app-preview/restaurants.png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Use the customer screen to show why profile, branch, category, and status accuracy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resources/js/components/merchant/pages/products/ViewComponent.vue; resources/views/merchant/pages/help.blade.php; public/images/banner-left.png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Emphasize real-time availability and transparent add-on pricing as practical controls for order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resources/js/components/merchant/pages/orders/ViewComponent.vue; routes/web.php; public/images/app-preview/order-tracking.png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Connect merchant preparation steps with the customer's order-tracking experience. Avoid promising a specific rider assignment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resources/views/merchant/pages/promotions/index.blade.php; resources/views/merchant/pages/promotions/form.blade.php; resources/views/merchant/pages/coupons/form.blade.php; public/images/highlights/ads1.png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Separate the two mechanics clearly: checkout coupons take effect through coupon settings, while promotional banners require administrator approval before app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resources/js/components/merchant/pages/report/OrderReportTodayComponent.vue; resources/views/merchant/pages/reports/today.blade.php; resources/views/merchant/pages/help.blade.php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Do not insert sample revenue figures. Explain the relationship between gross, commission, and estimated merchant net using the labels from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resources/views/merchant/pages/dashboard.blade.php; resources/js/components/merchant/includes/MerchantStoreOnlineComponent.vue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Frame these as practical habits based on the implemented controls, not as contractual service-level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resources/views/merchant/pages/help.blade.php; resources/views/merchant/includes/menu.blade.php; public/images/announcements/pahatud-new-website.png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Close with concrete merchant capabilities and the support channels implemented in the merchant help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200deccad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9a5880d23542b0" /><Relationship Type="http://schemas.openxmlformats.org/officeDocument/2006/relationships/slideLayout" Target="/ppt/slideLayouts/slideLayout1.xml" Id="R6ab441a11ac24d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441a11ac24d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c382739334e91" /><Relationship Type="http://schemas.openxmlformats.org/officeDocument/2006/relationships/image" Target="/ppt/media/image.jpeg" Id="Rd0e3ec06f8804313" /><Relationship Type="http://schemas.openxmlformats.org/officeDocument/2006/relationships/notesSlide" Target="/ppt/notesSlides/notesSlide1.xml" Id="R7c7075ed4d0848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84a9d664146de" /><Relationship Type="http://schemas.openxmlformats.org/officeDocument/2006/relationships/image" Target="/ppt/media/image.png" Id="R0682366f657845ab" /><Relationship Type="http://schemas.openxmlformats.org/officeDocument/2006/relationships/notesSlide" Target="/ppt/notesSlides/notesSlide2.xml" Id="Rd15f1e4a83e7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c8914d4774f90" /><Relationship Type="http://schemas.openxmlformats.org/officeDocument/2006/relationships/image" Target="/ppt/media/image2.jpeg" Id="R14ad48284c14461d" /><Relationship Type="http://schemas.openxmlformats.org/officeDocument/2006/relationships/notesSlide" Target="/ppt/notesSlides/notesSlide3.xml" Id="R1c94068eba16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b86334bd43e9" /><Relationship Type="http://schemas.openxmlformats.org/officeDocument/2006/relationships/image" Target="/ppt/media/image2.png" Id="Rba2d7d2649de48cd" /><Relationship Type="http://schemas.openxmlformats.org/officeDocument/2006/relationships/notesSlide" Target="/ppt/notesSlides/notesSlide4.xml" Id="R2704d5a4166c4b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2676cc034c2f" /><Relationship Type="http://schemas.openxmlformats.org/officeDocument/2006/relationships/image" Target="/ppt/media/image3.png" Id="R96c1d6b1c66845b2" /><Relationship Type="http://schemas.openxmlformats.org/officeDocument/2006/relationships/notesSlide" Target="/ppt/notesSlides/notesSlide5.xml" Id="R2fcc389c525645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82774da214c97" /><Relationship Type="http://schemas.openxmlformats.org/officeDocument/2006/relationships/image" Target="/ppt/media/image4.png" Id="Re5e10d0ca3ef4332" /><Relationship Type="http://schemas.openxmlformats.org/officeDocument/2006/relationships/image" Target="/ppt/media/image5.png" Id="R3acde7e592f14568" /><Relationship Type="http://schemas.openxmlformats.org/officeDocument/2006/relationships/notesSlide" Target="/ppt/notesSlides/notesSlide6.xml" Id="R6dbe9d404228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6e64d40d41d2" /><Relationship Type="http://schemas.openxmlformats.org/officeDocument/2006/relationships/image" Target="/ppt/media/image6.png" Id="Rb7eeb23577004d81" /><Relationship Type="http://schemas.openxmlformats.org/officeDocument/2006/relationships/notesSlide" Target="/ppt/notesSlides/notesSlide7.xml" Id="R09862e8efc6d43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b1607026946a0" /><Relationship Type="http://schemas.openxmlformats.org/officeDocument/2006/relationships/image" Target="/ppt/media/image7.png" Id="R9937ae976be04697" /><Relationship Type="http://schemas.openxmlformats.org/officeDocument/2006/relationships/notesSlide" Target="/ppt/notesSlides/notesSlide8.xml" Id="R1bd5e69b08bc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62fc75a6f4cf4" /><Relationship Type="http://schemas.openxmlformats.org/officeDocument/2006/relationships/image" Target="/ppt/media/image8.png" Id="R5a194cece7ca449c" /><Relationship Type="http://schemas.openxmlformats.org/officeDocument/2006/relationships/notesSlide" Target="/ppt/notesSlides/notesSlide9.xml" Id="R3eae3b0a7f0145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1671c149f483c" /><Relationship Type="http://schemas.openxmlformats.org/officeDocument/2006/relationships/image" Target="/ppt/media/image9.png" Id="R5a98459f3fc34bb1" /><Relationship Type="http://schemas.openxmlformats.org/officeDocument/2006/relationships/notesSlide" Target="/ppt/notesSlides/notesSlide10.xml" Id="R93cd3a3124db4e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2BCD4-5A25-4BA6-8162-725BB1FB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E9CB7-A15D-443D-80EA-A729DBFE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DA84E-532D-412A-A857-53BDDB77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workspace behind the Pahatud customer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AE743-E70A-4DD7-83F8-0D0B9F8F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63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389C-E74E-448D-9CAC-1273748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Store setup  ·  catalog  ·  orders  ·  promotions  · 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8F6E-5C64-47DE-9F1E-9BE50026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819150"/>
            <a:ext cx="5295900" cy="52197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3ec06f8804313"/>
          <a:stretch xmlns:a="http://schemas.openxmlformats.org/drawingml/2006/main"/>
        </p:blipFill>
        <p:spPr>
          <a:xfrm xmlns:a="http://schemas.openxmlformats.org/drawingml/2006/main">
            <a:off x="6391275" y="1785378"/>
            <a:ext cx="4933950" cy="3287244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8F7BC-ACE6-4540-8D7C-72DC2823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Merchant overview</a:t>
            </a:r>
          </a:p>
        </p:txBody>
      </p:sp>
    </p:spTree>
    <p:extLst>
      <p:ext uri="{BB962C8B-B14F-4D97-AF65-F5344CB8AC3E}">
        <p14:creationId xmlns:p14="http://schemas.microsoft.com/office/powerpoint/2010/main" val="1573917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FE62A-B439-443B-A126-4C15108F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PRODUCT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A419B-3DAE-443B-B5E4-C44022C2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One connected service for customers and merchants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B771A-C4D8-4724-866E-1DDBD8A5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Customers discover and order in Pahatud. Merchants manage the storefront and fulfillment behind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08F04-F0E4-4F46-96AB-8E987F06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41484-40ED-4349-8EE2-0D7F1C8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CUSTOMER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A610F-B5F5-4844-8459-08A4571B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667000" cy="35623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2366f657845ab"/>
          <a:srcRect xmlns:a="http://schemas.openxmlformats.org/drawingml/2006/main" l="0" t="18571" r="0" b="18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225" y="2581275"/>
            <a:ext cx="2400300" cy="3352800"/>
          </a:xfrm>
          <a:prstGeom xmlns:a="http://schemas.openxmlformats.org/drawingml/2006/main" prst="roundRect">
            <a:avLst>
              <a:gd name="adj" fmla="val 634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B951F-6872-4EA1-A011-8A77F56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98A31-D154-40E3-84EB-5247BA4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95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09AEA-9AB2-4C5F-B4E9-E1DA1F01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76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F0E33-78C3-4D41-80AE-71107E5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52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A8E75-AF72-454F-9485-BB7DB1B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5CCC9-0695-48C1-B95A-B7729A7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Storefront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0A974-0675-40AF-A9D1-2CBAB92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431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Profile, branches, categories, and online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EE3FF-56C8-4DF9-B3A5-0E02327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670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35EC3-E689-4016-84F4-F38FCD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86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56B28-94A9-433D-8EAF-263A4868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09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BB4FD-5E7B-489E-9508-99391D2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Products, pricing, availability, variants, and add-ons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5BC04-6C79-4695-8250-50EC5DA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528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4B036-F0E4-400F-9140-9E2421F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CF683-1435-45BA-AFF9-4870B060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95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F94F0-2651-4424-A48E-E129B2F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Incoming orders, preparation, rider pickup, and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D714C-99D3-4833-B43E-A493097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5E13C-20AA-4F26-922B-217259B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57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8A30F-AF86-4FB7-95C9-2F045CE8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81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Growth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2E072-3576-4BC4-89E9-BD6CD09A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005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Coupons, promotional banners, and app visibility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7FFD4-2FDE-4309-8C34-687328C8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244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CAD44-643D-4ED2-837C-99A52D4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43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D631F-A9B4-4478-8AC5-8888C98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673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34745-D252-4E5A-9194-597512D8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857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Completed sales, commission, and merchant net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7DAC4-C05E-4D47-B5C1-1C5E4523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9F59E-C2A3-43B0-B10A-596BF2A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9001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A45392-4CEB-4ED9-BE82-95F311B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21299-8EF1-4BDF-93C2-8B13698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From application to an order-ready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9BDC-FBF1-43F3-8472-3B765DEB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journey includes business details, required documents, review, and operational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2EB00-5045-4559-B09B-916EF83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48284c14461d"/>
          <a:srcRect xmlns:a="http://schemas.openxmlformats.org/drawingml/2006/main" l="0" t="11408" r="0" b="11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952875" cy="37147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291CC-1752-492A-8B5E-1FB6335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43175"/>
            <a:ext cx="0" cy="2876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7C77-1C5B-4E37-9CA3-4D7D57AF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66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BB03-4DBE-40D4-8A52-876F2423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764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B206D-CB27-4206-BF20-6193C3E6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574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Create the merchant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DE9B7-BF8D-404C-906E-0A70D53B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431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Provide the restaurant and administrator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B3230-063B-417D-9370-7176BBD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90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4B839-6DA8-4B53-874C-234CD46F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975F-4F8C-4C34-B709-B3A7B9E8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813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Complete the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11315-1C6A-488F-B3A9-471C978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670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Confirm business, contact, address, and payout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CF88F-C6E3-4430-A165-5855B9A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14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537A4-8B0B-4CA9-ADA1-3779C823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01CE3-D629-47C4-9074-A7A3BA0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052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Upload required documents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22701-B34D-4236-ADF5-F6E56653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909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Government ID and business registration are standard requirements.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49DDA-32C0-490A-91CC-FB5443EE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38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203B3-B286-4FEA-BFFA-FF3EBD6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4481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798E5-7D93-4089-8FBC-5329837C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291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Resolve review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6D7FB-DB47-4631-9927-1DC8212D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148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Replace rejected or expired files using administrator remarks.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E7A96-BE7A-47E8-A330-A6AE199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62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61E590-9DCC-4410-BF08-18EF28AD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17207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86657-52E1-4D04-A803-7FB98CD4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530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Prepare the 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D9B1F-5DDF-49FE-9ABF-A1DF0CAA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387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menu, categories, branches, pricing, and availability before going online.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7BC7D-6182-4205-8883-FBC58CF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793C0-F02B-46C2-AA5F-1B530CE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5745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CA02E7-5462-4BEA-9CDB-BB78010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STOREFRONT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3F9EA-06EA-4832-BCF6-11ABDBF0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Merchant updates shape what customers see before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7AC1-45CC-46B6-B032-5A072F9C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portal controls essential discovery and availability information shown through Pahatud.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8DA96-D8BF-4D33-88F9-FCCB15A6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8BAA8-3C5F-4667-8BDE-51391E2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4B517-F698-4F80-88AA-A2A64B43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A2E7B-7AF8-4D18-8D35-1C54B599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9080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Restaurant name and customer-facing contact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948BD-1C4F-4A94-B5B4-A0D7210D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FE7CB-730F-4E77-9D0A-12A7A5E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E35DD-639A-4FBC-AA34-47F456AB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039DE-F115-492E-9603-5C62B6F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5757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Address, telephone, mobile, and service location details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957C9-312D-495F-BED6-E02CDE9F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182CA-71A2-4A28-8262-99C5C8A0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E5BA5-8BB3-466B-9838-015A2FE3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34C61-2189-4D7E-9C5E-3747339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2435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Menu organization that helps customers browse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0EACA-2F9C-4C6E-9B06-B64EA10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529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A8575-F0BA-4260-9465-6FC0CE9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59D80-78E0-44C2-9092-70D3333B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Online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2AD44-7D0B-46DA-A2BD-6B1DD1EC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Whether the store is currently accepting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2A26C-D0F2-4DA5-AF31-07231602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6482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d7d2649de48cd"/>
          <a:srcRect xmlns:a="http://schemas.openxmlformats.org/drawingml/2006/main" l="0" t="26000" r="0" b="2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2266950"/>
            <a:ext cx="3429000" cy="3657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05964-7BE5-4BC4-A59F-32499057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657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Visible to customers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C8474-E19C-44D7-9A90-6DFD10C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C1B35-0C32-41C9-B6CB-44D0CFB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5372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5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1E030-788B-4E81-962F-890B1211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777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7772"/>
                </a:solidFill>
                <a:latin typeface="Avenir Next"/>
                <a:ea typeface="Avenir Next"/>
                <a:cs typeface="Avenir Next"/>
              </a:rPr>
              <a:t>CATALOG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98F62-6C41-4CB5-97FE-5392AC8D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33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menu customers can order with confidence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69C4E-479D-400D-A54F-5B4FC20E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478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7CFCA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D7CFCA"/>
                </a:solidFill>
                <a:latin typeface="Avenir Next"/>
                <a:ea typeface="Avenir Next"/>
                <a:cs typeface="Avenir Next"/>
              </a:rPr>
              <a:t>Clear product information reduces avoidable substitutions and cancellations.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1d6b1c66845b2"/>
          <a:stretch xmlns:a="http://schemas.openxmlformats.org/drawingml/2006/main"/>
        </p:blipFill>
        <p:spPr>
          <a:xfrm xmlns:a="http://schemas.openxmlformats.org/drawingml/2006/main">
            <a:off x="7410450" y="1653762"/>
            <a:ext cx="4248150" cy="35123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EEF73-52BD-45A6-9211-896AFC9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94690-5942-40E8-8B90-571C6D27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0AD25-296B-47DE-9861-7AB5A71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Product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FFBE2-AFB5-4637-BD30-490C4E6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670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Name, description, price, image, and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3994E-CAF0-4690-AA18-B905DB0B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234C-61E9-4582-B6D1-6E44B90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F309-D5EB-4E4C-A855-6903970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Availability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79017-D16B-463C-85E2-A7A88CE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Publish active items and hide sold-out products quickly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F9559-283C-4D04-B627-A06C2E66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5F82E-B9C6-4549-B789-F5341C9D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04843-64A9-4932-ACA5-D3E9423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Customer choices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FE531-E58F-4999-9FB6-34E3A52B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434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Use variants and add-ons for size, flavor, extras, or preparation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DB26A-1A4D-4BFF-ACC3-83508FDA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38A1A-72EB-4DBE-93F7-3094DDB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12EBD-4A67-4504-AA4F-91B1214D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Catalog hygiene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D60A2-4A89-4370-916A-5CB39B09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816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7BFBA"/>
                </a:solidFill>
                <a:latin typeface="Avenir Next"/>
                <a:ea typeface="Avenir Next"/>
                <a:cs typeface="Avenir Next"/>
              </a:rPr>
              <a:t>Keep labels short and show every additional charge clearly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97671-1B9D-4FC5-8C83-2BE0E9C8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20FF8-F052-4D57-BFFA-39369A44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6215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83275-6771-4B70-ADF7-A7F42D9F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ORDER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70129-D233-480A-A272-E8B60A7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Each order stays visible from acceptance to rider 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B1B34-03DB-4C7A-A96E-1866102D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merchant workspace refreshes order activity and exposes the details needed to prepare the right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047E9-626A-4114-9D6A-400F86E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B338C-4BA4-4C15-A94C-18C107F0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2857500" cy="3962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10d0ca3ef4332"/>
          <a:srcRect xmlns:a="http://schemas.openxmlformats.org/drawingml/2006/main" l="0" t="15179" r="0" b="15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257425"/>
            <a:ext cx="2400300" cy="3714750"/>
          </a:xfrm>
          <a:prstGeom xmlns:a="http://schemas.openxmlformats.org/drawingml/2006/main" prst="roundRect">
            <a:avLst>
              <a:gd name="adj" fmla="val 6349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de7e592f14568"/>
          <a:stretch xmlns:a="http://schemas.openxmlformats.org/drawingml/2006/main"/>
        </p:blipFill>
        <p:spPr>
          <a:xfrm xmlns:a="http://schemas.openxmlformats.org/drawingml/2006/main">
            <a:off x="6705600" y="46672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7D449-8D96-4AA6-9235-37BEBBE2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6700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7D9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D5F9D-9CE8-48EE-9E35-74FC05AD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95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5D9FF-BEBC-4447-AB51-AA26BFAE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79BBD-05A7-405D-A326-0D36F2C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574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FB7EA-C69F-4B3C-85D0-76ADB2D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every item, quantity, option, customer note, and delivery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67458-7E21-4A7D-BCD1-13C0693B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90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9837E-159D-487B-9F63-02F4482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004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CAB4E-ABE2-4E96-83F0-CE43FD0C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9D882-928F-4800-95FB-784C8A99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Respond promptly and keep the order visible during preparation.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D6B67-9B2A-4C13-8252-3FE4A0B4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86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A865C-5832-4730-9808-9B106D63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9575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3C38C-59D9-4C63-8D83-890DB75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481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Prepare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C4583-024B-43FB-B7CA-EE715C0F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Complete, pack, and check the full order before changing its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C1EB1-F157-495E-B22E-73B3E8B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815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F0F9B2-DB92-43EC-BC35-85317BB2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04062-1117-475F-8AA4-C449E1D0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434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004D3-27E4-490E-B6F0-DF653329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6850"/>
            <a:ext cx="500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Mark ready when the package can be collected, then coordinate rider pickup.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5E86C-2427-4185-95A6-244FCBBE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Order detail includes totals, discounts, customer information, rider status, and delivery proof when available.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ED775-E8AA-47A7-8972-8F9A7B41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187C5-3768-49AD-8388-1B62AD5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5052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948B3-6AB7-46DD-B70E-7B8B42A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3A473-2E3F-4340-BD39-AA91DF99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Two tools support store-specific offers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F897E-C7F0-4B70-89F7-915661B2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Coupons change the checkout price. Promotional banners increase visibility after administrator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AA57C-9DFE-41A8-8225-C04A4072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eb23577004d81"/>
          <a:srcRect xmlns:a="http://schemas.openxmlformats.org/drawingml/2006/main" l="0" t="558" r="0" b="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00275"/>
            <a:ext cx="4905375" cy="2771775"/>
          </a:xfrm>
          <a:prstGeom xmlns:a="http://schemas.openxmlformats.org/drawingml/2006/main" prst="roundRect">
            <a:avLst>
              <a:gd name="adj" fmla="val 824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83370-E53B-4A7E-9031-D97D898B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COUPONS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5F5A0-9FE4-4192-B9E3-6C02E94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Flexible checkout discounts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635E8-C95B-4D7E-A011-75D08A3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Choose a fixed peso value or percentage. Add a minimum order, usage limit, validity window, and active switch.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F738D-829B-4DF8-909A-1961526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470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F829A-2957-4EA3-B962-19EF47D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95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PROMOTIONAL BANNERS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E1CF2-87B9-40C5-B5E9-D4B160F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Scheduled app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DE8D7-26B6-4D5D-BD88-3EFDB01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86350"/>
            <a:ext cx="4857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Upload a 1600 × 800 banner, set timing and display order, then submit it for review. Approved offers can move through scheduled, live, and expired states.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F6C56-9C80-4B88-9125-F55D1F20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Administrator approval protects what appears in the customer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96849-17DD-4978-96EF-E3E84372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4FC8C-7458-485B-A5FC-8C71308D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80766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D3069-4E84-4625-ADE0-C518B74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SALES 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3434D-54B9-42C8-9DD3-0F5D281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Completed orders explain gross sales and merchant 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A2A72-A6FD-475C-9514-43C5D312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Merchants can run a date-range report and inspect the components behind each completed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8D432-9121-4D9E-A470-56694F3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AB74A-4F7B-4ED1-9EF1-0878C32F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GROSS COMPLETED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70212-E7C9-4EF1-B2EB-AF9C154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7A6D4-0F37-4134-B3FE-F4ECFED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Includes completed order totals for the selected reporting period.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FCD8-5164-475D-8889-84FBC35E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109D7-8746-48AD-BBB3-2AAD30E1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PLATFORM COMMISSION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CD584-2FCE-4B92-8058-6D36301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Commission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5648B-5869-411E-B40C-C5B0BBE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670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Reported separately so the merchant can see the platform share.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70BC2-0D4E-4632-98A8-C5BE3C5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25" b="1">
                <a:solidFill>
                  <a:srgbClr val="22845A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22845A"/>
                </a:solidFill>
                <a:latin typeface="Avenir Next"/>
                <a:ea typeface="Avenir Next"/>
                <a:cs typeface="Avenir Next"/>
              </a:rPr>
              <a:t>=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601FD-2D71-453F-A0C7-4C75474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0275"/>
            <a:ext cx="347662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C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47EE1-DE6B-45EC-9CCE-7491E6F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ESTIMATED MERCHANT 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5658B-BAE4-4C74-B9DF-69D3C1ED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Net earnings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DEBF6-5496-4829-AD9C-AC023151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The amount assigned to the restaurant after commission and applicable entries.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47307-A083-44FD-A784-DDCA1B2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7ae976be04697"/>
          <a:stretch xmlns:a="http://schemas.openxmlformats.org/drawingml/2006/main"/>
        </p:blipFill>
        <p:spPr>
          <a:xfrm xmlns:a="http://schemas.openxmlformats.org/drawingml/2006/main">
            <a:off x="685800" y="49434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B4465-E93C-4973-906F-F5C197B3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482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The order-level report also shows items, subtotal, delivery fee, discount, rider, completion time, and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04C156-5560-4DB7-ADF2-490E350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38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2725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92725"/>
                </a:solidFill>
                <a:latin typeface="Avenir Next"/>
                <a:ea typeface="Avenir Next"/>
                <a:cs typeface="Avenir Next"/>
              </a:rPr>
              <a:t>Only completed orders contribute to the displayed sales totals.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13ECA-28CA-487D-B5EC-BC45B129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BC442-1AD8-4D1D-866D-18E1271B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14131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006DA-6804-4A67-AB4C-F75068B5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MERCHANT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4A761-9EA0-4C92-A876-1B83431A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A simple operating rhythm keeps the store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43493-F8AC-44EF-962C-ECFE2C1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Most merchant work falls into four moments across the service 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EBAAE-DE83-4129-A977-6404AF0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28FC2-D443-443A-9CFC-6B32809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B3B64-289A-407F-8D06-C4F9BC56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8DA02-117C-4F67-96DF-7093D3C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Before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8DEF2-E560-43BA-8B78-C8B6BFFC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Review profile and branch details. Confirm menu prices and stock. Switch the store online only when staff can monitor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97977-D2B5-4102-88B1-CFC2C7F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15867-0AF0-4A8E-82BC-F1F4AF8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261E-F635-4F26-BAA1-4C1E3466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During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2F675-62EC-4226-BF68-242A3A54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Keep sold-out items unavailable. Watch incoming orders and respond quickly when a new request appears.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83C2F-09CB-42F9-836C-AAF12765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99076-0F71-4944-93C8-F0A87A7C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B06CE-8916-4338-B6B1-FC574ED9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For every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A24E4-F580-49E5-91FF-410B7498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Check options and notes. Prepare the complete package, mark it ready, and release it to the correct rider.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3A8BF-EB4C-4916-8464-7903FC7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D002F-3D04-42B1-A699-9D781249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84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1EEF3-C114-4F04-925E-F83B44BC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After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CB4E7-EFF3-4DAC-BFB8-9369B2A1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266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F6B"/>
                </a:solidFill>
                <a:latin typeface="Avenir Next"/>
                <a:ea typeface="Avenir Next"/>
                <a:cs typeface="Avenir Next"/>
              </a:rPr>
              <a:t>Review completed sales, commission, and net. Update tomorrow's availability and switch the store offline when needed.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94cece7ca449c"/>
          <a:stretch xmlns:a="http://schemas.openxmlformats.org/drawingml/2006/main"/>
        </p:blipFill>
        <p:spPr>
          <a:xfrm xmlns:a="http://schemas.openxmlformats.org/drawingml/2006/main">
            <a:off x="9696450" y="4962525"/>
            <a:ext cx="1409700" cy="1409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0BABC-0B85-4B14-9B13-2185EC56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8324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9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E2846-8393-464A-93A8-0BF78C6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786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212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242120"/>
                </a:solidFill>
                <a:latin typeface="Avenir Next"/>
                <a:ea typeface="Avenir Next"/>
                <a:cs typeface="Avenir Next"/>
              </a:rPr>
              <a:t>Help and documentation covers account setup, application status, products, orders, sales, payouts, and support.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8E446-1FCB-4B8C-BC04-42C4C5D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95E8E-75E7-4255-9483-259E8E9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49A94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5147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638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40391-E454-4E1A-8F72-14B36A0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FFD7D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D7D4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5553D-4035-47F3-9B21-E515C4E6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5825"/>
            <a:ext cx="557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Merchant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D03C-8CBE-46DC-9F99-086B0862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E8E6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E8E6"/>
                </a:solidFill>
                <a:latin typeface="Avenir Next"/>
                <a:ea typeface="Avenir Next"/>
                <a:cs typeface="Avenir Next"/>
              </a:rPr>
              <a:t>A clear operating workspace connected to the Pahatud customer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0330-B27B-4BC9-BFB8-1A104C4B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514A9-C057-4004-8064-427B44A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E6CE-1678-48D5-B13D-36604E7E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9555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customer-facing storefront in the Pahatud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F8B23-49BC-4220-B286-16C3E217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E1614-147D-4566-AF51-1F460B94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EBA1-91BB-4AD3-869B-19E4B07D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242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Direct control of catalog and product 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46F0A-6CDC-4657-8BB9-1F264F0E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9C27D-F7C1-4A06-8F54-69E54EB8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29030-AD6A-4129-9EC5-25526D8F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5285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Order visibility through preparation and rider pickup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8446B-39CA-45E3-8C42-19C9540C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E3ACD-D1E8-4D3A-8C78-443F72A5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63835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C150A-6506-4041-B691-5439937C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381500"/>
            <a:ext cx="585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Sales reporting with gross, commission, and net amounts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1E068-DB33-4D8E-B4BA-3622DAA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98A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7752F-9281-47C2-86CB-0955D2DA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D7D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D7D4"/>
                </a:solidFill>
                <a:latin typeface="Avenir Next"/>
                <a:ea typeface="Avenir Next"/>
                <a:cs typeface="Avenir Next"/>
              </a:rPr>
              <a:t>Merchant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ADCD5-7B54-4953-9C6F-4FDFAAC8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info@pahatud.com   ·   +63 916 298 6547   ·   (082) 224 3919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DB02D-9E27-4CC7-8E29-ED27EF3A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"/>
            <a:ext cx="4095750" cy="56769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8459f3fc34bb1"/>
          <a:stretch xmlns:a="http://schemas.openxmlformats.org/drawingml/2006/main"/>
        </p:blipFill>
        <p:spPr>
          <a:xfrm xmlns:a="http://schemas.openxmlformats.org/drawingml/2006/main">
            <a:off x="7524750" y="1362075"/>
            <a:ext cx="4095750" cy="409575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F4412-DB3C-4EB8-9EB7-6C4857D3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PAHATUD 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26197-7F31-48F7-8642-CB3F8D81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BD6D2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8183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2026-10-01T08:21:45.8590000Z</dcterms:created>
  <dcterms:modified xsi:type="dcterms:W3CDTF">2026-10-01T08:21:45.8590000Z</dcterms:modified>
</coreProperties>
</file>