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350efe80d234d92" /><Relationship Type="http://schemas.openxmlformats.org/officeDocument/2006/relationships/extended-properties" Target="/docProps/app.xml" Id="R25bcd118fb934a0c" /><Relationship Type="http://schemas.openxmlformats.org/officeDocument/2006/relationships/officeDocument" Target="/ppt/presentation.xml" Id="R9c4c35c55139402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a8222d278ad4985"/>
  </p:sldMasterIdLst>
  <p:notesMasterIdLst>
    <p:notesMasterId xmlns:r="http://schemas.openxmlformats.org/officeDocument/2006/relationships" r:id="R2a6e36cc5f2847e7"/>
  </p:notesMasterIdLst>
  <p:sldIdLst>
    <p:sldId xmlns:r="http://schemas.openxmlformats.org/officeDocument/2006/relationships" id="256" r:id="R3989dab5a8a24c13"/>
    <p:sldId xmlns:r="http://schemas.openxmlformats.org/officeDocument/2006/relationships" id="257" r:id="R23df42ab5a64465f"/>
    <p:sldId xmlns:r="http://schemas.openxmlformats.org/officeDocument/2006/relationships" id="258" r:id="R109ed4fb458e44ec"/>
    <p:sldId xmlns:r="http://schemas.openxmlformats.org/officeDocument/2006/relationships" id="259" r:id="Ra0121da4ddef4dd4"/>
    <p:sldId xmlns:r="http://schemas.openxmlformats.org/officeDocument/2006/relationships" id="260" r:id="R9aa7e31e4bc64eac"/>
    <p:sldId xmlns:r="http://schemas.openxmlformats.org/officeDocument/2006/relationships" id="261" r:id="R9d7ab77a064047f0"/>
    <p:sldId xmlns:r="http://schemas.openxmlformats.org/officeDocument/2006/relationships" id="262" r:id="R7554d48a932645e1"/>
    <p:sldId xmlns:r="http://schemas.openxmlformats.org/officeDocument/2006/relationships" id="263" r:id="R12a05d71f08b4066"/>
    <p:sldId xmlns:r="http://schemas.openxmlformats.org/officeDocument/2006/relationships" id="264" r:id="Rf5ca856267b9496b"/>
    <p:sldId xmlns:r="http://schemas.openxmlformats.org/officeDocument/2006/relationships" id="265" r:id="R8e6aa86351df4adb"/>
    <p:sldId xmlns:r="http://schemas.openxmlformats.org/officeDocument/2006/relationships" id="266" r:id="Rbdbc0bd3bcae45af"/>
    <p:sldId xmlns:r="http://schemas.openxmlformats.org/officeDocument/2006/relationships" id="267" r:id="Rcce8e00f2a0c412b"/>
    <p:sldId xmlns:r="http://schemas.openxmlformats.org/officeDocument/2006/relationships" id="268" r:id="R1eaa7e2c84e34c8f"/>
    <p:sldId xmlns:r="http://schemas.openxmlformats.org/officeDocument/2006/relationships" id="269" r:id="Rc847aee7df934aad"/>
    <p:sldId xmlns:r="http://schemas.openxmlformats.org/officeDocument/2006/relationships" id="270" r:id="R73f9c8f45a0b4c9f"/>
    <p:sldId xmlns:r="http://schemas.openxmlformats.org/officeDocument/2006/relationships" id="271" r:id="Raf1caa93ff0c4406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f4c96f8d35645fc" /><Relationship Type="http://schemas.openxmlformats.org/officeDocument/2006/relationships/slideMaster" Target="/ppt/slideMasters/slideMaster1.xml" Id="R9a8222d278ad4985" /><Relationship Type="http://schemas.openxmlformats.org/officeDocument/2006/relationships/notesMaster" Target="/ppt/notesMasters/notesMaster1.xml" Id="R2a6e36cc5f2847e7" /><Relationship Type="http://schemas.openxmlformats.org/officeDocument/2006/relationships/presProps" Target="/ppt/presProps.xml" Id="R1f5b09fb34fa4b43" /><Relationship Type="http://schemas.openxmlformats.org/officeDocument/2006/relationships/tableStyles" Target="/ppt/tableStyles.xml" Id="Racae902d6e644b6a" /><Relationship Type="http://schemas.openxmlformats.org/officeDocument/2006/relationships/slide" Target="/ppt/slides/slide1.xml" Id="R3989dab5a8a24c13" /><Relationship Type="http://schemas.openxmlformats.org/officeDocument/2006/relationships/slide" Target="/ppt/slides/slide2.xml" Id="R23df42ab5a64465f" /><Relationship Type="http://schemas.openxmlformats.org/officeDocument/2006/relationships/slide" Target="/ppt/slides/slide3.xml" Id="R109ed4fb458e44ec" /><Relationship Type="http://schemas.openxmlformats.org/officeDocument/2006/relationships/slide" Target="/ppt/slides/slide4.xml" Id="Ra0121da4ddef4dd4" /><Relationship Type="http://schemas.openxmlformats.org/officeDocument/2006/relationships/slide" Target="/ppt/slides/slide5.xml" Id="R9aa7e31e4bc64eac" /><Relationship Type="http://schemas.openxmlformats.org/officeDocument/2006/relationships/slide" Target="/ppt/slides/slide6.xml" Id="R9d7ab77a064047f0" /><Relationship Type="http://schemas.openxmlformats.org/officeDocument/2006/relationships/slide" Target="/ppt/slides/slide7.xml" Id="R7554d48a932645e1" /><Relationship Type="http://schemas.openxmlformats.org/officeDocument/2006/relationships/slide" Target="/ppt/slides/slide8.xml" Id="R12a05d71f08b4066" /><Relationship Type="http://schemas.openxmlformats.org/officeDocument/2006/relationships/slide" Target="/ppt/slides/slide9.xml" Id="Rf5ca856267b9496b" /><Relationship Type="http://schemas.openxmlformats.org/officeDocument/2006/relationships/slide" Target="/ppt/slides/slide10.xml" Id="R8e6aa86351df4adb" /><Relationship Type="http://schemas.openxmlformats.org/officeDocument/2006/relationships/slide" Target="/ppt/slides/slide11.xml" Id="Rbdbc0bd3bcae45af" /><Relationship Type="http://schemas.openxmlformats.org/officeDocument/2006/relationships/slide" Target="/ppt/slides/slide12.xml" Id="Rcce8e00f2a0c412b" /><Relationship Type="http://schemas.openxmlformats.org/officeDocument/2006/relationships/slide" Target="/ppt/slides/slide13.xml" Id="R1eaa7e2c84e34c8f" /><Relationship Type="http://schemas.openxmlformats.org/officeDocument/2006/relationships/slide" Target="/ppt/slides/slide14.xml" Id="Rc847aee7df934aad" /><Relationship Type="http://schemas.openxmlformats.org/officeDocument/2006/relationships/slide" Target="/ppt/slides/slide15.xml" Id="R73f9c8f45a0b4c9f" /><Relationship Type="http://schemas.openxmlformats.org/officeDocument/2006/relationships/slide" Target="/ppt/slides/slide16.xml" Id="Raf1caa93ff0c440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8a5bf8fcaba41a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44293498fd44a76" /><Relationship Type="http://schemas.openxmlformats.org/officeDocument/2006/relationships/notesMaster" Target="/ppt/notesMasters/notesMaster1.xml" Id="R6905c9491042409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10f4ac0fb684206" /><Relationship Type="http://schemas.openxmlformats.org/officeDocument/2006/relationships/notesMaster" Target="/ppt/notesMasters/notesMaster1.xml" Id="R23d0a194b26d439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56e32ca21374068" /><Relationship Type="http://schemas.openxmlformats.org/officeDocument/2006/relationships/notesMaster" Target="/ppt/notesMasters/notesMaster1.xml" Id="R899d8a815bec42f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ec71e87c33d408d" /><Relationship Type="http://schemas.openxmlformats.org/officeDocument/2006/relationships/notesMaster" Target="/ppt/notesMasters/notesMaster1.xml" Id="R03e6443ef7b3426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1651abd32e84f98" /><Relationship Type="http://schemas.openxmlformats.org/officeDocument/2006/relationships/notesMaster" Target="/ppt/notesMasters/notesMaster1.xml" Id="R3fbabc38ed6e4b0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e3e137a5b994422" /><Relationship Type="http://schemas.openxmlformats.org/officeDocument/2006/relationships/notesMaster" Target="/ppt/notesMasters/notesMaster1.xml" Id="R98963f79a5af4c2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fb844e124a7949f9" /><Relationship Type="http://schemas.openxmlformats.org/officeDocument/2006/relationships/notesMaster" Target="/ppt/notesMasters/notesMaster1.xml" Id="R7c953cb463304d9e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43b95f8839d7421d" /><Relationship Type="http://schemas.openxmlformats.org/officeDocument/2006/relationships/notesMaster" Target="/ppt/notesMasters/notesMaster1.xml" Id="R7c39dd2ad0384536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590d07a25a264af7" /><Relationship Type="http://schemas.openxmlformats.org/officeDocument/2006/relationships/notesMaster" Target="/ppt/notesMasters/notesMaster1.xml" Id="R93066a39e52e4d82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b23b8be0bf304a75" /><Relationship Type="http://schemas.openxmlformats.org/officeDocument/2006/relationships/notesMaster" Target="/ppt/notesMasters/notesMaster1.xml" Id="Rd85009d13e8a429c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a4dd45d3b8d44b36" /><Relationship Type="http://schemas.openxmlformats.org/officeDocument/2006/relationships/notesMaster" Target="/ppt/notesMasters/notesMaster1.xml" Id="R02880c5f27a549b3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78976c389ac64741" /><Relationship Type="http://schemas.openxmlformats.org/officeDocument/2006/relationships/notesMaster" Target="/ppt/notesMasters/notesMaster1.xml" Id="Rebb8796c58b3454a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0b7b3c38ff864548" /><Relationship Type="http://schemas.openxmlformats.org/officeDocument/2006/relationships/notesMaster" Target="/ppt/notesMasters/notesMaster1.xml" Id="R4a9682ce4bbe48bf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16e00a65aa2b4bdd" /><Relationship Type="http://schemas.openxmlformats.org/officeDocument/2006/relationships/notesMaster" Target="/ppt/notesMasters/notesMaster1.xml" Id="Rb3b796cc89e24cba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e9d9fcd3ca96475f" /><Relationship Type="http://schemas.openxmlformats.org/officeDocument/2006/relationships/notesMaster" Target="/ppt/notesMasters/notesMaster1.xml" Id="Ra91176416339442a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846b51e5f1f7445f" /><Relationship Type="http://schemas.openxmlformats.org/officeDocument/2006/relationships/notesMaster" Target="/ppt/notesMasters/notesMaster1.xml" Id="R01d3b585a30349a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Brand and layout reference: Pahatud_Agent_Orientation_2026-09-29_v3 (1).pptx. Hero illustration generated for this presentation with OpenAI image generation.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public/images/app-preview/home.png; public/images/app-preview/restaurants.png; resources/views/merchant/partials/documentation.blade.php; routes/web.php merchant dashboard routes.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resources/views/merchant/partials/documentation.blade.php; routes/web.php merchant routes; resources/views/merchant/pages/application.blade.php.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resources/views/pages/home.blade.php states a straightforward 15% commission confirmed before activation. app/Http/Controllers/Api/Merchant/ItemController.php stores commission from item price and the merchant percentage. Examples are arithmetic illustrations, not contract terms.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resources/views/pages/home.blade.php; app/Model/Cart.php; app/Http/Controllers/Api/Merchant/ItemController.php. Arithmetic: ₱1,000 × 15% = ₱150; ₱1,000 − ₱150 = ₱850.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app/Model/Cart.php cartItemAmounts(); app/Http/Controllers/Api/Merchant/ItemController.php; resources/js/components/merchant/pages/report/OrderListComponent.vue. Items marked Needs confirmation are intentionally unresolved because the supplied materials do not define a final commercial policy.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resources/js/components/merchant/pages/orders/SummaryComponent.vue; app/Http/Controllers/Api/Merchant/OrderController.php. Screenshot is a presentation preview based on the current UI code and uses sample data only.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resources/js/components/merchant/pages/report/OrderListComponent.vue; routes/merchant.php; resources/views/merchant/partials/documentation.blade.php. Screenshot uses sample data.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app/Http/Controllers/Api/Merchant/ItemController.php; resources/js/components/merchant/pages/products/ViewComponent.vue; app/Products.php. Screenshot uses sample menu data.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resources/js/components/merchant/pages/orders/SummaryComponent.vue; app/Http/Controllers/Api/Merchant/OrderController.php; resources/views/merchant/pages/reports/today.blade.php. The screenshot is reused here because the same merchant dashboard is the source for the sales and earnings view; data are illustrative.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resources/views/merchant/partials/documentation.blade.php; resources/js/components/merchant/pages/profile/ViewComponent.vue; routes/web.php. Screenshot uses sample data.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three service definitions follow the user's supplied brief. Delivery fee treatment is intentionally subject to confirmation because no final commercial policy was supplied.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Journey definition supplied by the user. Illustration generated for this presentation with OpenAI image generation. Table-identification method requires product confirmation.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Journey definition supplied by the user. Illustration generated for this presentation with OpenAI image generation. Pickup timing and handoff verification require confirmation.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Journey definition supplied by the user. Illustration generated for this presentation with OpenAI image generation. Delivery-fee and exception policies require confirmation.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resources/views/merchant/partials/documentation.blade.php for support contact and merchant tasks. Commercial-policy items remain intentionally flagged for confirmation.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0bcdf1ce563493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79c16c1ab2a4c09" /><Relationship Type="http://schemas.openxmlformats.org/officeDocument/2006/relationships/slideLayout" Target="/ppt/slideLayouts/slideLayout1.xml" Id="R07077e249ca24bf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7077e249ca24bf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c5cd503ad1e4a26" /><Relationship Type="http://schemas.openxmlformats.org/officeDocument/2006/relationships/image" Target="/ppt/media/image.png" Id="Raf5bffb148ca48ff" /><Relationship Type="http://schemas.openxmlformats.org/officeDocument/2006/relationships/image" Target="/ppt/media/image.jpeg" Id="R7c915d9fdff24f98" /><Relationship Type="http://schemas.openxmlformats.org/officeDocument/2006/relationships/notesSlide" Target="/ppt/notesSlides/notesSlide1.xml" Id="Rbbe6b484ffb44b0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e077e32b28e4b04" /><Relationship Type="http://schemas.openxmlformats.org/officeDocument/2006/relationships/image" Target="/ppt/media/image2.jpeg" Id="R4aa0165fa5914653" /><Relationship Type="http://schemas.openxmlformats.org/officeDocument/2006/relationships/image" Target="/ppt/media/image2.png" Id="R41dce92bd2174195" /><Relationship Type="http://schemas.openxmlformats.org/officeDocument/2006/relationships/image" Target="/ppt/media/image3.png" Id="Rff92cace04884873" /><Relationship Type="http://schemas.openxmlformats.org/officeDocument/2006/relationships/notesSlide" Target="/ppt/notesSlides/notesSlide2.xml" Id="R6d28e5235f40460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eb1934008414017" /><Relationship Type="http://schemas.openxmlformats.org/officeDocument/2006/relationships/image" Target="/ppt/media/image3.jpeg" Id="Re6507168f264482a" /><Relationship Type="http://schemas.openxmlformats.org/officeDocument/2006/relationships/notesSlide" Target="/ppt/notesSlides/notesSlide3.xml" Id="R31dd46ece5f3456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b4fab1265324003" /><Relationship Type="http://schemas.openxmlformats.org/officeDocument/2006/relationships/image" Target="/ppt/media/image4.jpeg" Id="R61ecf731830842e6" /><Relationship Type="http://schemas.openxmlformats.org/officeDocument/2006/relationships/notesSlide" Target="/ppt/notesSlides/notesSlide4.xml" Id="Raa8f7055cc12486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d412f17fb8c41fc" /><Relationship Type="http://schemas.openxmlformats.org/officeDocument/2006/relationships/image" Target="/ppt/media/image5.jpeg" Id="R97e87ca760c24dad" /><Relationship Type="http://schemas.openxmlformats.org/officeDocument/2006/relationships/notesSlide" Target="/ppt/notesSlides/notesSlide5.xml" Id="R53d28a414eaa427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683af43bbab4951" /><Relationship Type="http://schemas.openxmlformats.org/officeDocument/2006/relationships/image" Target="/ppt/media/image6.jpeg" Id="Rbde29aed802241a3" /><Relationship Type="http://schemas.openxmlformats.org/officeDocument/2006/relationships/notesSlide" Target="/ppt/notesSlides/notesSlide6.xml" Id="Ra6fd60f6b248426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d8477ef74034669" /><Relationship Type="http://schemas.openxmlformats.org/officeDocument/2006/relationships/image" Target="/ppt/media/image7.jpeg" Id="Ra04635b6408b4647" /><Relationship Type="http://schemas.openxmlformats.org/officeDocument/2006/relationships/image" Target="/ppt/media/image4.png" Id="Re572e35b4a8e4310" /><Relationship Type="http://schemas.openxmlformats.org/officeDocument/2006/relationships/notesSlide" Target="/ppt/notesSlides/notesSlide7.xml" Id="R60b1893e29d44708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87f88e4e2254441" /><Relationship Type="http://schemas.openxmlformats.org/officeDocument/2006/relationships/image" Target="/ppt/media/image8.jpeg" Id="R72549336ce174529" /><Relationship Type="http://schemas.openxmlformats.org/officeDocument/2006/relationships/image" Target="/ppt/media/image5.png" Id="R711b95de46b7425e" /><Relationship Type="http://schemas.openxmlformats.org/officeDocument/2006/relationships/notesSlide" Target="/ppt/notesSlides/notesSlide8.xml" Id="Re3b9e4c7955345aa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ef9da7c549a4da7" /><Relationship Type="http://schemas.openxmlformats.org/officeDocument/2006/relationships/image" Target="/ppt/media/image9.jpeg" Id="Rfcc6576784934c97" /><Relationship Type="http://schemas.openxmlformats.org/officeDocument/2006/relationships/image" Target="/ppt/media/image6.png" Id="R05a9373afd41456b" /><Relationship Type="http://schemas.openxmlformats.org/officeDocument/2006/relationships/notesSlide" Target="/ppt/notesSlides/notesSlide9.xml" Id="Rc326bd3051fe4e6f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bd227db88a8474f" /><Relationship Type="http://schemas.openxmlformats.org/officeDocument/2006/relationships/image" Target="/ppt/media/image10.jpeg" Id="Read95eacb7134938" /><Relationship Type="http://schemas.openxmlformats.org/officeDocument/2006/relationships/image" Target="/ppt/media/image7.png" Id="Rf083467e764340f0" /><Relationship Type="http://schemas.openxmlformats.org/officeDocument/2006/relationships/notesSlide" Target="/ppt/notesSlides/notesSlide10.xml" Id="R17cd2777144544d6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ec39547d4c84102" /><Relationship Type="http://schemas.openxmlformats.org/officeDocument/2006/relationships/image" Target="/ppt/media/image11.jpeg" Id="R36b91b5e1461425a" /><Relationship Type="http://schemas.openxmlformats.org/officeDocument/2006/relationships/image" Target="/ppt/media/image8.png" Id="R4a1f7c9c0ecc430d" /><Relationship Type="http://schemas.openxmlformats.org/officeDocument/2006/relationships/notesSlide" Target="/ppt/notesSlides/notesSlide11.xml" Id="R2fb9d7c02f134112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2d728c6d7224a88" /><Relationship Type="http://schemas.openxmlformats.org/officeDocument/2006/relationships/image" Target="/ppt/media/image12.jpeg" Id="R6d0aa8499e6d4d39" /><Relationship Type="http://schemas.openxmlformats.org/officeDocument/2006/relationships/notesSlide" Target="/ppt/notesSlides/notesSlide12.xml" Id="R8e5aa6b8c7ab451b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1f0b30f35c645aa" /><Relationship Type="http://schemas.openxmlformats.org/officeDocument/2006/relationships/image" Target="/ppt/media/image13.jpeg" Id="R056c56a87b7a47f6" /><Relationship Type="http://schemas.openxmlformats.org/officeDocument/2006/relationships/image" Target="/ppt/media/image9.png" Id="R2107aa4c4f884d3d" /><Relationship Type="http://schemas.openxmlformats.org/officeDocument/2006/relationships/notesSlide" Target="/ppt/notesSlides/notesSlide13.xml" Id="R993b7cf60db2402a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10ad290414b4020" /><Relationship Type="http://schemas.openxmlformats.org/officeDocument/2006/relationships/image" Target="/ppt/media/image14.jpeg" Id="Rde6e1aef946642f1" /><Relationship Type="http://schemas.openxmlformats.org/officeDocument/2006/relationships/image" Target="/ppt/media/image10.png" Id="R6785f9f548da4723" /><Relationship Type="http://schemas.openxmlformats.org/officeDocument/2006/relationships/notesSlide" Target="/ppt/notesSlides/notesSlide14.xml" Id="R9baefeb237cf4c54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be513fdf0fc43bf" /><Relationship Type="http://schemas.openxmlformats.org/officeDocument/2006/relationships/image" Target="/ppt/media/image15.jpeg" Id="Rc0dbcbd364b14eef" /><Relationship Type="http://schemas.openxmlformats.org/officeDocument/2006/relationships/image" Target="/ppt/media/image11.png" Id="Rc16038a1f0434936" /><Relationship Type="http://schemas.openxmlformats.org/officeDocument/2006/relationships/notesSlide" Target="/ppt/notesSlides/notesSlide15.xml" Id="R07009ae19e064705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a6a59e642a54bbd" /><Relationship Type="http://schemas.openxmlformats.org/officeDocument/2006/relationships/notesSlide" Target="/ppt/notesSlides/notesSlide16.xml" Id="R053ff915327a498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7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f5bffb148ca48ff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2AD1ABC-B810-4C17-8701-BE298E614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51911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7EF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c915d9fdff24f98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95300" y="409575"/>
            <a:ext cx="323850" cy="323850"/>
          </a:xfrm>
          <a:prstGeom xmlns:a="http://schemas.openxmlformats.org/drawingml/2006/main" prst="roundRect">
            <a:avLst>
              <a:gd name="adj" fmla="val 47059"/>
            </a:avLst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86926D3-34C8-4B15-AA78-B4EE83C31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572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>
                <a:solidFill>
                  <a:srgbClr val="F43B35"/>
                </a:solidFill>
                <a:latin typeface="Manrope"/>
                <a:ea typeface="Manrope"/>
                <a:cs typeface="Manrope"/>
              </a:defRPr>
            </a:pPr>
            <a:r>
              <a:rPr sz="975" b="1">
                <a:solidFill>
                  <a:srgbClr val="F43B35"/>
                </a:solidFill>
                <a:latin typeface="Manrope"/>
                <a:ea typeface="Manrope"/>
                <a:cs typeface="Manrope"/>
              </a:rPr>
              <a:t>PAHATUDFOOD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3C696A1-897F-476A-AA3C-A6DCD0C86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52550"/>
            <a:ext cx="44767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3600" b="1">
                <a:solidFill>
                  <a:srgbClr val="1F2523"/>
                </a:solidFill>
                <a:latin typeface="Manrope"/>
                <a:ea typeface="Manrope"/>
                <a:cs typeface="Manrope"/>
              </a:defRPr>
            </a:pPr>
            <a:r>
              <a:rPr sz="3600" b="1">
                <a:solidFill>
                  <a:srgbClr val="1F2523"/>
                </a:solidFill>
                <a:latin typeface="Manrope"/>
                <a:ea typeface="Manrope"/>
                <a:cs typeface="Manrope"/>
              </a:rPr>
              <a:t>Merchant Partner</a:t>
            </a:r>
          </a:p>
          <a:p xmlns:a="http://schemas.openxmlformats.org/drawingml/2006/main">
            <a:pPr algn="l">
              <a:lnSpc>
                <a:spcPct val="95000"/>
              </a:lnSpc>
              <a:buNone/>
              <a:defRPr sz="3600" b="1">
                <a:solidFill>
                  <a:srgbClr val="1F2523"/>
                </a:solidFill>
                <a:latin typeface="Manrope"/>
                <a:ea typeface="Manrope"/>
                <a:cs typeface="Manrope"/>
              </a:defRPr>
            </a:pPr>
            <a:r>
              <a:rPr sz="3600" b="1">
                <a:solidFill>
                  <a:srgbClr val="1F2523"/>
                </a:solidFill>
                <a:latin typeface="Manrope"/>
                <a:ea typeface="Manrope"/>
                <a:cs typeface="Manrope"/>
              </a:rPr>
              <a:t>Orientation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F10AC48-AADB-4E5D-B6A0-64D4C47E5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295650"/>
            <a:ext cx="3905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725" b="0">
                <a:solidFill>
                  <a:srgbClr val="B52D28"/>
                </a:solidFill>
                <a:latin typeface="DM Sans"/>
                <a:ea typeface="DM Sans"/>
                <a:cs typeface="DM Sans"/>
              </a:defRPr>
            </a:pPr>
            <a:r>
              <a:rPr sz="1725" b="0">
                <a:solidFill>
                  <a:srgbClr val="B52D28"/>
                </a:solidFill>
                <a:latin typeface="DM Sans"/>
                <a:ea typeface="DM Sans"/>
                <a:cs typeface="DM Sans"/>
              </a:rPr>
              <a:t>Commission, dashboard, and service journeys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82F7524-B057-4D10-8443-414F09546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171950"/>
            <a:ext cx="3714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3B35"/>
          </a:solidFill>
          <a:ln xmlns:a="http://schemas.openxmlformats.org/drawingml/2006/main" w="9525">
            <a:solidFill>
              <a:srgbClr val="F43B35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88C6F1E-3DAA-46E3-B388-87DE1C148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4381500"/>
            <a:ext cx="3810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0">
                <a:solidFill>
                  <a:srgbClr val="6D7471"/>
                </a:solidFill>
                <a:latin typeface="DM Sans"/>
                <a:ea typeface="DM Sans"/>
                <a:cs typeface="DM Sans"/>
              </a:defRPr>
            </a:pPr>
            <a:r>
              <a:rPr sz="1125" b="0">
                <a:solidFill>
                  <a:srgbClr val="6D7471"/>
                </a:solidFill>
                <a:latin typeface="DM Sans"/>
                <a:ea typeface="DM Sans"/>
                <a:cs typeface="DM Sans"/>
              </a:rPr>
              <a:t>Prepared for prospective restaurant partners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BAA1153-2CE6-49E4-ACF7-28EADF6D7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5953125"/>
            <a:ext cx="2190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>
                <a:solidFill>
                  <a:srgbClr val="6D7471"/>
                </a:solidFill>
                <a:latin typeface="DM Sans"/>
                <a:ea typeface="DM Sans"/>
                <a:cs typeface="DM Sans"/>
              </a:defRPr>
            </a:pPr>
            <a:r>
              <a:rPr sz="975" b="1">
                <a:solidFill>
                  <a:srgbClr val="6D7471"/>
                </a:solidFill>
                <a:latin typeface="DM Sans"/>
                <a:ea typeface="DM Sans"/>
                <a:cs typeface="DM Sans"/>
              </a:rPr>
              <a:t>October 2026</a:t>
            </a:r>
          </a:p>
        </p:txBody>
      </p:sp>
    </p:spTree>
    <p:extLst>
      <p:ext uri="{BB962C8B-B14F-4D97-AF65-F5344CB8AC3E}">
        <p14:creationId xmlns:p14="http://schemas.microsoft.com/office/powerpoint/2010/main" val="186851613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7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aa0165fa5914653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95300" y="409575"/>
            <a:ext cx="323850" cy="323850"/>
          </a:xfrm>
          <a:prstGeom xmlns:a="http://schemas.openxmlformats.org/drawingml/2006/main" prst="roundRect">
            <a:avLst>
              <a:gd name="adj" fmla="val 47059"/>
            </a:avLst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9F60909-432A-4234-B061-82DB6CA3E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00050"/>
            <a:ext cx="100488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325" b="1">
                <a:solidFill>
                  <a:srgbClr val="1F2523"/>
                </a:solidFill>
                <a:latin typeface="Manrope"/>
                <a:ea typeface="Manrope"/>
                <a:cs typeface="Manrope"/>
              </a:defRPr>
            </a:pPr>
            <a:r>
              <a:rPr sz="2325" b="1">
                <a:solidFill>
                  <a:srgbClr val="1F2523"/>
                </a:solidFill>
                <a:latin typeface="Manrope"/>
                <a:ea typeface="Manrope"/>
                <a:cs typeface="Manrope"/>
              </a:rPr>
              <a:t>What the partnership includes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E87D3C9-3D70-4BB2-95E2-E3FA49127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933450"/>
            <a:ext cx="100488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0">
                <a:solidFill>
                  <a:srgbClr val="6D7471"/>
                </a:solidFill>
                <a:latin typeface="DM Sans"/>
                <a:ea typeface="DM Sans"/>
                <a:cs typeface="DM Sans"/>
              </a:defRPr>
            </a:pPr>
            <a:r>
              <a:rPr sz="1125" b="0">
                <a:solidFill>
                  <a:srgbClr val="6D7471"/>
                </a:solidFill>
                <a:latin typeface="DM Sans"/>
                <a:ea typeface="DM Sans"/>
                <a:cs typeface="DM Sans"/>
              </a:rPr>
              <a:t>A single merchant account connects the customer marketplace, restaurant operations, and fulfilment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5132B13-F9F2-4AC6-9258-8686B200D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229350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825" b="1">
                <a:solidFill>
                  <a:srgbClr val="9B9F9D"/>
                </a:solidFill>
                <a:latin typeface="DM Sans"/>
                <a:ea typeface="DM Sans"/>
                <a:cs typeface="DM Sans"/>
              </a:defRPr>
            </a:pPr>
            <a:r>
              <a:rPr sz="825" b="1">
                <a:solidFill>
                  <a:srgbClr val="9B9F9D"/>
                </a:solidFill>
                <a:latin typeface="DM Sans"/>
                <a:ea typeface="DM Sans"/>
                <a:cs typeface="DM Sans"/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6FA4603-8E14-4D7B-B440-3DAC6DEEE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71625"/>
            <a:ext cx="51911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250" b="1">
                <a:solidFill>
                  <a:srgbClr val="1F2523"/>
                </a:solidFill>
                <a:latin typeface="Manrope"/>
                <a:ea typeface="Manrope"/>
                <a:cs typeface="Manrope"/>
              </a:defRPr>
            </a:pPr>
            <a:r>
              <a:rPr sz="2250" b="1">
                <a:solidFill>
                  <a:srgbClr val="1F2523"/>
                </a:solidFill>
                <a:latin typeface="Manrope"/>
                <a:ea typeface="Manrope"/>
                <a:cs typeface="Manrope"/>
              </a:rPr>
              <a:t>One storefront. Three ways to serve.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EBA3341-86DE-4E15-99A4-CF46C325B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286000"/>
            <a:ext cx="5191125" cy="2457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254000" indent="-127000" algn="l">
              <a:lnSpc>
                <a:spcPct val="105000"/>
              </a:lnSpc>
              <a:spcAft>
                <a:spcPts val="1500"/>
              </a:spcAft>
              <a:buNone/>
              <a:defRPr sz="1350" b="0">
                <a:solidFill>
                  <a:srgbClr val="1F2523"/>
                </a:solidFill>
                <a:latin typeface="DM Sans"/>
                <a:ea typeface="DM Sans"/>
                <a:cs typeface="DM Sans"/>
              </a:defRPr>
            </a:pPr>
            <a:r>
              <a:rPr sz="1350" b="1">
                <a:solidFill>
                  <a:srgbClr val="1F2523"/>
                </a:solidFill>
                <a:latin typeface="DM Sans"/>
                <a:ea typeface="DM Sans"/>
                <a:cs typeface="DM Sans"/>
              </a:rPr>
              <a:t>Customer discovery: </a:t>
            </a:r>
            <a:r>
              <a:rPr sz="1350" b="0">
                <a:solidFill>
                  <a:srgbClr val="1F2523"/>
                </a:solidFill>
                <a:latin typeface="DM Sans"/>
                <a:ea typeface="DM Sans"/>
                <a:cs typeface="DM Sans"/>
              </a:rPr>
              <a:t>Your restaurant and menu appear in the PahatudFood marketplace.</a:t>
            </a:r>
          </a:p>
          <a:p xmlns:a="http://schemas.openxmlformats.org/drawingml/2006/main">
            <a:pPr marL="254000" indent="-127000" algn="l">
              <a:lnSpc>
                <a:spcPct val="105000"/>
              </a:lnSpc>
              <a:spcAft>
                <a:spcPts val="1500"/>
              </a:spcAft>
              <a:buNone/>
              <a:defRPr sz="1350" b="0">
                <a:solidFill>
                  <a:srgbClr val="1F2523"/>
                </a:solidFill>
                <a:latin typeface="DM Sans"/>
                <a:ea typeface="DM Sans"/>
                <a:cs typeface="DM Sans"/>
              </a:defRPr>
            </a:pPr>
            <a:r>
              <a:rPr sz="1350" b="1">
                <a:solidFill>
                  <a:srgbClr val="1F2523"/>
                </a:solidFill>
                <a:latin typeface="DM Sans"/>
                <a:ea typeface="DM Sans"/>
                <a:cs typeface="DM Sans"/>
              </a:rPr>
              <a:t>Order control: </a:t>
            </a:r>
            <a:r>
              <a:rPr sz="1350" b="0">
                <a:solidFill>
                  <a:srgbClr val="1F2523"/>
                </a:solidFill>
                <a:latin typeface="DM Sans"/>
                <a:ea typeface="DM Sans"/>
                <a:cs typeface="DM Sans"/>
              </a:rPr>
              <a:t>Your team reviews, prepares, and updates every order from the merchant dashboard.</a:t>
            </a:r>
          </a:p>
          <a:p xmlns:a="http://schemas.openxmlformats.org/drawingml/2006/main">
            <a:pPr marL="254000" indent="-127000" algn="l">
              <a:lnSpc>
                <a:spcPct val="105000"/>
              </a:lnSpc>
              <a:spcAft>
                <a:spcPts val="1500"/>
              </a:spcAft>
              <a:buNone/>
              <a:defRPr sz="1350" b="0">
                <a:solidFill>
                  <a:srgbClr val="1F2523"/>
                </a:solidFill>
                <a:latin typeface="DM Sans"/>
                <a:ea typeface="DM Sans"/>
                <a:cs typeface="DM Sans"/>
              </a:defRPr>
            </a:pPr>
            <a:r>
              <a:rPr sz="1350" b="1">
                <a:solidFill>
                  <a:srgbClr val="1F2523"/>
                </a:solidFill>
                <a:latin typeface="DM Sans"/>
                <a:ea typeface="DM Sans"/>
                <a:cs typeface="DM Sans"/>
              </a:rPr>
              <a:t>Flexible service: </a:t>
            </a:r>
            <a:r>
              <a:rPr sz="1350" b="0">
                <a:solidFill>
                  <a:srgbClr val="1F2523"/>
                </a:solidFill>
                <a:latin typeface="DM Sans"/>
                <a:ea typeface="DM Sans"/>
                <a:cs typeface="DM Sans"/>
              </a:rPr>
              <a:t>Activate dine-in, pickup, delivery, or the service mix agreed for each branch.</a:t>
            </a:r>
          </a:p>
          <a:p xmlns:a="http://schemas.openxmlformats.org/drawingml/2006/main">
            <a:pPr marL="254000" indent="-127000" algn="l">
              <a:lnSpc>
                <a:spcPct val="105000"/>
              </a:lnSpc>
              <a:spcAft>
                <a:spcPts val="1500"/>
              </a:spcAft>
              <a:buNone/>
              <a:defRPr sz="1350" b="0">
                <a:solidFill>
                  <a:srgbClr val="1F2523"/>
                </a:solidFill>
                <a:latin typeface="DM Sans"/>
                <a:ea typeface="DM Sans"/>
                <a:cs typeface="DM Sans"/>
              </a:defRPr>
            </a:pPr>
            <a:r>
              <a:rPr sz="1350" b="1">
                <a:solidFill>
                  <a:srgbClr val="1F2523"/>
                </a:solidFill>
                <a:latin typeface="DM Sans"/>
                <a:ea typeface="DM Sans"/>
                <a:cs typeface="DM Sans"/>
              </a:rPr>
              <a:t>Clear reporting: </a:t>
            </a:r>
            <a:r>
              <a:rPr sz="1350" b="0">
                <a:solidFill>
                  <a:srgbClr val="1F2523"/>
                </a:solidFill>
                <a:latin typeface="DM Sans"/>
                <a:ea typeface="DM Sans"/>
                <a:cs typeface="DM Sans"/>
              </a:rPr>
              <a:t>Track sales, recorded platform commission, and estimated net revenue.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D3E2114-0D78-4314-BF41-18B924E13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162550"/>
            <a:ext cx="514350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29302D"/>
          </a:solidFill>
          <a:ln xmlns:a="http://schemas.openxmlformats.org/drawingml/2006/main" w="9525">
            <a:solidFill>
              <a:srgbClr val="29302D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3CA1CE0-CE2C-49A5-BBC0-B44BF789D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334000"/>
            <a:ext cx="4667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FFFFFF"/>
                </a:solidFill>
                <a:latin typeface="DM Sans"/>
                <a:ea typeface="DM Sans"/>
                <a:cs typeface="DM Sans"/>
              </a:defRPr>
            </a:pPr>
            <a:r>
              <a:rPr sz="1275" b="1">
                <a:solidFill>
                  <a:srgbClr val="FFFFFF"/>
                </a:solidFill>
                <a:latin typeface="DM Sans"/>
                <a:ea typeface="DM Sans"/>
                <a:cs typeface="DM Sans"/>
              </a:rPr>
              <a:t>Merchant manages the menu and orders. PahatudFood provides marketplace access and delivery coordination.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5D9A29A-1E66-4A3C-B1E7-6DE59C264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524000"/>
            <a:ext cx="1857375" cy="4095750"/>
          </a:xfrm>
          <a:prstGeom xmlns:a="http://schemas.openxmlformats.org/drawingml/2006/main" prst="roundRect">
            <a:avLst>
              <a:gd name="adj" fmla="val 410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8DED7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C44B6B1-B463-4863-8FFC-3B68A02CA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1524000"/>
            <a:ext cx="1857375" cy="4095750"/>
          </a:xfrm>
          <a:prstGeom xmlns:a="http://schemas.openxmlformats.org/drawingml/2006/main" prst="roundRect">
            <a:avLst>
              <a:gd name="adj" fmla="val 410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8DED7"/>
            </a:solidFill>
            <a:prstDash val="solid"/>
          </a:ln>
        </p:spPr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1dce92bd2174195"/>
          <a:stretch xmlns:a="http://schemas.openxmlformats.org/drawingml/2006/main"/>
        </p:blipFill>
        <p:spPr>
          <a:xfrm xmlns:a="http://schemas.openxmlformats.org/drawingml/2006/main">
            <a:off x="7210425" y="1937279"/>
            <a:ext cx="1466850" cy="3259667"/>
          </a:xfrm>
          <a:prstGeom xmlns:a="http://schemas.openxmlformats.org/drawingml/2006/main" prst="roundRect">
            <a:avLst>
              <a:gd name="adj" fmla="val 10390"/>
            </a:avLst>
          </a:prstGeom>
        </p:spPr>
      </p:pic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f92cace04884873"/>
          <a:stretch xmlns:a="http://schemas.openxmlformats.org/drawingml/2006/main"/>
        </p:blipFill>
        <p:spPr>
          <a:xfrm xmlns:a="http://schemas.openxmlformats.org/drawingml/2006/main">
            <a:off x="9324975" y="1937279"/>
            <a:ext cx="1466850" cy="3259667"/>
          </a:xfrm>
          <a:prstGeom xmlns:a="http://schemas.openxmlformats.org/drawingml/2006/main" prst="roundRect">
            <a:avLst>
              <a:gd name="adj" fmla="val 10390"/>
            </a:avLst>
          </a:prstGeom>
        </p:spPr>
      </p:pic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7CEEF7E-051F-4462-BB08-36D3D4CA9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781675"/>
            <a:ext cx="39719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75" b="1">
                <a:solidFill>
                  <a:srgbClr val="6D7471"/>
                </a:solidFill>
                <a:latin typeface="DM Sans"/>
                <a:ea typeface="DM Sans"/>
                <a:cs typeface="DM Sans"/>
              </a:defRPr>
            </a:pPr>
            <a:r>
              <a:rPr sz="975" b="1">
                <a:solidFill>
                  <a:srgbClr val="6D7471"/>
                </a:solidFill>
                <a:latin typeface="DM Sans"/>
                <a:ea typeface="DM Sans"/>
                <a:cs typeface="DM Sans"/>
              </a:rPr>
              <a:t>Customer app</a:t>
            </a:r>
          </a:p>
        </p:txBody>
      </p:sp>
    </p:spTree>
    <p:extLst>
      <p:ext uri="{BB962C8B-B14F-4D97-AF65-F5344CB8AC3E}">
        <p14:creationId xmlns:p14="http://schemas.microsoft.com/office/powerpoint/2010/main" val="190927744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6507168f264482a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95300" y="409575"/>
            <a:ext cx="323850" cy="323850"/>
          </a:xfrm>
          <a:prstGeom xmlns:a="http://schemas.openxmlformats.org/drawingml/2006/main" prst="roundRect">
            <a:avLst>
              <a:gd name="adj" fmla="val 47059"/>
            </a:avLst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A00027D-786D-4D0D-ADA2-8CB5F12E2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00050"/>
            <a:ext cx="100488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325" b="1">
                <a:solidFill>
                  <a:srgbClr val="1F2523"/>
                </a:solidFill>
                <a:latin typeface="Manrope"/>
                <a:ea typeface="Manrope"/>
                <a:cs typeface="Manrope"/>
              </a:defRPr>
            </a:pPr>
            <a:r>
              <a:rPr sz="2325" b="1">
                <a:solidFill>
                  <a:srgbClr val="1F2523"/>
                </a:solidFill>
                <a:latin typeface="Manrope"/>
                <a:ea typeface="Manrope"/>
                <a:cs typeface="Manrope"/>
              </a:rPr>
              <a:t>Merchant journey from setup to growth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38C9D98-A30F-445C-8312-9DADA8AE7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933450"/>
            <a:ext cx="100488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0">
                <a:solidFill>
                  <a:srgbClr val="6D7471"/>
                </a:solidFill>
                <a:latin typeface="DM Sans"/>
                <a:ea typeface="DM Sans"/>
                <a:cs typeface="DM Sans"/>
              </a:defRPr>
            </a:pPr>
            <a:r>
              <a:rPr sz="1125" b="0">
                <a:solidFill>
                  <a:srgbClr val="6D7471"/>
                </a:solidFill>
                <a:latin typeface="DM Sans"/>
                <a:ea typeface="DM Sans"/>
                <a:cs typeface="DM Sans"/>
              </a:rPr>
              <a:t>The operating model becomes simple once the commercial policy and service modes are agreed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A662E6B-1018-44FE-8B91-2904CDA4C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229350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825" b="1">
                <a:solidFill>
                  <a:srgbClr val="9B9F9D"/>
                </a:solidFill>
                <a:latin typeface="DM Sans"/>
                <a:ea typeface="DM Sans"/>
                <a:cs typeface="DM Sans"/>
              </a:defRPr>
            </a:pPr>
            <a:r>
              <a:rPr sz="825" b="1">
                <a:solidFill>
                  <a:srgbClr val="9B9F9D"/>
                </a:solidFill>
                <a:latin typeface="DM Sans"/>
                <a:ea typeface="DM Sans"/>
                <a:cs typeface="DM Sans"/>
              </a:rPr>
              <a:t>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E1CD4F0-3962-4181-A279-F20262739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733675"/>
            <a:ext cx="103632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DED7"/>
          </a:solidFill>
          <a:ln xmlns:a="http://schemas.openxmlformats.org/drawingml/2006/main" w="9525">
            <a:solidFill>
              <a:srgbClr val="E8DED7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A4C0E7E-E2AF-48F5-9BFC-BEA492FAC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2428875"/>
            <a:ext cx="60960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29302D"/>
          </a:solidFill>
          <a:ln xmlns:a="http://schemas.openxmlformats.org/drawingml/2006/main" w="9525">
            <a:solidFill>
              <a:srgbClr val="29302D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791FC63-6D57-4D18-8EB3-2F5627891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2428875"/>
            <a:ext cx="6096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425" b="1">
                <a:solidFill>
                  <a:srgbClr val="FFFFFF"/>
                </a:solidFill>
                <a:latin typeface="Manrope"/>
                <a:ea typeface="Manrope"/>
                <a:cs typeface="Manrope"/>
              </a:defRPr>
            </a:pPr>
            <a:r>
              <a:rPr sz="1425" b="1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A514A3F-F808-45BA-BB0A-847063294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3305175"/>
            <a:ext cx="17716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1">
                <a:solidFill>
                  <a:srgbClr val="1F2523"/>
                </a:solidFill>
                <a:latin typeface="Manrope"/>
                <a:ea typeface="Manrope"/>
                <a:cs typeface="Manrope"/>
              </a:defRPr>
            </a:pPr>
            <a:r>
              <a:rPr sz="1275" b="1">
                <a:solidFill>
                  <a:srgbClr val="1F2523"/>
                </a:solidFill>
                <a:latin typeface="Manrope"/>
                <a:ea typeface="Manrope"/>
                <a:cs typeface="Manrope"/>
              </a:rPr>
              <a:t>Apply and receive approval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038C811-1C77-4ADB-B03E-1D3DD08DA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3857625"/>
            <a:ext cx="17716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3000"/>
              </a:lnSpc>
              <a:buNone/>
              <a:defRPr sz="1050" b="0">
                <a:solidFill>
                  <a:srgbClr val="6D7471"/>
                </a:solidFill>
                <a:latin typeface="DM Sans"/>
                <a:ea typeface="DM Sans"/>
                <a:cs typeface="DM Sans"/>
              </a:defRPr>
            </a:pPr>
            <a:r>
              <a:rPr sz="1050" b="0">
                <a:solidFill>
                  <a:srgbClr val="6D7471"/>
                </a:solidFill>
                <a:latin typeface="DM Sans"/>
                <a:ea typeface="DM Sans"/>
                <a:cs typeface="DM Sans"/>
              </a:rPr>
              <a:t>Submit the restaurant and required documents.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A72763A-2746-420D-99CA-6567947D3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4725" y="2428875"/>
            <a:ext cx="60960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29302D"/>
          </a:solidFill>
          <a:ln xmlns:a="http://schemas.openxmlformats.org/drawingml/2006/main" w="9525">
            <a:solidFill>
              <a:srgbClr val="29302D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7DE1258-9075-4BD1-9D5D-BC9C11923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4725" y="2428875"/>
            <a:ext cx="6096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425" b="1">
                <a:solidFill>
                  <a:srgbClr val="FFFFFF"/>
                </a:solidFill>
                <a:latin typeface="Manrope"/>
                <a:ea typeface="Manrope"/>
                <a:cs typeface="Manrope"/>
              </a:defRPr>
            </a:pPr>
            <a:r>
              <a:rPr sz="1425" b="1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2E20CAC-3484-4C94-B0F2-0E6BCB228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3305175"/>
            <a:ext cx="17716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1">
                <a:solidFill>
                  <a:srgbClr val="1F2523"/>
                </a:solidFill>
                <a:latin typeface="Manrope"/>
                <a:ea typeface="Manrope"/>
                <a:cs typeface="Manrope"/>
              </a:defRPr>
            </a:pPr>
            <a:r>
              <a:rPr sz="1275" b="1">
                <a:solidFill>
                  <a:srgbClr val="1F2523"/>
                </a:solidFill>
                <a:latin typeface="Manrope"/>
                <a:ea typeface="Manrope"/>
                <a:cs typeface="Manrope"/>
              </a:rPr>
              <a:t>Complete the account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59700A4-AB70-4498-9640-0D66172EC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3857625"/>
            <a:ext cx="17716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3000"/>
              </a:lnSpc>
              <a:buNone/>
              <a:defRPr sz="1050" b="0">
                <a:solidFill>
                  <a:srgbClr val="6D7471"/>
                </a:solidFill>
                <a:latin typeface="DM Sans"/>
                <a:ea typeface="DM Sans"/>
                <a:cs typeface="DM Sans"/>
              </a:defRPr>
            </a:pPr>
            <a:r>
              <a:rPr sz="1050" b="0">
                <a:solidFill>
                  <a:srgbClr val="6D7471"/>
                </a:solidFill>
                <a:latin typeface="DM Sans"/>
                <a:ea typeface="DM Sans"/>
                <a:cs typeface="DM Sans"/>
              </a:rPr>
              <a:t>Confirm profile, branch, contact, and payout details.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AF222A2-50DF-4805-BBC2-F3DEF6519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2428875"/>
            <a:ext cx="60960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29302D"/>
          </a:solidFill>
          <a:ln xmlns:a="http://schemas.openxmlformats.org/drawingml/2006/main" w="9525">
            <a:solidFill>
              <a:srgbClr val="29302D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DF5025E-DC45-4169-9483-C3C2BBA0A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2428875"/>
            <a:ext cx="6096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425" b="1">
                <a:solidFill>
                  <a:srgbClr val="FFFFFF"/>
                </a:solidFill>
                <a:latin typeface="Manrope"/>
                <a:ea typeface="Manrope"/>
                <a:cs typeface="Manrope"/>
              </a:defRPr>
            </a:pPr>
            <a:r>
              <a:rPr sz="1425" b="1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359BC05-FF9E-406E-88E4-BE149E9F3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2075" y="3305175"/>
            <a:ext cx="17716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1">
                <a:solidFill>
                  <a:srgbClr val="1F2523"/>
                </a:solidFill>
                <a:latin typeface="Manrope"/>
                <a:ea typeface="Manrope"/>
                <a:cs typeface="Manrope"/>
              </a:defRPr>
            </a:pPr>
            <a:r>
              <a:rPr sz="1275" b="1">
                <a:solidFill>
                  <a:srgbClr val="1F2523"/>
                </a:solidFill>
                <a:latin typeface="Manrope"/>
                <a:ea typeface="Manrope"/>
                <a:cs typeface="Manrope"/>
              </a:rPr>
              <a:t>Build the menu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F08C516-F113-4DA6-8B0D-0B93F2EC5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2075" y="3857625"/>
            <a:ext cx="17716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3000"/>
              </a:lnSpc>
              <a:buNone/>
              <a:defRPr sz="1050" b="0">
                <a:solidFill>
                  <a:srgbClr val="6D7471"/>
                </a:solidFill>
                <a:latin typeface="DM Sans"/>
                <a:ea typeface="DM Sans"/>
                <a:cs typeface="DM Sans"/>
              </a:defRPr>
            </a:pPr>
            <a:r>
              <a:rPr sz="1050" b="0">
                <a:solidFill>
                  <a:srgbClr val="6D7471"/>
                </a:solidFill>
                <a:latin typeface="DM Sans"/>
                <a:ea typeface="DM Sans"/>
                <a:cs typeface="DM Sans"/>
              </a:rPr>
              <a:t>Add categories, products, prices, add-ons, and availability.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E3CA19D-7027-4180-A81B-991320C61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91475" y="2428875"/>
            <a:ext cx="60960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43B35"/>
          </a:solidFill>
          <a:ln xmlns:a="http://schemas.openxmlformats.org/drawingml/2006/main" w="9525">
            <a:solidFill>
              <a:srgbClr val="F43B35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9493FDE-C30B-4215-A749-730DB492E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91475" y="2428875"/>
            <a:ext cx="6096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425" b="1">
                <a:solidFill>
                  <a:srgbClr val="FFFFFF"/>
                </a:solidFill>
                <a:latin typeface="Manrope"/>
                <a:ea typeface="Manrope"/>
                <a:cs typeface="Manrope"/>
              </a:defRPr>
            </a:pPr>
            <a:r>
              <a:rPr sz="1425" b="1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04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9B62C15-E769-4A15-AF96-6DBF0544C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3305175"/>
            <a:ext cx="17716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1">
                <a:solidFill>
                  <a:srgbClr val="1F2523"/>
                </a:solidFill>
                <a:latin typeface="Manrope"/>
                <a:ea typeface="Manrope"/>
                <a:cs typeface="Manrope"/>
              </a:defRPr>
            </a:pPr>
            <a:r>
              <a:rPr sz="1275" b="1">
                <a:solidFill>
                  <a:srgbClr val="1F2523"/>
                </a:solidFill>
                <a:latin typeface="Manrope"/>
                <a:ea typeface="Manrope"/>
                <a:cs typeface="Manrope"/>
              </a:rPr>
              <a:t>Go online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6B45677-FD76-4BDE-B0B8-AB5EF3792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3857625"/>
            <a:ext cx="17716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3000"/>
              </a:lnSpc>
              <a:buNone/>
              <a:defRPr sz="1050" b="0">
                <a:solidFill>
                  <a:srgbClr val="6D7471"/>
                </a:solidFill>
                <a:latin typeface="DM Sans"/>
                <a:ea typeface="DM Sans"/>
                <a:cs typeface="DM Sans"/>
              </a:defRPr>
            </a:pPr>
            <a:r>
              <a:rPr sz="1050" b="0">
                <a:solidFill>
                  <a:srgbClr val="6D7471"/>
                </a:solidFill>
                <a:latin typeface="DM Sans"/>
                <a:ea typeface="DM Sans"/>
                <a:cs typeface="DM Sans"/>
              </a:rPr>
              <a:t>Receive and fulfil orders through the dashboard.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6101958-E24B-4328-B260-1ABBC02E8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9850" y="2428875"/>
            <a:ext cx="60960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29302D"/>
          </a:solidFill>
          <a:ln xmlns:a="http://schemas.openxmlformats.org/drawingml/2006/main" w="9525">
            <a:solidFill>
              <a:srgbClr val="29302D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205DDAB-8610-45ED-8FE2-1FAEACA5D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9850" y="2428875"/>
            <a:ext cx="6096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425" b="1">
                <a:solidFill>
                  <a:srgbClr val="FFFFFF"/>
                </a:solidFill>
                <a:latin typeface="Manrope"/>
                <a:ea typeface="Manrope"/>
                <a:cs typeface="Manrope"/>
              </a:defRPr>
            </a:pPr>
            <a:r>
              <a:rPr sz="1425" b="1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05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70D1F92-D371-4593-BD21-4D8FAC806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48825" y="3305175"/>
            <a:ext cx="17716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1">
                <a:solidFill>
                  <a:srgbClr val="1F2523"/>
                </a:solidFill>
                <a:latin typeface="Manrope"/>
                <a:ea typeface="Manrope"/>
                <a:cs typeface="Manrope"/>
              </a:defRPr>
            </a:pPr>
            <a:r>
              <a:rPr sz="1275" b="1">
                <a:solidFill>
                  <a:srgbClr val="1F2523"/>
                </a:solidFill>
                <a:latin typeface="Manrope"/>
                <a:ea typeface="Manrope"/>
                <a:cs typeface="Manrope"/>
              </a:rPr>
              <a:t>Review and improve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9385EF3-4779-4953-AF22-B6158F32A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48825" y="3857625"/>
            <a:ext cx="17716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3000"/>
              </a:lnSpc>
              <a:buNone/>
              <a:defRPr sz="1050" b="0">
                <a:solidFill>
                  <a:srgbClr val="6D7471"/>
                </a:solidFill>
                <a:latin typeface="DM Sans"/>
                <a:ea typeface="DM Sans"/>
                <a:cs typeface="DM Sans"/>
              </a:defRPr>
            </a:pPr>
            <a:r>
              <a:rPr sz="1050" b="0">
                <a:solidFill>
                  <a:srgbClr val="6D7471"/>
                </a:solidFill>
                <a:latin typeface="DM Sans"/>
                <a:ea typeface="DM Sans"/>
                <a:cs typeface="DM Sans"/>
              </a:rPr>
              <a:t>Check sales, commission, estimated earnings, and order outcomes.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6BE1550-99FC-407C-9C00-D0CDECBDB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9825" y="5257800"/>
            <a:ext cx="73723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0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78EC619-E205-40C6-8910-1E801F51A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5429250"/>
            <a:ext cx="6953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 b="1">
                <a:solidFill>
                  <a:srgbClr val="B52D28"/>
                </a:solidFill>
                <a:latin typeface="DM Sans"/>
                <a:ea typeface="DM Sans"/>
                <a:cs typeface="DM Sans"/>
              </a:defRPr>
            </a:pPr>
            <a:r>
              <a:rPr sz="1200" b="1">
                <a:solidFill>
                  <a:srgbClr val="B52D28"/>
                </a:solidFill>
                <a:latin typeface="DM Sans"/>
                <a:ea typeface="DM Sans"/>
                <a:cs typeface="DM Sans"/>
              </a:rPr>
              <a:t>Service availability depends on the modes activated for the restaurant or branch.</a:t>
            </a:r>
          </a:p>
        </p:txBody>
      </p:sp>
    </p:spTree>
    <p:extLst>
      <p:ext uri="{BB962C8B-B14F-4D97-AF65-F5344CB8AC3E}">
        <p14:creationId xmlns:p14="http://schemas.microsoft.com/office/powerpoint/2010/main" val="9990354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7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1ecf731830842e6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95300" y="409575"/>
            <a:ext cx="323850" cy="323850"/>
          </a:xfrm>
          <a:prstGeom xmlns:a="http://schemas.openxmlformats.org/drawingml/2006/main" prst="roundRect">
            <a:avLst>
              <a:gd name="adj" fmla="val 47059"/>
            </a:avLst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B5A3A0C-8D01-43AD-843D-5DBAECB2D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00050"/>
            <a:ext cx="100488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325" b="1">
                <a:solidFill>
                  <a:srgbClr val="1F2523"/>
                </a:solidFill>
                <a:latin typeface="Manrope"/>
                <a:ea typeface="Manrope"/>
                <a:cs typeface="Manrope"/>
              </a:defRPr>
            </a:pPr>
            <a:r>
              <a:rPr sz="2325" b="1">
                <a:solidFill>
                  <a:srgbClr val="1F2523"/>
                </a:solidFill>
                <a:latin typeface="Manrope"/>
                <a:ea typeface="Manrope"/>
                <a:cs typeface="Manrope"/>
              </a:rPr>
              <a:t>PahatudFood commission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7B1ED28-0B37-493F-AB7A-832B2B54A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933450"/>
            <a:ext cx="100488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0">
                <a:solidFill>
                  <a:srgbClr val="6D7471"/>
                </a:solidFill>
                <a:latin typeface="DM Sans"/>
                <a:ea typeface="DM Sans"/>
                <a:cs typeface="DM Sans"/>
              </a:defRPr>
            </a:pPr>
            <a:r>
              <a:rPr sz="1125" b="0">
                <a:solidFill>
                  <a:srgbClr val="6D7471"/>
                </a:solidFill>
                <a:latin typeface="DM Sans"/>
                <a:ea typeface="DM Sans"/>
                <a:cs typeface="DM Sans"/>
              </a:rPr>
              <a:t>The proposed standard rate is calculated from the eligible food subtotal for each completed order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C17B973-152E-4E86-83EC-73545D4E8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229350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825" b="1">
                <a:solidFill>
                  <a:srgbClr val="9B9F9D"/>
                </a:solidFill>
                <a:latin typeface="DM Sans"/>
                <a:ea typeface="DM Sans"/>
                <a:cs typeface="DM Sans"/>
              </a:defRPr>
            </a:pPr>
            <a:r>
              <a:rPr sz="825" b="1">
                <a:solidFill>
                  <a:srgbClr val="9B9F9D"/>
                </a:solidFill>
                <a:latin typeface="DM Sans"/>
                <a:ea typeface="DM Sans"/>
                <a:cs typeface="DM Sans"/>
              </a:rPr>
              <a:t>04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9E1912C-2586-423C-93AC-B07888997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571625"/>
            <a:ext cx="4048125" cy="4229100"/>
          </a:xfrm>
          <a:prstGeom xmlns:a="http://schemas.openxmlformats.org/drawingml/2006/main" prst="roundRect">
            <a:avLst>
              <a:gd name="adj" fmla="val 1882"/>
            </a:avLst>
          </a:prstGeom>
          <a:solidFill xmlns:a="http://schemas.openxmlformats.org/drawingml/2006/main">
            <a:srgbClr val="F43B35"/>
          </a:solidFill>
          <a:ln xmlns:a="http://schemas.openxmlformats.org/drawingml/2006/main" w="9525">
            <a:solidFill>
              <a:srgbClr val="F43B35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87089C0-B895-48AA-BABA-CB07AF085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876425"/>
            <a:ext cx="3143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1">
                <a:solidFill>
                  <a:srgbClr val="FFE5E2"/>
                </a:solidFill>
                <a:latin typeface="Manrope"/>
                <a:ea typeface="Manrope"/>
                <a:cs typeface="Manrope"/>
              </a:defRPr>
            </a:pPr>
            <a:r>
              <a:rPr sz="900" b="1">
                <a:solidFill>
                  <a:srgbClr val="FFE5E2"/>
                </a:solidFill>
                <a:latin typeface="Manrope"/>
                <a:ea typeface="Manrope"/>
                <a:cs typeface="Manrope"/>
              </a:rPr>
              <a:t>PROPOSED STANDARD RATE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A2F67BB-A6D7-4579-A1C8-A1BD1C88D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143125"/>
            <a:ext cx="3143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6150" b="1">
                <a:solidFill>
                  <a:srgbClr val="FFFFFF"/>
                </a:solidFill>
                <a:latin typeface="Manrope"/>
                <a:ea typeface="Manrope"/>
                <a:cs typeface="Manrope"/>
              </a:defRPr>
            </a:pPr>
            <a:r>
              <a:rPr sz="6150" b="1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15%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195C2B7-F7A8-4B2A-93A3-5B5BFD0D6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352800"/>
            <a:ext cx="314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1">
                <a:solidFill>
                  <a:srgbClr val="FFFFFF"/>
                </a:solidFill>
                <a:latin typeface="DM Sans"/>
                <a:ea typeface="DM Sans"/>
                <a:cs typeface="DM Sans"/>
              </a:defRPr>
            </a:pPr>
            <a:r>
              <a:rPr sz="1650" b="1">
                <a:solidFill>
                  <a:srgbClr val="FFFFFF"/>
                </a:solidFill>
                <a:latin typeface="DM Sans"/>
                <a:ea typeface="DM Sans"/>
                <a:cs typeface="DM Sans"/>
              </a:rPr>
              <a:t>of eligible item prices and paid add-ons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CFC2653-0287-47AF-B0F3-DE16F2A74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" y="4219575"/>
            <a:ext cx="3009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8D87"/>
          </a:solidFill>
          <a:ln xmlns:a="http://schemas.openxmlformats.org/drawingml/2006/main" w="9525">
            <a:solidFill>
              <a:srgbClr val="FF8D87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320F17B-081F-4D02-8173-55803B8C3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429125"/>
            <a:ext cx="3000375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FFF2F0"/>
                </a:solidFill>
                <a:latin typeface="DM Sans"/>
                <a:ea typeface="DM Sans"/>
                <a:cs typeface="DM Sans"/>
              </a:defRPr>
            </a:pPr>
            <a:r>
              <a:rPr sz="1200" b="0">
                <a:solidFill>
                  <a:srgbClr val="FFF2F0"/>
                </a:solidFill>
                <a:latin typeface="DM Sans"/>
                <a:ea typeface="DM Sans"/>
                <a:cs typeface="DM Sans"/>
              </a:rPr>
              <a:t>The merchant agreement confirms the final rate before activation.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4C79255-594C-4633-B4D8-E3E640038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24475" y="1695450"/>
            <a:ext cx="533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B52D28"/>
                </a:solidFill>
                <a:latin typeface="Manrope"/>
                <a:ea typeface="Manrope"/>
                <a:cs typeface="Manrope"/>
              </a:defRPr>
            </a:pPr>
            <a:r>
              <a:rPr sz="1350" b="1">
                <a:solidFill>
                  <a:srgbClr val="B52D28"/>
                </a:solidFill>
                <a:latin typeface="Manrope"/>
                <a:ea typeface="Manrope"/>
                <a:cs typeface="Manrope"/>
              </a:rPr>
              <a:t>Platform commission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0978874-6B13-401D-8DFC-26742FD83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24475" y="2095500"/>
            <a:ext cx="59626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00" b="0">
                <a:solidFill>
                  <a:srgbClr val="1F2523"/>
                </a:solidFill>
                <a:latin typeface="DM Sans"/>
                <a:ea typeface="DM Sans"/>
                <a:cs typeface="DM Sans"/>
              </a:defRPr>
            </a:pPr>
            <a:r>
              <a:rPr sz="1800" b="1">
                <a:solidFill>
                  <a:srgbClr val="1F2523"/>
                </a:solidFill>
                <a:latin typeface="DM Sans"/>
                <a:ea typeface="DM Sans"/>
                <a:cs typeface="DM Sans"/>
              </a:rPr>
              <a:t>Eligible food subtotal</a:t>
            </a:r>
            <a:r>
              <a:rPr sz="1800" b="0">
                <a:solidFill>
                  <a:srgbClr val="1F2523"/>
                </a:solidFill>
                <a:latin typeface="DM Sans"/>
                <a:ea typeface="DM Sans"/>
                <a:cs typeface="DM Sans"/>
              </a:rPr>
              <a:t> × </a:t>
            </a:r>
            <a:r>
              <a:rPr sz="1800" b="1">
                <a:solidFill>
                  <a:srgbClr val="1F2523"/>
                </a:solidFill>
                <a:latin typeface="DM Sans"/>
                <a:ea typeface="DM Sans"/>
                <a:cs typeface="DM Sans"/>
              </a:rPr>
              <a:t>agreed commission rate</a:t>
            </a:r>
            <a:r>
              <a:rPr sz="1800" b="0">
                <a:solidFill>
                  <a:srgbClr val="1F2523"/>
                </a:solidFill>
                <a:latin typeface="DM Sans"/>
                <a:ea typeface="DM Sans"/>
                <a:cs typeface="DM Sans"/>
              </a:rPr>
              <a:t> = platform commission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3A68747-58BB-4A7C-A085-BFF1504E2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24475" y="2876550"/>
            <a:ext cx="533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B52D28"/>
                </a:solidFill>
                <a:latin typeface="Manrope"/>
                <a:ea typeface="Manrope"/>
                <a:cs typeface="Manrope"/>
              </a:defRPr>
            </a:pPr>
            <a:r>
              <a:rPr sz="1350" b="1">
                <a:solidFill>
                  <a:srgbClr val="B52D28"/>
                </a:solidFill>
                <a:latin typeface="Manrope"/>
                <a:ea typeface="Manrope"/>
                <a:cs typeface="Manrope"/>
              </a:rPr>
              <a:t>Merchant amount before adjustments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28F8614-C93C-4C82-A473-E69BD056C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24475" y="3276600"/>
            <a:ext cx="59626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00" b="0">
                <a:solidFill>
                  <a:srgbClr val="1F2523"/>
                </a:solidFill>
                <a:latin typeface="DM Sans"/>
                <a:ea typeface="DM Sans"/>
                <a:cs typeface="DM Sans"/>
              </a:defRPr>
            </a:pPr>
            <a:r>
              <a:rPr sz="1800" b="1">
                <a:solidFill>
                  <a:srgbClr val="1F2523"/>
                </a:solidFill>
                <a:latin typeface="DM Sans"/>
                <a:ea typeface="DM Sans"/>
                <a:cs typeface="DM Sans"/>
              </a:rPr>
              <a:t>Eligible food subtotal</a:t>
            </a:r>
            <a:r>
              <a:rPr sz="1800" b="0">
                <a:solidFill>
                  <a:srgbClr val="1F2523"/>
                </a:solidFill>
                <a:latin typeface="DM Sans"/>
                <a:ea typeface="DM Sans"/>
                <a:cs typeface="DM Sans"/>
              </a:rPr>
              <a:t> − </a:t>
            </a:r>
            <a:r>
              <a:rPr sz="1800" b="1">
                <a:solidFill>
                  <a:srgbClr val="1F2523"/>
                </a:solidFill>
                <a:latin typeface="DM Sans"/>
                <a:ea typeface="DM Sans"/>
                <a:cs typeface="DM Sans"/>
              </a:rPr>
              <a:t>platform commission</a:t>
            </a:r>
            <a:r>
              <a:rPr sz="1800" b="0">
                <a:solidFill>
                  <a:srgbClr val="1F2523"/>
                </a:solidFill>
                <a:latin typeface="DM Sans"/>
                <a:ea typeface="DM Sans"/>
                <a:cs typeface="DM Sans"/>
              </a:rPr>
              <a:t> = merchant amount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D8B4EFA-D3E8-40B5-95C2-F0A5831B3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5425" y="4210050"/>
            <a:ext cx="2695575" cy="1181100"/>
          </a:xfrm>
          <a:prstGeom xmlns:a="http://schemas.openxmlformats.org/drawingml/2006/main" prst="roundRect">
            <a:avLst>
              <a:gd name="adj" fmla="val 645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8DED7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9D4EDB3-BAA6-4474-829A-6A1EF8009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01025" y="4210050"/>
            <a:ext cx="2695575" cy="1181100"/>
          </a:xfrm>
          <a:prstGeom xmlns:a="http://schemas.openxmlformats.org/drawingml/2006/main" prst="roundRect">
            <a:avLst>
              <a:gd name="adj" fmla="val 645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8DED7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980D5A5-5D97-425A-A9E2-83E314122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4025" y="4400550"/>
            <a:ext cx="22383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1F2523"/>
                </a:solidFill>
                <a:latin typeface="Manrope"/>
                <a:ea typeface="Manrope"/>
                <a:cs typeface="Manrope"/>
              </a:defRPr>
            </a:pPr>
            <a:r>
              <a:rPr sz="1275" b="1">
                <a:solidFill>
                  <a:srgbClr val="1F2523"/>
                </a:solidFill>
                <a:latin typeface="Manrope"/>
                <a:ea typeface="Manrope"/>
                <a:cs typeface="Manrope"/>
              </a:rPr>
              <a:t>₱500 subtotal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835D546-0910-4CAD-B302-B0ADC1039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4025" y="4724400"/>
            <a:ext cx="22383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0">
                <a:solidFill>
                  <a:srgbClr val="6D7471"/>
                </a:solidFill>
                <a:latin typeface="DM Sans"/>
                <a:ea typeface="DM Sans"/>
                <a:cs typeface="DM Sans"/>
              </a:defRPr>
            </a:pPr>
            <a:r>
              <a:rPr sz="1350" b="0">
                <a:solidFill>
                  <a:srgbClr val="6D7471"/>
                </a:solidFill>
                <a:latin typeface="DM Sans"/>
                <a:ea typeface="DM Sans"/>
                <a:cs typeface="DM Sans"/>
              </a:rPr>
              <a:t>PahatudFood ₱75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350" b="0">
                <a:solidFill>
                  <a:srgbClr val="6D7471"/>
                </a:solidFill>
                <a:latin typeface="DM Sans"/>
                <a:ea typeface="DM Sans"/>
                <a:cs typeface="DM Sans"/>
              </a:defRPr>
            </a:pPr>
            <a:r>
              <a:rPr sz="1350" b="0">
                <a:solidFill>
                  <a:srgbClr val="6D7471"/>
                </a:solidFill>
                <a:latin typeface="DM Sans"/>
                <a:ea typeface="DM Sans"/>
                <a:cs typeface="DM Sans"/>
              </a:rPr>
              <a:t>Merchant ₱425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AC13FB2-FCBC-4736-A03F-5CD947918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4400550"/>
            <a:ext cx="22383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1F2523"/>
                </a:solidFill>
                <a:latin typeface="Manrope"/>
                <a:ea typeface="Manrope"/>
                <a:cs typeface="Manrope"/>
              </a:defRPr>
            </a:pPr>
            <a:r>
              <a:rPr sz="1275" b="1">
                <a:solidFill>
                  <a:srgbClr val="1F2523"/>
                </a:solidFill>
                <a:latin typeface="Manrope"/>
                <a:ea typeface="Manrope"/>
                <a:cs typeface="Manrope"/>
              </a:rPr>
              <a:t>₱2,000 subtotal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1CF8206-3C74-4889-B2C6-422DE1A98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4724400"/>
            <a:ext cx="22383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0">
                <a:solidFill>
                  <a:srgbClr val="6D7471"/>
                </a:solidFill>
                <a:latin typeface="DM Sans"/>
                <a:ea typeface="DM Sans"/>
                <a:cs typeface="DM Sans"/>
              </a:defRPr>
            </a:pPr>
            <a:r>
              <a:rPr sz="1350" b="0">
                <a:solidFill>
                  <a:srgbClr val="6D7471"/>
                </a:solidFill>
                <a:latin typeface="DM Sans"/>
                <a:ea typeface="DM Sans"/>
                <a:cs typeface="DM Sans"/>
              </a:rPr>
              <a:t>PahatudFood ₱300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350" b="0">
                <a:solidFill>
                  <a:srgbClr val="6D7471"/>
                </a:solidFill>
                <a:latin typeface="DM Sans"/>
                <a:ea typeface="DM Sans"/>
                <a:cs typeface="DM Sans"/>
              </a:defRPr>
            </a:pPr>
            <a:r>
              <a:rPr sz="1350" b="0">
                <a:solidFill>
                  <a:srgbClr val="6D7471"/>
                </a:solidFill>
                <a:latin typeface="DM Sans"/>
                <a:ea typeface="DM Sans"/>
                <a:cs typeface="DM Sans"/>
              </a:rPr>
              <a:t>Merchant ₱1,700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6868C99-FE0C-47A1-A4CD-30A4BFC06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5619750"/>
            <a:ext cx="552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0">
                <a:solidFill>
                  <a:srgbClr val="6D7471"/>
                </a:solidFill>
                <a:latin typeface="DM Sans"/>
                <a:ea typeface="DM Sans"/>
                <a:cs typeface="DM Sans"/>
              </a:defRPr>
            </a:pPr>
            <a:r>
              <a:rPr sz="900" b="0">
                <a:solidFill>
                  <a:srgbClr val="6D7471"/>
                </a:solidFill>
                <a:latin typeface="DM Sans"/>
                <a:ea typeface="DM Sans"/>
                <a:cs typeface="DM Sans"/>
              </a:rPr>
              <a:t>Examples exclude other applicable adjustments.</a:t>
            </a:r>
          </a:p>
        </p:txBody>
      </p:sp>
    </p:spTree>
    <p:extLst>
      <p:ext uri="{BB962C8B-B14F-4D97-AF65-F5344CB8AC3E}">
        <p14:creationId xmlns:p14="http://schemas.microsoft.com/office/powerpoint/2010/main" val="14722303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7e87ca760c24dad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95300" y="409575"/>
            <a:ext cx="323850" cy="323850"/>
          </a:xfrm>
          <a:prstGeom xmlns:a="http://schemas.openxmlformats.org/drawingml/2006/main" prst="roundRect">
            <a:avLst>
              <a:gd name="adj" fmla="val 47059"/>
            </a:avLst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A623143-6316-4E4A-B7A1-075D2FA9A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00050"/>
            <a:ext cx="100488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325" b="1">
                <a:solidFill>
                  <a:srgbClr val="1F2523"/>
                </a:solidFill>
                <a:latin typeface="Manrope"/>
                <a:ea typeface="Manrope"/>
                <a:cs typeface="Manrope"/>
              </a:defRPr>
            </a:pPr>
            <a:r>
              <a:rPr sz="2325" b="1">
                <a:solidFill>
                  <a:srgbClr val="1F2523"/>
                </a:solidFill>
                <a:latin typeface="Manrope"/>
                <a:ea typeface="Manrope"/>
                <a:cs typeface="Manrope"/>
              </a:rPr>
              <a:t>15% commission on a ₱1,000 food subtotal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6EE9EFE-D3FB-47CF-A176-68E9446B7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933450"/>
            <a:ext cx="100488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0">
                <a:solidFill>
                  <a:srgbClr val="6D7471"/>
                </a:solidFill>
                <a:latin typeface="DM Sans"/>
                <a:ea typeface="DM Sans"/>
                <a:cs typeface="DM Sans"/>
              </a:defRPr>
            </a:pPr>
            <a:r>
              <a:rPr sz="1125" b="0">
                <a:solidFill>
                  <a:srgbClr val="6D7471"/>
                </a:solidFill>
                <a:latin typeface="DM Sans"/>
                <a:ea typeface="DM Sans"/>
                <a:cs typeface="DM Sans"/>
              </a:rPr>
              <a:t>A simple settlement example before discounts, refunds, taxes, or other applicable adjustments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6E25AAE-7C27-47E5-B42D-00F0E81B6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229350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825" b="1">
                <a:solidFill>
                  <a:srgbClr val="9B9F9D"/>
                </a:solidFill>
                <a:latin typeface="DM Sans"/>
                <a:ea typeface="DM Sans"/>
                <a:cs typeface="DM Sans"/>
              </a:defRPr>
            </a:pPr>
            <a:r>
              <a:rPr sz="825" b="1">
                <a:solidFill>
                  <a:srgbClr val="9B9F9D"/>
                </a:solidFill>
                <a:latin typeface="DM Sans"/>
                <a:ea typeface="DM Sans"/>
                <a:cs typeface="DM Sans"/>
              </a:rPr>
              <a:t>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F862721-B537-42E2-A74B-1CB78EF6D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676400"/>
            <a:ext cx="6715125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00" b="0">
                <a:solidFill>
                  <a:srgbClr val="1F2523"/>
                </a:solidFill>
                <a:latin typeface="DM Sans"/>
                <a:ea typeface="DM Sans"/>
                <a:cs typeface="DM Sans"/>
              </a:defRPr>
            </a:pPr>
            <a:r>
              <a:rPr sz="1800" b="1">
                <a:solidFill>
                  <a:srgbClr val="1F2523"/>
                </a:solidFill>
                <a:latin typeface="DM Sans"/>
                <a:ea typeface="DM Sans"/>
                <a:cs typeface="DM Sans"/>
              </a:rPr>
              <a:t>₱1,000</a:t>
            </a:r>
            <a:r>
              <a:rPr sz="1800">
                <a:solidFill>
                  <a:srgbClr val="1F2523"/>
                </a:solidFill>
                <a:latin typeface="DM Sans"/>
                <a:ea typeface="DM Sans"/>
                <a:cs typeface="DM Sans"/>
              </a:rPr>
              <a:t> × 15% = </a:t>
            </a:r>
            <a:r>
              <a:rPr sz="1800" b="1">
                <a:solidFill>
                  <a:srgbClr val="1F2523"/>
                </a:solidFill>
                <a:latin typeface="DM Sans"/>
                <a:ea typeface="DM Sans"/>
                <a:cs typeface="DM Sans"/>
              </a:rPr>
              <a:t>₱150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8ED1E3C-B6DE-4971-AB8F-0A614E8E7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09850"/>
            <a:ext cx="666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B52D28"/>
                </a:solidFill>
                <a:latin typeface="DM Sans"/>
                <a:ea typeface="DM Sans"/>
                <a:cs typeface="DM Sans"/>
              </a:defRPr>
            </a:pPr>
            <a:r>
              <a:rPr sz="1275" b="1">
                <a:solidFill>
                  <a:srgbClr val="B52D28"/>
                </a:solidFill>
                <a:latin typeface="DM Sans"/>
                <a:ea typeface="DM Sans"/>
                <a:cs typeface="DM Sans"/>
              </a:rPr>
              <a:t>PahatudFood commission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B280EC6-3F0A-4203-A23B-01C4790FA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162300"/>
            <a:ext cx="6715125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00" b="0">
                <a:solidFill>
                  <a:srgbClr val="1F2523"/>
                </a:solidFill>
                <a:latin typeface="DM Sans"/>
                <a:ea typeface="DM Sans"/>
                <a:cs typeface="DM Sans"/>
              </a:defRPr>
            </a:pPr>
            <a:r>
              <a:rPr sz="1800" b="1">
                <a:solidFill>
                  <a:srgbClr val="1F2523"/>
                </a:solidFill>
                <a:latin typeface="DM Sans"/>
                <a:ea typeface="DM Sans"/>
                <a:cs typeface="DM Sans"/>
              </a:rPr>
              <a:t>₱1,000</a:t>
            </a:r>
            <a:r>
              <a:rPr sz="1800">
                <a:solidFill>
                  <a:srgbClr val="1F2523"/>
                </a:solidFill>
                <a:latin typeface="DM Sans"/>
                <a:ea typeface="DM Sans"/>
                <a:cs typeface="DM Sans"/>
              </a:rPr>
              <a:t> − ₱150 = </a:t>
            </a:r>
            <a:r>
              <a:rPr sz="1800" b="1">
                <a:solidFill>
                  <a:srgbClr val="1F2523"/>
                </a:solidFill>
                <a:latin typeface="DM Sans"/>
                <a:ea typeface="DM Sans"/>
                <a:cs typeface="DM Sans"/>
              </a:rPr>
              <a:t>₱850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9A8AFD2-E539-4545-B0BA-03FC86261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19550"/>
            <a:ext cx="666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257B50"/>
                </a:solidFill>
                <a:latin typeface="DM Sans"/>
                <a:ea typeface="DM Sans"/>
                <a:cs typeface="DM Sans"/>
              </a:defRPr>
            </a:pPr>
            <a:r>
              <a:rPr sz="1275" b="1">
                <a:solidFill>
                  <a:srgbClr val="257B50"/>
                </a:solidFill>
                <a:latin typeface="DM Sans"/>
                <a:ea typeface="DM Sans"/>
                <a:cs typeface="DM Sans"/>
              </a:rPr>
              <a:t>Merchant amount before other adjustments</a:t>
            </a:r>
          </a:p>
        </p:txBody>
      </p:sp>
      <p:graphicFrame>
        <p:nvGraphicFramePr>
          <p:cNvPr id="21" name=""/>
          <p:cNvGraphicFramePr/>
          <p:nvPr/>
        </p:nvGraphicFramePr>
        <p:xfrm>
          <a:off xmlns:a="http://schemas.openxmlformats.org/drawingml/2006/main" x="7753350" y="1619250"/>
          <a:ext xmlns:a="http://schemas.openxmlformats.org/drawingml/2006/main" cx="3714750" cy="255270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2266950"/>
                <a:gridCol w="1447800"/>
              </a:tblGrid>
              <a:tr h="638175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anrope"/>
                          <a:ea typeface="Manrope"/>
                          <a:cs typeface="Manrope"/>
                        </a:rPr>
                        <a:t>Settlement line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anrope"/>
                          <a:ea typeface="Manrope"/>
                          <a:cs typeface="Manrope"/>
                        </a:rPr>
                        <a:t>Amount (₱)</a:t>
                      </a:r>
                    </a:p>
                  </a:txBody>
                  <a:tcPr marL="91440" marR="91440" marT="45720" marB="45720"/>
                </a:tc>
              </a:tr>
              <a:tr h="638175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F2523"/>
                          </a:solidFill>
                          <a:latin typeface="DM Sans"/>
                          <a:ea typeface="DM Sans"/>
                          <a:cs typeface="DM Sans"/>
                        </a:rPr>
                        <a:t>PahatudFood commission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F2523"/>
                          </a:solidFill>
                          <a:latin typeface="DM Sans"/>
                          <a:ea typeface="DM Sans"/>
                          <a:cs typeface="DM Sans"/>
                        </a:rPr>
                        <a:t>150.00</a:t>
                      </a:r>
                    </a:p>
                  </a:txBody>
                  <a:tcPr marL="91440" marR="91440" marT="45720" marB="45720"/>
                </a:tc>
              </a:tr>
              <a:tr h="638175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F2523"/>
                          </a:solidFill>
                          <a:latin typeface="DM Sans"/>
                          <a:ea typeface="DM Sans"/>
                          <a:cs typeface="DM Sans"/>
                        </a:rPr>
                        <a:t>Merchant share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2FA66C"/>
                          </a:solidFill>
                          <a:latin typeface="Manrope"/>
                          <a:ea typeface="Manrope"/>
                          <a:cs typeface="Manrope"/>
                        </a:rPr>
                        <a:t>850.00</a:t>
                      </a:r>
                    </a:p>
                  </a:txBody>
                  <a:tcPr marL="91440" marR="91440" marT="45720" marB="45720" anchor="ctr"/>
                </a:tc>
              </a:tr>
              <a:tr h="638175"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  <a:latin typeface="Manrope"/>
                          <a:ea typeface="Manrope"/>
                          <a:cs typeface="Manrope"/>
                        </a:rPr>
                        <a:t>Total food subtotal</a:t>
                      </a:r>
                    </a:p>
                  </a:txBody>
                  <a:tcPr marL="91440" marR="91440" marT="45720" marB="45720" anchor="ctr">
                    <a:solidFill>
                      <a:srgbClr val="2930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  <a:latin typeface="Manrope"/>
                          <a:ea typeface="Manrope"/>
                          <a:cs typeface="Manrope"/>
                        </a:rPr>
                        <a:t>1,000.00</a:t>
                      </a:r>
                    </a:p>
                  </a:txBody>
                  <a:tcPr marL="91440" marR="91440" marT="45720" marB="45720" anchor="ctr">
                    <a:solidFill>
                      <a:srgbClr val="29302D"/>
                    </a:solidFill>
                  </a:tcPr>
                </a:tc>
              </a:tr>
            </a:tbl>
          </a:graphicData>
        </a:graphic>
      </p:graphicFrame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7E81B5D-8B88-4665-A8B4-C9D03508A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4514850"/>
            <a:ext cx="379095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FFF0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5F95AE0-287A-47CB-B4F7-7D7B42069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724400"/>
            <a:ext cx="33147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1">
                <a:solidFill>
                  <a:srgbClr val="B52D28"/>
                </a:solidFill>
                <a:latin typeface="Manrope"/>
                <a:ea typeface="Manrope"/>
                <a:cs typeface="Manrope"/>
              </a:defRPr>
            </a:pPr>
            <a:r>
              <a:rPr sz="1275" b="1">
                <a:solidFill>
                  <a:srgbClr val="B52D28"/>
                </a:solidFill>
                <a:latin typeface="Manrope"/>
                <a:ea typeface="Manrope"/>
                <a:cs typeface="Manrope"/>
              </a:rPr>
              <a:t>Current product logic keeps the delivery fee outside the item commission base.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541963B-BCD1-4647-AE2D-B9FD8726C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5305425"/>
            <a:ext cx="6096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0">
                <a:solidFill>
                  <a:srgbClr val="6D7471"/>
                </a:solidFill>
                <a:latin typeface="DM Sans"/>
                <a:ea typeface="DM Sans"/>
                <a:cs typeface="DM Sans"/>
              </a:defRPr>
            </a:pPr>
            <a:r>
              <a:rPr sz="1125" b="0">
                <a:solidFill>
                  <a:srgbClr val="6D7471"/>
                </a:solidFill>
                <a:latin typeface="DM Sans"/>
                <a:ea typeface="DM Sans"/>
                <a:cs typeface="DM Sans"/>
              </a:rPr>
              <a:t>Confirm the final merchant agreement before using this example as a contractual statement.</a:t>
            </a:r>
          </a:p>
        </p:txBody>
      </p:sp>
    </p:spTree>
    <p:extLst>
      <p:ext uri="{BB962C8B-B14F-4D97-AF65-F5344CB8AC3E}">
        <p14:creationId xmlns:p14="http://schemas.microsoft.com/office/powerpoint/2010/main" val="193950822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7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de29aed802241a3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95300" y="409575"/>
            <a:ext cx="323850" cy="323850"/>
          </a:xfrm>
          <a:prstGeom xmlns:a="http://schemas.openxmlformats.org/drawingml/2006/main" prst="roundRect">
            <a:avLst>
              <a:gd name="adj" fmla="val 47059"/>
            </a:avLst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B10FE4B-96B1-4111-A6DA-B09447903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00050"/>
            <a:ext cx="100488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325" b="1">
                <a:solidFill>
                  <a:srgbClr val="1F2523"/>
                </a:solidFill>
                <a:latin typeface="Manrope"/>
                <a:ea typeface="Manrope"/>
                <a:cs typeface="Manrope"/>
              </a:defRPr>
            </a:pPr>
            <a:r>
              <a:rPr sz="2325" b="1">
                <a:solidFill>
                  <a:srgbClr val="1F2523"/>
                </a:solidFill>
                <a:latin typeface="Manrope"/>
                <a:ea typeface="Manrope"/>
                <a:cs typeface="Manrope"/>
              </a:rPr>
              <a:t>Treatment of fees, discounts, and other charges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7D3DD42-16C2-4ACA-8544-062E46792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933450"/>
            <a:ext cx="100488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0">
                <a:solidFill>
                  <a:srgbClr val="6D7471"/>
                </a:solidFill>
                <a:latin typeface="DM Sans"/>
                <a:ea typeface="DM Sans"/>
                <a:cs typeface="DM Sans"/>
              </a:defRPr>
            </a:pPr>
            <a:r>
              <a:rPr sz="1125" b="0">
                <a:solidFill>
                  <a:srgbClr val="6D7471"/>
                </a:solidFill>
                <a:latin typeface="DM Sans"/>
                <a:ea typeface="DM Sans"/>
                <a:cs typeface="DM Sans"/>
              </a:rPr>
              <a:t>The current implementation answers some questions. Commercial policy must confirm the rest.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62FFA2F-B6AE-4C75-99C1-1F16A7786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229350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825" b="1">
                <a:solidFill>
                  <a:srgbClr val="9B9F9D"/>
                </a:solidFill>
                <a:latin typeface="DM Sans"/>
                <a:ea typeface="DM Sans"/>
                <a:cs typeface="DM Sans"/>
              </a:defRPr>
            </a:pPr>
            <a:r>
              <a:rPr sz="825" b="1">
                <a:solidFill>
                  <a:srgbClr val="9B9F9D"/>
                </a:solidFill>
                <a:latin typeface="DM Sans"/>
                <a:ea typeface="DM Sans"/>
                <a:cs typeface="DM Sans"/>
              </a:rPr>
              <a:t>06</a:t>
            </a:r>
          </a:p>
        </p:txBody>
      </p:sp>
      <p:graphicFrame>
        <p:nvGraphicFramePr>
          <p:cNvPr id="11" name=""/>
          <p:cNvGraphicFramePr/>
          <p:nvPr/>
        </p:nvGraphicFramePr>
        <p:xfrm>
          <a:off xmlns:a="http://schemas.openxmlformats.org/drawingml/2006/main" x="571500" y="1524000"/>
          <a:ext xmlns:a="http://schemas.openxmlformats.org/drawingml/2006/main" cx="11049000" cy="409575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2476500"/>
                <a:gridCol w="5905500"/>
                <a:gridCol w="2667000"/>
              </a:tblGrid>
              <a:tr h="585107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anrope"/>
                          <a:ea typeface="Manrope"/>
                          <a:cs typeface="Manrope"/>
                        </a:rPr>
                        <a:t>Order component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anrope"/>
                          <a:ea typeface="Manrope"/>
                          <a:cs typeface="Manrope"/>
                        </a:rPr>
                        <a:t>Current product logic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anrope"/>
                          <a:ea typeface="Manrope"/>
                          <a:cs typeface="Manrope"/>
                        </a:rPr>
                        <a:t>Status for partner discussion</a:t>
                      </a:r>
                    </a:p>
                  </a:txBody>
                  <a:tcPr marL="91440" marR="91440" marT="45720" marB="45720"/>
                </a:tc>
              </a:tr>
              <a:tr h="585107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F2523"/>
                          </a:solidFill>
                          <a:latin typeface="DM Sans"/>
                          <a:ea typeface="DM Sans"/>
                          <a:cs typeface="DM Sans"/>
                        </a:rPr>
                        <a:t>Item prices and paid add-ons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F2523"/>
                          </a:solidFill>
                          <a:latin typeface="DM Sans"/>
                          <a:ea typeface="DM Sans"/>
                          <a:cs typeface="DM Sans"/>
                        </a:rPr>
                        <a:t>Included in the stored item commission amount.</a:t>
                      </a:r>
                    </a:p>
                  </a:txBody>
                  <a:tcPr marL="91440" marR="91440" marT="45720" marB="45720"/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050" b="1">
                          <a:solidFill>
                            <a:srgbClr val="257B50"/>
                          </a:solidFill>
                          <a:latin typeface="Manrope"/>
                          <a:ea typeface="Manrope"/>
                          <a:cs typeface="Manrope"/>
                        </a:rPr>
                        <a:t>Confirmed in current code</a:t>
                      </a:r>
                    </a:p>
                  </a:txBody>
                  <a:tcPr marL="91440" marR="91440" marT="45720" marB="45720" anchor="ctr">
                    <a:solidFill>
                      <a:srgbClr val="EDF8F2"/>
                    </a:solidFill>
                  </a:tcPr>
                </a:tc>
              </a:tr>
              <a:tr h="585107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F2523"/>
                          </a:solidFill>
                          <a:latin typeface="DM Sans"/>
                          <a:ea typeface="DM Sans"/>
                          <a:cs typeface="DM Sans"/>
                        </a:rPr>
                        <a:t>Delivery fee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F2523"/>
                          </a:solidFill>
                          <a:latin typeface="DM Sans"/>
                          <a:ea typeface="DM Sans"/>
                          <a:cs typeface="DM Sans"/>
                        </a:rPr>
                        <a:t>Calculated and displayed separately from item commission.</a:t>
                      </a:r>
                    </a:p>
                  </a:txBody>
                  <a:tcPr marL="91440" marR="91440" marT="45720" marB="45720"/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050" b="1">
                          <a:solidFill>
                            <a:srgbClr val="257B50"/>
                          </a:solidFill>
                          <a:latin typeface="Manrope"/>
                          <a:ea typeface="Manrope"/>
                          <a:cs typeface="Manrope"/>
                        </a:rPr>
                        <a:t>Confirmed in current code</a:t>
                      </a:r>
                    </a:p>
                  </a:txBody>
                  <a:tcPr marL="91440" marR="91440" marT="45720" marB="45720" anchor="ctr">
                    <a:solidFill>
                      <a:srgbClr val="EDF8F2"/>
                    </a:solidFill>
                  </a:tcPr>
                </a:tc>
              </a:tr>
              <a:tr h="585107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F2523"/>
                          </a:solidFill>
                          <a:latin typeface="DM Sans"/>
                          <a:ea typeface="DM Sans"/>
                          <a:cs typeface="DM Sans"/>
                        </a:rPr>
                        <a:t>Convenience fee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F2523"/>
                          </a:solidFill>
                          <a:latin typeface="DM Sans"/>
                          <a:ea typeface="DM Sans"/>
                          <a:cs typeface="DM Sans"/>
                        </a:rPr>
                        <a:t>Added as a separate customer charge and excluded from the stored item commission field.</a:t>
                      </a:r>
                    </a:p>
                  </a:txBody>
                  <a:tcPr marL="91440" marR="91440" marT="45720" marB="45720"/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050" b="1">
                          <a:solidFill>
                            <a:srgbClr val="257B50"/>
                          </a:solidFill>
                          <a:latin typeface="Manrope"/>
                          <a:ea typeface="Manrope"/>
                          <a:cs typeface="Manrope"/>
                        </a:rPr>
                        <a:t>Confirmed in current code</a:t>
                      </a:r>
                    </a:p>
                  </a:txBody>
                  <a:tcPr marL="91440" marR="91440" marT="45720" marB="45720" anchor="ctr">
                    <a:solidFill>
                      <a:srgbClr val="EDF8F2"/>
                    </a:solidFill>
                  </a:tcPr>
                </a:tc>
              </a:tr>
              <a:tr h="585107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F2523"/>
                          </a:solidFill>
                          <a:latin typeface="DM Sans"/>
                          <a:ea typeface="DM Sans"/>
                          <a:cs typeface="DM Sans"/>
                        </a:rPr>
                        <a:t>VAT on convenience fee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F2523"/>
                          </a:solidFill>
                          <a:latin typeface="DM Sans"/>
                          <a:ea typeface="DM Sans"/>
                          <a:cs typeface="DM Sans"/>
                        </a:rPr>
                        <a:t>Calculated separately from item commission when configured.</a:t>
                      </a:r>
                    </a:p>
                  </a:txBody>
                  <a:tcPr marL="91440" marR="91440" marT="45720" marB="45720"/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050" b="1">
                          <a:solidFill>
                            <a:srgbClr val="257B50"/>
                          </a:solidFill>
                          <a:latin typeface="Manrope"/>
                          <a:ea typeface="Manrope"/>
                          <a:cs typeface="Manrope"/>
                        </a:rPr>
                        <a:t>Confirmed in current code</a:t>
                      </a:r>
                    </a:p>
                  </a:txBody>
                  <a:tcPr marL="91440" marR="91440" marT="45720" marB="45720" anchor="ctr">
                    <a:solidFill>
                      <a:srgbClr val="EDF8F2"/>
                    </a:solidFill>
                  </a:tcPr>
                </a:tc>
              </a:tr>
              <a:tr h="585107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F2523"/>
                          </a:solidFill>
                          <a:latin typeface="DM Sans"/>
                          <a:ea typeface="DM Sans"/>
                          <a:cs typeface="DM Sans"/>
                        </a:rPr>
                        <a:t>Discounts and vouchers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F2523"/>
                          </a:solidFill>
                          <a:latin typeface="DM Sans"/>
                          <a:ea typeface="DM Sans"/>
                          <a:cs typeface="DM Sans"/>
                        </a:rPr>
                        <a:t>Reduce the customer total. The merchant or platform funding rule is not defined as a commercial policy in the materials reviewed.</a:t>
                      </a:r>
                    </a:p>
                  </a:txBody>
                  <a:tcPr marL="91440" marR="91440" marT="45720" marB="45720"/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050" b="1">
                          <a:solidFill>
                            <a:srgbClr val="8E621C"/>
                          </a:solidFill>
                          <a:latin typeface="Manrope"/>
                          <a:ea typeface="Manrope"/>
                          <a:cs typeface="Manrope"/>
                        </a:rPr>
                        <a:t>Needs confirmation</a:t>
                      </a:r>
                    </a:p>
                  </a:txBody>
                  <a:tcPr marL="91440" marR="91440" marT="45720" marB="45720" anchor="ctr">
                    <a:solidFill>
                      <a:srgbClr val="FFF6E7"/>
                    </a:solidFill>
                  </a:tcPr>
                </a:tc>
              </a:tr>
              <a:tr h="585107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F2523"/>
                          </a:solidFill>
                          <a:latin typeface="DM Sans"/>
                          <a:ea typeface="DM Sans"/>
                          <a:cs typeface="DM Sans"/>
                        </a:rPr>
                        <a:t>Refunds, cancellations, and other adjustments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F2523"/>
                          </a:solidFill>
                          <a:latin typeface="DM Sans"/>
                          <a:ea typeface="DM Sans"/>
                          <a:cs typeface="DM Sans"/>
                        </a:rPr>
                        <a:t>The final settlement and any commission reversal or clawback rule require a written policy.</a:t>
                      </a:r>
                    </a:p>
                  </a:txBody>
                  <a:tcPr marL="91440" marR="91440" marT="45720" marB="45720"/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050" b="1">
                          <a:solidFill>
                            <a:srgbClr val="8E621C"/>
                          </a:solidFill>
                          <a:latin typeface="Manrope"/>
                          <a:ea typeface="Manrope"/>
                          <a:cs typeface="Manrope"/>
                        </a:rPr>
                        <a:t>Needs confirmation</a:t>
                      </a:r>
                    </a:p>
                  </a:txBody>
                  <a:tcPr marL="91440" marR="91440" marT="45720" marB="45720" anchor="ctr">
                    <a:solidFill>
                      <a:srgbClr val="FFF6E7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C673205-01A1-4F22-8495-5C6342E79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90550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B52D28"/>
                </a:solidFill>
                <a:latin typeface="DM Sans"/>
                <a:ea typeface="DM Sans"/>
                <a:cs typeface="DM Sans"/>
              </a:defRPr>
            </a:pPr>
            <a:r>
              <a:rPr sz="1050" b="1">
                <a:solidFill>
                  <a:srgbClr val="B52D28"/>
                </a:solidFill>
                <a:latin typeface="DM Sans"/>
                <a:ea typeface="DM Sans"/>
                <a:cs typeface="DM Sans"/>
              </a:rPr>
              <a:t>Use the signed merchant agreement as the final authority if it differs from current system behavior.</a:t>
            </a:r>
          </a:p>
        </p:txBody>
      </p:sp>
    </p:spTree>
    <p:extLst>
      <p:ext uri="{BB962C8B-B14F-4D97-AF65-F5344CB8AC3E}">
        <p14:creationId xmlns:p14="http://schemas.microsoft.com/office/powerpoint/2010/main" val="172754924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04635b6408b4647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95300" y="409575"/>
            <a:ext cx="323850" cy="323850"/>
          </a:xfrm>
          <a:prstGeom xmlns:a="http://schemas.openxmlformats.org/drawingml/2006/main" prst="roundRect">
            <a:avLst>
              <a:gd name="adj" fmla="val 47059"/>
            </a:avLst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A311532-CFC9-4753-BB83-705AD6C9F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00050"/>
            <a:ext cx="100488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325" b="1">
                <a:solidFill>
                  <a:srgbClr val="1F2523"/>
                </a:solidFill>
                <a:latin typeface="Manrope"/>
                <a:ea typeface="Manrope"/>
                <a:cs typeface="Manrope"/>
              </a:defRPr>
            </a:pPr>
            <a:r>
              <a:rPr sz="2325" b="1">
                <a:solidFill>
                  <a:srgbClr val="1F2523"/>
                </a:solidFill>
                <a:latin typeface="Manrope"/>
                <a:ea typeface="Manrope"/>
                <a:cs typeface="Manrope"/>
              </a:rPr>
              <a:t>Merchant dashboard at a glance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D9860B6-4114-482A-ACC7-4133974CE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933450"/>
            <a:ext cx="100488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0">
                <a:solidFill>
                  <a:srgbClr val="6D7471"/>
                </a:solidFill>
                <a:latin typeface="DM Sans"/>
                <a:ea typeface="DM Sans"/>
                <a:cs typeface="DM Sans"/>
              </a:defRPr>
            </a:pPr>
            <a:r>
              <a:rPr sz="1125" b="0">
                <a:solidFill>
                  <a:srgbClr val="6D7471"/>
                </a:solidFill>
                <a:latin typeface="DM Sans"/>
                <a:ea typeface="DM Sans"/>
                <a:cs typeface="DM Sans"/>
              </a:rPr>
              <a:t>The home view combines store status, order health, sales activity, commission, and estimated net revenue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6760307-60BD-4A83-B561-B07FBF47F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229350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825" b="1">
                <a:solidFill>
                  <a:srgbClr val="9B9F9D"/>
                </a:solidFill>
                <a:latin typeface="DM Sans"/>
                <a:ea typeface="DM Sans"/>
                <a:cs typeface="DM Sans"/>
              </a:defRPr>
            </a:pPr>
            <a:r>
              <a:rPr sz="825" b="1">
                <a:solidFill>
                  <a:srgbClr val="9B9F9D"/>
                </a:solidFill>
                <a:latin typeface="DM Sans"/>
                <a:ea typeface="DM Sans"/>
                <a:cs typeface="DM Sans"/>
              </a:rPr>
              <a:t>07</a:t>
            </a:r>
          </a:p>
        </p:txBody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572e35b4a8e4310"/>
          <a:stretch xmlns:a="http://schemas.openxmlformats.org/drawingml/2006/main"/>
        </p:blipFill>
        <p:spPr>
          <a:xfrm xmlns:a="http://schemas.openxmlformats.org/drawingml/2006/main">
            <a:off x="527050" y="1466850"/>
            <a:ext cx="7518400" cy="4229100"/>
          </a:xfrm>
          <a:prstGeom xmlns:a="http://schemas.openxmlformats.org/drawingml/2006/main" prst="roundRect">
            <a:avLst>
              <a:gd name="adj" fmla="val 3604"/>
            </a:avLst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E7D9A72-3F53-4756-9880-3965E816E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1562100"/>
            <a:ext cx="285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1F2523"/>
                </a:solidFill>
                <a:latin typeface="Manrope"/>
                <a:ea typeface="Manrope"/>
                <a:cs typeface="Manrope"/>
              </a:defRPr>
            </a:pPr>
            <a:r>
              <a:rPr sz="1500" b="1">
                <a:solidFill>
                  <a:srgbClr val="1F2523"/>
                </a:solidFill>
                <a:latin typeface="Manrope"/>
                <a:ea typeface="Manrope"/>
                <a:cs typeface="Manrope"/>
              </a:rPr>
              <a:t>Five questions answered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7FBFD38-BA7B-49FB-8500-E93614E64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2105025"/>
            <a:ext cx="381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>
                <a:solidFill>
                  <a:srgbClr val="F43B35"/>
                </a:solidFill>
                <a:latin typeface="Manrope"/>
                <a:ea typeface="Manrope"/>
                <a:cs typeface="Manrope"/>
              </a:defRPr>
            </a:pPr>
            <a:r>
              <a:rPr sz="975" b="1">
                <a:solidFill>
                  <a:srgbClr val="F43B35"/>
                </a:solidFill>
                <a:latin typeface="Manrope"/>
                <a:ea typeface="Manrope"/>
                <a:cs typeface="Manrope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F26E2D1-BCFA-43AB-BDBE-388BBFDEF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2076450"/>
            <a:ext cx="238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1F2523"/>
                </a:solidFill>
                <a:latin typeface="DM Sans"/>
                <a:ea typeface="DM Sans"/>
                <a:cs typeface="DM Sans"/>
              </a:defRPr>
            </a:pPr>
            <a:r>
              <a:rPr sz="1275" b="1">
                <a:solidFill>
                  <a:srgbClr val="1F2523"/>
                </a:solidFill>
                <a:latin typeface="DM Sans"/>
                <a:ea typeface="DM Sans"/>
                <a:cs typeface="DM Sans"/>
              </a:rPr>
              <a:t>Is the store online?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8661EDD-393E-4ACE-9F94-9932EE1DA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2533650"/>
            <a:ext cx="2781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DED7"/>
          </a:solidFill>
          <a:ln xmlns:a="http://schemas.openxmlformats.org/drawingml/2006/main" w="9525">
            <a:solidFill>
              <a:srgbClr val="E8DED7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5C7D546-68DC-48F4-A619-93A2FCAF1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2743200"/>
            <a:ext cx="381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>
                <a:solidFill>
                  <a:srgbClr val="F43B35"/>
                </a:solidFill>
                <a:latin typeface="Manrope"/>
                <a:ea typeface="Manrope"/>
                <a:cs typeface="Manrope"/>
              </a:defRPr>
            </a:pPr>
            <a:r>
              <a:rPr sz="975" b="1">
                <a:solidFill>
                  <a:srgbClr val="F43B35"/>
                </a:solidFill>
                <a:latin typeface="Manrope"/>
                <a:ea typeface="Manrope"/>
                <a:cs typeface="Manrope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C8F75B5-7B9A-4FD9-98A8-9B6C07660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2714625"/>
            <a:ext cx="238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1F2523"/>
                </a:solidFill>
                <a:latin typeface="DM Sans"/>
                <a:ea typeface="DM Sans"/>
                <a:cs typeface="DM Sans"/>
              </a:defRPr>
            </a:pPr>
            <a:r>
              <a:rPr sz="1275" b="1">
                <a:solidFill>
                  <a:srgbClr val="1F2523"/>
                </a:solidFill>
                <a:latin typeface="DM Sans"/>
                <a:ea typeface="DM Sans"/>
                <a:cs typeface="DM Sans"/>
              </a:rPr>
              <a:t>What needs attention now?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0A358AF-897B-4602-A4AA-4BFFC5440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3171825"/>
            <a:ext cx="2781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DED7"/>
          </a:solidFill>
          <a:ln xmlns:a="http://schemas.openxmlformats.org/drawingml/2006/main" w="9525">
            <a:solidFill>
              <a:srgbClr val="E8DED7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481D540-3C76-402C-85C5-5386ACAA5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3381375"/>
            <a:ext cx="381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>
                <a:solidFill>
                  <a:srgbClr val="F43B35"/>
                </a:solidFill>
                <a:latin typeface="Manrope"/>
                <a:ea typeface="Manrope"/>
                <a:cs typeface="Manrope"/>
              </a:defRPr>
            </a:pPr>
            <a:r>
              <a:rPr sz="975" b="1">
                <a:solidFill>
                  <a:srgbClr val="F43B35"/>
                </a:solidFill>
                <a:latin typeface="Manrope"/>
                <a:ea typeface="Manrope"/>
                <a:cs typeface="Manrope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B3E209C-3613-4658-9D1B-E802A44AC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3352800"/>
            <a:ext cx="238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1F2523"/>
                </a:solidFill>
                <a:latin typeface="DM Sans"/>
                <a:ea typeface="DM Sans"/>
                <a:cs typeface="DM Sans"/>
              </a:defRPr>
            </a:pPr>
            <a:r>
              <a:rPr sz="1275" b="1">
                <a:solidFill>
                  <a:srgbClr val="1F2523"/>
                </a:solidFill>
                <a:latin typeface="DM Sans"/>
                <a:ea typeface="DM Sans"/>
                <a:cs typeface="DM Sans"/>
              </a:rPr>
              <a:t>How much did we sell?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FF800F0-04EE-4269-9079-F08945B72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3810000"/>
            <a:ext cx="2781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DED7"/>
          </a:solidFill>
          <a:ln xmlns:a="http://schemas.openxmlformats.org/drawingml/2006/main" w="9525">
            <a:solidFill>
              <a:srgbClr val="E8DED7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1A61905-7032-4B07-8CD3-8162A8603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4019550"/>
            <a:ext cx="381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>
                <a:solidFill>
                  <a:srgbClr val="F43B35"/>
                </a:solidFill>
                <a:latin typeface="Manrope"/>
                <a:ea typeface="Manrope"/>
                <a:cs typeface="Manrope"/>
              </a:defRPr>
            </a:pPr>
            <a:r>
              <a:rPr sz="975" b="1">
                <a:solidFill>
                  <a:srgbClr val="F43B35"/>
                </a:solidFill>
                <a:latin typeface="Manrope"/>
                <a:ea typeface="Manrope"/>
                <a:cs typeface="Manrope"/>
              </a:rPr>
              <a:t>04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2A2F2AF-5186-4CA3-9965-5009E93DA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3990975"/>
            <a:ext cx="238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1F2523"/>
                </a:solidFill>
                <a:latin typeface="DM Sans"/>
                <a:ea typeface="DM Sans"/>
                <a:cs typeface="DM Sans"/>
              </a:defRPr>
            </a:pPr>
            <a:r>
              <a:rPr sz="1275" b="1">
                <a:solidFill>
                  <a:srgbClr val="1F2523"/>
                </a:solidFill>
                <a:latin typeface="DM Sans"/>
                <a:ea typeface="DM Sans"/>
                <a:cs typeface="DM Sans"/>
              </a:rPr>
              <a:t>What commission was recorded?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1AA700C-0FCB-4584-85B9-2A9AD318B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4448175"/>
            <a:ext cx="2781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DED7"/>
          </a:solidFill>
          <a:ln xmlns:a="http://schemas.openxmlformats.org/drawingml/2006/main" w="9525">
            <a:solidFill>
              <a:srgbClr val="E8DED7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80B3C18-EB35-43FF-AA3C-7D43A503F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4657725"/>
            <a:ext cx="381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>
                <a:solidFill>
                  <a:srgbClr val="F43B35"/>
                </a:solidFill>
                <a:latin typeface="Manrope"/>
                <a:ea typeface="Manrope"/>
                <a:cs typeface="Manrope"/>
              </a:defRPr>
            </a:pPr>
            <a:r>
              <a:rPr sz="975" b="1">
                <a:solidFill>
                  <a:srgbClr val="F43B35"/>
                </a:solidFill>
                <a:latin typeface="Manrope"/>
                <a:ea typeface="Manrope"/>
                <a:cs typeface="Manrope"/>
              </a:rPr>
              <a:t>05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D2DD4F3-7839-4A9C-A8B6-320998974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4629150"/>
            <a:ext cx="238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1F2523"/>
                </a:solidFill>
                <a:latin typeface="DM Sans"/>
                <a:ea typeface="DM Sans"/>
                <a:cs typeface="DM Sans"/>
              </a:defRPr>
            </a:pPr>
            <a:r>
              <a:rPr sz="1275" b="1">
                <a:solidFill>
                  <a:srgbClr val="1F2523"/>
                </a:solidFill>
                <a:latin typeface="DM Sans"/>
                <a:ea typeface="DM Sans"/>
                <a:cs typeface="DM Sans"/>
              </a:rPr>
              <a:t>What is the estimated net revenue?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FEABB45-624D-4F94-867F-C9DFC4F7B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905500"/>
            <a:ext cx="723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0">
                <a:solidFill>
                  <a:srgbClr val="6D7471"/>
                </a:solidFill>
                <a:latin typeface="DM Sans"/>
                <a:ea typeface="DM Sans"/>
                <a:cs typeface="DM Sans"/>
              </a:defRPr>
            </a:pPr>
            <a:r>
              <a:rPr sz="825" b="0">
                <a:solidFill>
                  <a:srgbClr val="6D7471"/>
                </a:solidFill>
                <a:latin typeface="DM Sans"/>
                <a:ea typeface="DM Sans"/>
                <a:cs typeface="DM Sans"/>
              </a:rPr>
              <a:t>Illustrative data. Layout follows the current merchant dashboard.</a:t>
            </a:r>
          </a:p>
        </p:txBody>
      </p:sp>
    </p:spTree>
    <p:extLst>
      <p:ext uri="{BB962C8B-B14F-4D97-AF65-F5344CB8AC3E}">
        <p14:creationId xmlns:p14="http://schemas.microsoft.com/office/powerpoint/2010/main" val="46202882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7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2549336ce174529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95300" y="409575"/>
            <a:ext cx="323850" cy="323850"/>
          </a:xfrm>
          <a:prstGeom xmlns:a="http://schemas.openxmlformats.org/drawingml/2006/main" prst="roundRect">
            <a:avLst>
              <a:gd name="adj" fmla="val 47059"/>
            </a:avLst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7BE33E7-4576-4D01-8C7C-4A66D9146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00050"/>
            <a:ext cx="100488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325" b="1">
                <a:solidFill>
                  <a:srgbClr val="1F2523"/>
                </a:solidFill>
                <a:latin typeface="Manrope"/>
                <a:ea typeface="Manrope"/>
                <a:cs typeface="Manrope"/>
              </a:defRPr>
            </a:pPr>
            <a:r>
              <a:rPr sz="2325" b="1">
                <a:solidFill>
                  <a:srgbClr val="1F2523"/>
                </a:solidFill>
                <a:latin typeface="Manrope"/>
                <a:ea typeface="Manrope"/>
                <a:cs typeface="Manrope"/>
              </a:rPr>
              <a:t>Manage orders from one queue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CBB564F-1975-47B8-8FD7-84B7E2BBD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933450"/>
            <a:ext cx="100488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0">
                <a:solidFill>
                  <a:srgbClr val="6D7471"/>
                </a:solidFill>
                <a:latin typeface="DM Sans"/>
                <a:ea typeface="DM Sans"/>
                <a:cs typeface="DM Sans"/>
              </a:defRPr>
            </a:pPr>
            <a:r>
              <a:rPr sz="1125" b="0">
                <a:solidFill>
                  <a:srgbClr val="6D7471"/>
                </a:solidFill>
                <a:latin typeface="DM Sans"/>
                <a:ea typeface="DM Sans"/>
                <a:cs typeface="DM Sans"/>
              </a:rPr>
              <a:t>A clear status workflow helps the kitchen, customer, and rider stay aligned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AAF1740-60D9-4699-9BD4-D3AE551EF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229350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825" b="1">
                <a:solidFill>
                  <a:srgbClr val="9B9F9D"/>
                </a:solidFill>
                <a:latin typeface="DM Sans"/>
                <a:ea typeface="DM Sans"/>
                <a:cs typeface="DM Sans"/>
              </a:defRPr>
            </a:pPr>
            <a:r>
              <a:rPr sz="825" b="1">
                <a:solidFill>
                  <a:srgbClr val="9B9F9D"/>
                </a:solidFill>
                <a:latin typeface="DM Sans"/>
                <a:ea typeface="DM Sans"/>
                <a:cs typeface="DM Sans"/>
              </a:rPr>
              <a:t>08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936C329-08A4-4D4C-87C8-1A9620BA0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571625"/>
            <a:ext cx="4000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43B35"/>
          </a:solidFill>
          <a:ln xmlns:a="http://schemas.openxmlformats.org/drawingml/2006/main" w="9525">
            <a:solidFill>
              <a:srgbClr val="F43B35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6B6ED99-E304-4B81-98F3-DAD47DECC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571625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 b="1">
                <a:solidFill>
                  <a:srgbClr val="FFFFFF"/>
                </a:solidFill>
                <a:latin typeface="Manrope"/>
                <a:ea typeface="Manrope"/>
                <a:cs typeface="Manrope"/>
              </a:defRPr>
            </a:pPr>
            <a:r>
              <a:rPr sz="1200" b="1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9C0704F-326F-47AA-8C44-9A28A46D0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1562100"/>
            <a:ext cx="31623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1F2523"/>
                </a:solidFill>
                <a:latin typeface="Manrope"/>
                <a:ea typeface="Manrope"/>
                <a:cs typeface="Manrope"/>
              </a:defRPr>
            </a:pPr>
            <a:r>
              <a:rPr sz="1275" b="1">
                <a:solidFill>
                  <a:srgbClr val="1F2523"/>
                </a:solidFill>
                <a:latin typeface="Manrope"/>
                <a:ea typeface="Manrope"/>
                <a:cs typeface="Manrope"/>
              </a:rPr>
              <a:t>Review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CE143A8-1852-43B4-8C3E-D912D15AA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1857375"/>
            <a:ext cx="31623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050" b="0">
                <a:solidFill>
                  <a:srgbClr val="6D7471"/>
                </a:solidFill>
                <a:latin typeface="DM Sans"/>
                <a:ea typeface="DM Sans"/>
                <a:cs typeface="DM Sans"/>
              </a:defRPr>
            </a:pPr>
            <a:r>
              <a:rPr sz="1050" b="0">
                <a:solidFill>
                  <a:srgbClr val="6D7471"/>
                </a:solidFill>
                <a:latin typeface="DM Sans"/>
                <a:ea typeface="DM Sans"/>
                <a:cs typeface="DM Sans"/>
              </a:rPr>
              <a:t>Check items, add-ons, instructions, payment, and service mode.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0D657C5-FFD7-4BE4-848C-1C7360FF2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562225"/>
            <a:ext cx="4000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43B35"/>
          </a:solidFill>
          <a:ln xmlns:a="http://schemas.openxmlformats.org/drawingml/2006/main" w="9525">
            <a:solidFill>
              <a:srgbClr val="F43B35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1B67374-4530-4B3B-8730-556492B33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562225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 b="1">
                <a:solidFill>
                  <a:srgbClr val="FFFFFF"/>
                </a:solidFill>
                <a:latin typeface="Manrope"/>
                <a:ea typeface="Manrope"/>
                <a:cs typeface="Manrope"/>
              </a:defRPr>
            </a:pPr>
            <a:r>
              <a:rPr sz="1200" b="1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AB2A8D6-C847-4267-9A33-EDF134A84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552700"/>
            <a:ext cx="31623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1F2523"/>
                </a:solidFill>
                <a:latin typeface="Manrope"/>
                <a:ea typeface="Manrope"/>
                <a:cs typeface="Manrope"/>
              </a:defRPr>
            </a:pPr>
            <a:r>
              <a:rPr sz="1275" b="1">
                <a:solidFill>
                  <a:srgbClr val="1F2523"/>
                </a:solidFill>
                <a:latin typeface="Manrope"/>
                <a:ea typeface="Manrope"/>
                <a:cs typeface="Manrope"/>
              </a:rPr>
              <a:t>Accept and prepare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E229E45-C67F-4D6C-922B-7CC803FAB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847975"/>
            <a:ext cx="31623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050" b="0">
                <a:solidFill>
                  <a:srgbClr val="6D7471"/>
                </a:solidFill>
                <a:latin typeface="DM Sans"/>
                <a:ea typeface="DM Sans"/>
                <a:cs typeface="DM Sans"/>
              </a:defRPr>
            </a:pPr>
            <a:r>
              <a:rPr sz="1050" b="0">
                <a:solidFill>
                  <a:srgbClr val="6D7471"/>
                </a:solidFill>
                <a:latin typeface="DM Sans"/>
                <a:ea typeface="DM Sans"/>
                <a:cs typeface="DM Sans"/>
              </a:rPr>
              <a:t>Confirm the order promptly and start kitchen preparation.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E50D615-D408-4B85-A4E5-0777CFC44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552825"/>
            <a:ext cx="4000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43B35"/>
          </a:solidFill>
          <a:ln xmlns:a="http://schemas.openxmlformats.org/drawingml/2006/main" w="9525">
            <a:solidFill>
              <a:srgbClr val="F43B35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55DF140-31D9-4D29-BAE7-389D01646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552825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 b="1">
                <a:solidFill>
                  <a:srgbClr val="FFFFFF"/>
                </a:solidFill>
                <a:latin typeface="Manrope"/>
                <a:ea typeface="Manrope"/>
                <a:cs typeface="Manrope"/>
              </a:defRPr>
            </a:pPr>
            <a:r>
              <a:rPr sz="1200" b="1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A944613-EEEA-443D-B807-FCCB6111D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543300"/>
            <a:ext cx="31623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1F2523"/>
                </a:solidFill>
                <a:latin typeface="Manrope"/>
                <a:ea typeface="Manrope"/>
                <a:cs typeface="Manrope"/>
              </a:defRPr>
            </a:pPr>
            <a:r>
              <a:rPr sz="1275" b="1">
                <a:solidFill>
                  <a:srgbClr val="1F2523"/>
                </a:solidFill>
                <a:latin typeface="Manrope"/>
                <a:ea typeface="Manrope"/>
                <a:cs typeface="Manrope"/>
              </a:rPr>
              <a:t>Mark ready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9D9B5F6-B883-44F3-BB6D-FCCCEE5B6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838575"/>
            <a:ext cx="31623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050" b="0">
                <a:solidFill>
                  <a:srgbClr val="6D7471"/>
                </a:solidFill>
                <a:latin typeface="DM Sans"/>
                <a:ea typeface="DM Sans"/>
                <a:cs typeface="DM Sans"/>
              </a:defRPr>
            </a:pPr>
            <a:r>
              <a:rPr sz="1050" b="0">
                <a:solidFill>
                  <a:srgbClr val="6D7471"/>
                </a:solidFill>
                <a:latin typeface="DM Sans"/>
                <a:ea typeface="DM Sans"/>
                <a:cs typeface="DM Sans"/>
              </a:rPr>
              <a:t>Signal that a table, pickup customer, or rider can receive the order.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17BDC29-19D7-436D-9B76-ECC7A443C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543425"/>
            <a:ext cx="4000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43B35"/>
          </a:solidFill>
          <a:ln xmlns:a="http://schemas.openxmlformats.org/drawingml/2006/main" w="9525">
            <a:solidFill>
              <a:srgbClr val="F43B35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7A0A42D-5F4D-48F9-BB1E-96C4CA490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543425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 b="1">
                <a:solidFill>
                  <a:srgbClr val="FFFFFF"/>
                </a:solidFill>
                <a:latin typeface="Manrope"/>
                <a:ea typeface="Manrope"/>
                <a:cs typeface="Manrope"/>
              </a:defRPr>
            </a:pPr>
            <a:r>
              <a:rPr sz="1200" b="1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04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343D55D-7F26-4B83-9145-2A411C29D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533900"/>
            <a:ext cx="31623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1F2523"/>
                </a:solidFill>
                <a:latin typeface="Manrope"/>
                <a:ea typeface="Manrope"/>
                <a:cs typeface="Manrope"/>
              </a:defRPr>
            </a:pPr>
            <a:r>
              <a:rPr sz="1275" b="1">
                <a:solidFill>
                  <a:srgbClr val="1F2523"/>
                </a:solidFill>
                <a:latin typeface="Manrope"/>
                <a:ea typeface="Manrope"/>
                <a:cs typeface="Manrope"/>
              </a:rPr>
              <a:t>Complete or cancel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DDDBFA9-D498-480C-9E30-E862F9315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829175"/>
            <a:ext cx="31623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050" b="0">
                <a:solidFill>
                  <a:srgbClr val="6D7471"/>
                </a:solidFill>
                <a:latin typeface="DM Sans"/>
                <a:ea typeface="DM Sans"/>
                <a:cs typeface="DM Sans"/>
              </a:defRPr>
            </a:pPr>
            <a:r>
              <a:rPr sz="1050" b="0">
                <a:solidFill>
                  <a:srgbClr val="6D7471"/>
                </a:solidFill>
                <a:latin typeface="DM Sans"/>
                <a:ea typeface="DM Sans"/>
                <a:cs typeface="DM Sans"/>
              </a:rPr>
              <a:t>Close the order accurately and preserve the reason when it cannot be fulfilled.</a:t>
            </a:r>
          </a:p>
        </p:txBody>
      </p:sp>
      <p:pic>
        <p:nvPicPr>
          <p:cNvPr id="4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11b95de46b7425e"/>
          <a:stretch xmlns:a="http://schemas.openxmlformats.org/drawingml/2006/main"/>
        </p:blipFill>
        <p:spPr>
          <a:xfrm xmlns:a="http://schemas.openxmlformats.org/drawingml/2006/main">
            <a:off x="4543425" y="1572816"/>
            <a:ext cx="7124700" cy="4007644"/>
          </a:xfrm>
          <a:prstGeom xmlns:a="http://schemas.openxmlformats.org/drawingml/2006/main" prst="roundRect">
            <a:avLst>
              <a:gd name="adj" fmla="val 3800"/>
            </a:avLst>
          </a:prstGeom>
        </p:spPr>
      </p:pic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711E646-6672-44A6-94FF-8CD732458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25" y="5781675"/>
            <a:ext cx="71247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0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A19B99F-A253-4E6D-A031-FFF46A717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5895975"/>
            <a:ext cx="66865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00" b="0">
                <a:solidFill>
                  <a:srgbClr val="B52D28"/>
                </a:solidFill>
                <a:latin typeface="DM Sans"/>
                <a:ea typeface="DM Sans"/>
                <a:cs typeface="DM Sans"/>
              </a:defRPr>
            </a:pPr>
            <a:r>
              <a:rPr sz="900" b="0">
                <a:solidFill>
                  <a:srgbClr val="B52D28"/>
                </a:solidFill>
                <a:latin typeface="DM Sans"/>
                <a:ea typeface="DM Sans"/>
                <a:cs typeface="DM Sans"/>
              </a:rPr>
              <a:t>Illustrative data. Actual status labels and actions depend on the enabled service mode.</a:t>
            </a:r>
          </a:p>
        </p:txBody>
      </p:sp>
    </p:spTree>
    <p:extLst>
      <p:ext uri="{BB962C8B-B14F-4D97-AF65-F5344CB8AC3E}">
        <p14:creationId xmlns:p14="http://schemas.microsoft.com/office/powerpoint/2010/main" val="173537310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cc6576784934c97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95300" y="409575"/>
            <a:ext cx="323850" cy="323850"/>
          </a:xfrm>
          <a:prstGeom xmlns:a="http://schemas.openxmlformats.org/drawingml/2006/main" prst="roundRect">
            <a:avLst>
              <a:gd name="adj" fmla="val 47059"/>
            </a:avLst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552AE2A-8F64-43C8-A790-58C1FC072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00050"/>
            <a:ext cx="100488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325" b="1">
                <a:solidFill>
                  <a:srgbClr val="1F2523"/>
                </a:solidFill>
                <a:latin typeface="Manrope"/>
                <a:ea typeface="Manrope"/>
                <a:cs typeface="Manrope"/>
              </a:defRPr>
            </a:pPr>
            <a:r>
              <a:rPr sz="2325" b="1">
                <a:solidFill>
                  <a:srgbClr val="1F2523"/>
                </a:solidFill>
                <a:latin typeface="Manrope"/>
                <a:ea typeface="Manrope"/>
                <a:cs typeface="Manrope"/>
              </a:rPr>
              <a:t>Update menu items and prices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6B190AA-55BA-4CE8-BF78-14A3665E3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933450"/>
            <a:ext cx="100488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0">
                <a:solidFill>
                  <a:srgbClr val="6D7471"/>
                </a:solidFill>
                <a:latin typeface="DM Sans"/>
                <a:ea typeface="DM Sans"/>
                <a:cs typeface="DM Sans"/>
              </a:defRPr>
            </a:pPr>
            <a:r>
              <a:rPr sz="1125" b="0">
                <a:solidFill>
                  <a:srgbClr val="6D7471"/>
                </a:solidFill>
                <a:latin typeface="DM Sans"/>
                <a:ea typeface="DM Sans"/>
                <a:cs typeface="DM Sans"/>
              </a:rPr>
              <a:t>Menu accuracy reduces order issues and keeps commission calculations aligned with current prices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DFCAED1-1C14-4CEC-8E85-9842E98F9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229350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825" b="1">
                <a:solidFill>
                  <a:srgbClr val="9B9F9D"/>
                </a:solidFill>
                <a:latin typeface="DM Sans"/>
                <a:ea typeface="DM Sans"/>
                <a:cs typeface="DM Sans"/>
              </a:defRPr>
            </a:pPr>
            <a:r>
              <a:rPr sz="825" b="1">
                <a:solidFill>
                  <a:srgbClr val="9B9F9D"/>
                </a:solidFill>
                <a:latin typeface="DM Sans"/>
                <a:ea typeface="DM Sans"/>
                <a:cs typeface="DM Sans"/>
              </a:rPr>
              <a:t>09</a:t>
            </a:r>
          </a:p>
        </p:txBody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5a9373afd41456b"/>
          <a:stretch xmlns:a="http://schemas.openxmlformats.org/drawingml/2006/main"/>
        </p:blipFill>
        <p:spPr>
          <a:xfrm xmlns:a="http://schemas.openxmlformats.org/drawingml/2006/main">
            <a:off x="523875" y="1525488"/>
            <a:ext cx="7191375" cy="4045148"/>
          </a:xfrm>
          <a:prstGeom xmlns:a="http://schemas.openxmlformats.org/drawingml/2006/main" prst="roundRect">
            <a:avLst>
              <a:gd name="adj" fmla="val 3765"/>
            </a:avLst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F74DE75-CAD2-4FF7-B598-5D5402895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2925" y="1590675"/>
            <a:ext cx="31908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1F2523"/>
                </a:solidFill>
                <a:latin typeface="Manrope"/>
                <a:ea typeface="Manrope"/>
                <a:cs typeface="Manrope"/>
              </a:defRPr>
            </a:pPr>
            <a:r>
              <a:rPr sz="1500" b="1">
                <a:solidFill>
                  <a:srgbClr val="1F2523"/>
                </a:solidFill>
                <a:latin typeface="Manrope"/>
                <a:ea typeface="Manrope"/>
                <a:cs typeface="Manrope"/>
              </a:rPr>
              <a:t>What merchants can maintain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0CED8A5-7D17-4AFD-98BB-A1A0A097E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133600"/>
            <a:ext cx="3190875" cy="2428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254000" indent="-127000" algn="l">
              <a:lnSpc>
                <a:spcPct val="105000"/>
              </a:lnSpc>
              <a:spcAft>
                <a:spcPts val="1400"/>
              </a:spcAft>
              <a:buNone/>
              <a:defRPr sz="1275" b="0">
                <a:solidFill>
                  <a:srgbClr val="1F2523"/>
                </a:solidFill>
                <a:latin typeface="DM Sans"/>
                <a:ea typeface="DM Sans"/>
                <a:cs typeface="DM Sans"/>
              </a:defRPr>
            </a:pPr>
            <a:r>
              <a:rPr sz="1275" b="0">
                <a:solidFill>
                  <a:srgbClr val="1F2523"/>
                </a:solidFill>
                <a:latin typeface="DM Sans"/>
                <a:ea typeface="DM Sans"/>
                <a:cs typeface="DM Sans"/>
              </a:rPr>
              <a:t>Product name and description</a:t>
            </a:r>
          </a:p>
          <a:p xmlns:a="http://schemas.openxmlformats.org/drawingml/2006/main">
            <a:pPr marL="254000" indent="-127000" algn="l">
              <a:lnSpc>
                <a:spcPct val="105000"/>
              </a:lnSpc>
              <a:spcAft>
                <a:spcPts val="1400"/>
              </a:spcAft>
              <a:buNone/>
              <a:defRPr sz="1275" b="0">
                <a:solidFill>
                  <a:srgbClr val="1F2523"/>
                </a:solidFill>
                <a:latin typeface="DM Sans"/>
                <a:ea typeface="DM Sans"/>
                <a:cs typeface="DM Sans"/>
              </a:defRPr>
            </a:pPr>
            <a:r>
              <a:rPr sz="1275" b="0">
                <a:solidFill>
                  <a:srgbClr val="1F2523"/>
                </a:solidFill>
                <a:latin typeface="DM Sans"/>
                <a:ea typeface="DM Sans"/>
                <a:cs typeface="DM Sans"/>
              </a:rPr>
              <a:t>Category and branch availability</a:t>
            </a:r>
          </a:p>
          <a:p xmlns:a="http://schemas.openxmlformats.org/drawingml/2006/main">
            <a:pPr marL="254000" indent="-127000" algn="l">
              <a:lnSpc>
                <a:spcPct val="105000"/>
              </a:lnSpc>
              <a:spcAft>
                <a:spcPts val="1400"/>
              </a:spcAft>
              <a:buNone/>
              <a:defRPr sz="1275" b="0">
                <a:solidFill>
                  <a:srgbClr val="1F2523"/>
                </a:solidFill>
                <a:latin typeface="DM Sans"/>
                <a:ea typeface="DM Sans"/>
                <a:cs typeface="DM Sans"/>
              </a:defRPr>
            </a:pPr>
            <a:r>
              <a:rPr sz="1275" b="0">
                <a:solidFill>
                  <a:srgbClr val="1F2523"/>
                </a:solidFill>
                <a:latin typeface="DM Sans"/>
                <a:ea typeface="DM Sans"/>
                <a:cs typeface="DM Sans"/>
              </a:rPr>
              <a:t>Regular and promotional prices</a:t>
            </a:r>
          </a:p>
          <a:p xmlns:a="http://schemas.openxmlformats.org/drawingml/2006/main">
            <a:pPr marL="254000" indent="-127000" algn="l">
              <a:lnSpc>
                <a:spcPct val="105000"/>
              </a:lnSpc>
              <a:spcAft>
                <a:spcPts val="1400"/>
              </a:spcAft>
              <a:buNone/>
              <a:defRPr sz="1275" b="0">
                <a:solidFill>
                  <a:srgbClr val="1F2523"/>
                </a:solidFill>
                <a:latin typeface="DM Sans"/>
                <a:ea typeface="DM Sans"/>
                <a:cs typeface="DM Sans"/>
              </a:defRPr>
            </a:pPr>
            <a:r>
              <a:rPr sz="1275" b="0">
                <a:solidFill>
                  <a:srgbClr val="1F2523"/>
                </a:solidFill>
                <a:latin typeface="DM Sans"/>
                <a:ea typeface="DM Sans"/>
                <a:cs typeface="DM Sans"/>
              </a:rPr>
              <a:t>Add-ons and item variations</a:t>
            </a:r>
          </a:p>
          <a:p xmlns:a="http://schemas.openxmlformats.org/drawingml/2006/main">
            <a:pPr marL="254000" indent="-127000" algn="l">
              <a:lnSpc>
                <a:spcPct val="105000"/>
              </a:lnSpc>
              <a:spcAft>
                <a:spcPts val="1400"/>
              </a:spcAft>
              <a:buNone/>
              <a:defRPr sz="1275" b="0">
                <a:solidFill>
                  <a:srgbClr val="1F2523"/>
                </a:solidFill>
                <a:latin typeface="DM Sans"/>
                <a:ea typeface="DM Sans"/>
                <a:cs typeface="DM Sans"/>
              </a:defRPr>
            </a:pPr>
            <a:r>
              <a:rPr sz="1275" b="0">
                <a:solidFill>
                  <a:srgbClr val="1F2523"/>
                </a:solidFill>
                <a:latin typeface="DM Sans"/>
                <a:ea typeface="DM Sans"/>
                <a:cs typeface="DM Sans"/>
              </a:rPr>
              <a:t>Available or sold-out status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17357A8-4CCE-4E93-B59E-6336D3970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810125"/>
            <a:ext cx="3381375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29302D"/>
          </a:solidFill>
          <a:ln xmlns:a="http://schemas.openxmlformats.org/drawingml/2006/main" w="9525">
            <a:solidFill>
              <a:srgbClr val="29302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E81E223-4F7F-4F3E-B660-FBF01F944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5010150"/>
            <a:ext cx="285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 b="1">
                <a:solidFill>
                  <a:srgbClr val="FFFFFF"/>
                </a:solidFill>
                <a:latin typeface="DM Sans"/>
                <a:ea typeface="DM Sans"/>
                <a:cs typeface="DM Sans"/>
              </a:defRPr>
            </a:pPr>
            <a:r>
              <a:rPr sz="1200" b="1">
                <a:solidFill>
                  <a:srgbClr val="FFFFFF"/>
                </a:solidFill>
                <a:latin typeface="DM Sans"/>
                <a:ea typeface="DM Sans"/>
                <a:cs typeface="DM Sans"/>
              </a:rPr>
              <a:t>New item prices store a commission amount using the merchant’s assigned percentage.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0FF2F4A-2750-4A84-94AB-8E87D0B0D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810250"/>
            <a:ext cx="695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0">
                <a:solidFill>
                  <a:srgbClr val="6D7471"/>
                </a:solidFill>
                <a:latin typeface="DM Sans"/>
                <a:ea typeface="DM Sans"/>
                <a:cs typeface="DM Sans"/>
              </a:defRPr>
            </a:pPr>
            <a:r>
              <a:rPr sz="825" b="0">
                <a:solidFill>
                  <a:srgbClr val="6D7471"/>
                </a:solidFill>
                <a:latin typeface="DM Sans"/>
                <a:ea typeface="DM Sans"/>
                <a:cs typeface="DM Sans"/>
              </a:rPr>
              <a:t>Illustrative data based on current product fields.</a:t>
            </a:r>
          </a:p>
        </p:txBody>
      </p:sp>
    </p:spTree>
    <p:extLst>
      <p:ext uri="{BB962C8B-B14F-4D97-AF65-F5344CB8AC3E}">
        <p14:creationId xmlns:p14="http://schemas.microsoft.com/office/powerpoint/2010/main" val="2133059334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7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ad95eacb7134938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95300" y="409575"/>
            <a:ext cx="323850" cy="323850"/>
          </a:xfrm>
          <a:prstGeom xmlns:a="http://schemas.openxmlformats.org/drawingml/2006/main" prst="roundRect">
            <a:avLst>
              <a:gd name="adj" fmla="val 47059"/>
            </a:avLst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3CC92A5-6BEE-4E79-B9D9-A8397BEC1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00050"/>
            <a:ext cx="100488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325" b="1">
                <a:solidFill>
                  <a:srgbClr val="1F2523"/>
                </a:solidFill>
                <a:latin typeface="Manrope"/>
                <a:ea typeface="Manrope"/>
                <a:cs typeface="Manrope"/>
              </a:defRPr>
            </a:pPr>
            <a:r>
              <a:rPr sz="2325" b="1">
                <a:solidFill>
                  <a:srgbClr val="1F2523"/>
                </a:solidFill>
                <a:latin typeface="Manrope"/>
                <a:ea typeface="Manrope"/>
                <a:cs typeface="Manrope"/>
              </a:rPr>
              <a:t>Sales and earnings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864B0F9-6ABB-4A0A-AE65-092725E1C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933450"/>
            <a:ext cx="100488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0">
                <a:solidFill>
                  <a:srgbClr val="6D7471"/>
                </a:solidFill>
                <a:latin typeface="DM Sans"/>
                <a:ea typeface="DM Sans"/>
                <a:cs typeface="DM Sans"/>
              </a:defRPr>
            </a:pPr>
            <a:r>
              <a:rPr sz="1125" b="0">
                <a:solidFill>
                  <a:srgbClr val="6D7471"/>
                </a:solidFill>
                <a:latin typeface="DM Sans"/>
                <a:ea typeface="DM Sans"/>
                <a:cs typeface="DM Sans"/>
              </a:rPr>
              <a:t>Merchant reports separate completed sales, platform commission, and estimated net revenue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9A5F2D1-252D-4C8F-AF37-8BD65F70A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229350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825" b="1">
                <a:solidFill>
                  <a:srgbClr val="9B9F9D"/>
                </a:solidFill>
                <a:latin typeface="DM Sans"/>
                <a:ea typeface="DM Sans"/>
                <a:cs typeface="DM Sans"/>
              </a:defRPr>
            </a:pPr>
            <a:r>
              <a:rPr sz="825" b="1">
                <a:solidFill>
                  <a:srgbClr val="9B9F9D"/>
                </a:solidFill>
                <a:latin typeface="DM Sans"/>
                <a:ea typeface="DM Sans"/>
                <a:cs typeface="DM Sans"/>
              </a:rPr>
              <a:t>10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B5EF9E7-DCC6-44EC-8248-D5AA24013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571625"/>
            <a:ext cx="285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1F2523"/>
                </a:solidFill>
                <a:latin typeface="Manrope"/>
                <a:ea typeface="Manrope"/>
                <a:cs typeface="Manrope"/>
              </a:defRPr>
            </a:pPr>
            <a:r>
              <a:rPr sz="1500" b="1">
                <a:solidFill>
                  <a:srgbClr val="1F2523"/>
                </a:solidFill>
                <a:latin typeface="Manrope"/>
                <a:ea typeface="Manrope"/>
                <a:cs typeface="Manrope"/>
              </a:rPr>
              <a:t>What to review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221CC16-CA48-48F3-A9DD-91182D53C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095500"/>
            <a:ext cx="3429000" cy="259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254000" indent="-127000" algn="l">
              <a:lnSpc>
                <a:spcPct val="105000"/>
              </a:lnSpc>
              <a:spcAft>
                <a:spcPts val="1500"/>
              </a:spcAft>
              <a:buNone/>
              <a:defRPr sz="1275" b="0">
                <a:solidFill>
                  <a:srgbClr val="1F2523"/>
                </a:solidFill>
                <a:latin typeface="DM Sans"/>
                <a:ea typeface="DM Sans"/>
                <a:cs typeface="DM Sans"/>
              </a:defRPr>
            </a:pPr>
            <a:r>
              <a:rPr sz="1275" b="0">
                <a:solidFill>
                  <a:srgbClr val="1F2523"/>
                </a:solidFill>
                <a:latin typeface="DM Sans"/>
                <a:ea typeface="DM Sans"/>
                <a:cs typeface="DM Sans"/>
              </a:rPr>
              <a:t>Sales today, this week, and this month</a:t>
            </a:r>
          </a:p>
          <a:p xmlns:a="http://schemas.openxmlformats.org/drawingml/2006/main">
            <a:pPr marL="254000" indent="-127000" algn="l">
              <a:lnSpc>
                <a:spcPct val="105000"/>
              </a:lnSpc>
              <a:spcAft>
                <a:spcPts val="1500"/>
              </a:spcAft>
              <a:buNone/>
              <a:defRPr sz="1275" b="0">
                <a:solidFill>
                  <a:srgbClr val="1F2523"/>
                </a:solidFill>
                <a:latin typeface="DM Sans"/>
                <a:ea typeface="DM Sans"/>
                <a:cs typeface="DM Sans"/>
              </a:defRPr>
            </a:pPr>
            <a:r>
              <a:rPr sz="1275" b="0">
                <a:solidFill>
                  <a:srgbClr val="1F2523"/>
                </a:solidFill>
                <a:latin typeface="DM Sans"/>
                <a:ea typeface="DM Sans"/>
                <a:cs typeface="DM Sans"/>
              </a:rPr>
              <a:t>Completed, pending, and cancelled orders</a:t>
            </a:r>
          </a:p>
          <a:p xmlns:a="http://schemas.openxmlformats.org/drawingml/2006/main">
            <a:pPr marL="254000" indent="-127000" algn="l">
              <a:lnSpc>
                <a:spcPct val="105000"/>
              </a:lnSpc>
              <a:spcAft>
                <a:spcPts val="1500"/>
              </a:spcAft>
              <a:buNone/>
              <a:defRPr sz="1275" b="0">
                <a:solidFill>
                  <a:srgbClr val="1F2523"/>
                </a:solidFill>
                <a:latin typeface="DM Sans"/>
                <a:ea typeface="DM Sans"/>
                <a:cs typeface="DM Sans"/>
              </a:defRPr>
            </a:pPr>
            <a:r>
              <a:rPr sz="1275" b="0">
                <a:solidFill>
                  <a:srgbClr val="1F2523"/>
                </a:solidFill>
                <a:latin typeface="DM Sans"/>
                <a:ea typeface="DM Sans"/>
                <a:cs typeface="DM Sans"/>
              </a:rPr>
              <a:t>Gross completed revenue</a:t>
            </a:r>
          </a:p>
          <a:p xmlns:a="http://schemas.openxmlformats.org/drawingml/2006/main">
            <a:pPr marL="254000" indent="-127000" algn="l">
              <a:lnSpc>
                <a:spcPct val="105000"/>
              </a:lnSpc>
              <a:spcAft>
                <a:spcPts val="1500"/>
              </a:spcAft>
              <a:buNone/>
              <a:defRPr sz="1275" b="0">
                <a:solidFill>
                  <a:srgbClr val="1F2523"/>
                </a:solidFill>
                <a:latin typeface="DM Sans"/>
                <a:ea typeface="DM Sans"/>
                <a:cs typeface="DM Sans"/>
              </a:defRPr>
            </a:pPr>
            <a:r>
              <a:rPr sz="1275" b="0">
                <a:solidFill>
                  <a:srgbClr val="1F2523"/>
                </a:solidFill>
                <a:latin typeface="DM Sans"/>
                <a:ea typeface="DM Sans"/>
                <a:cs typeface="DM Sans"/>
              </a:rPr>
              <a:t>Recorded platform commission</a:t>
            </a:r>
          </a:p>
          <a:p xmlns:a="http://schemas.openxmlformats.org/drawingml/2006/main">
            <a:pPr marL="254000" indent="-127000" algn="l">
              <a:lnSpc>
                <a:spcPct val="105000"/>
              </a:lnSpc>
              <a:spcAft>
                <a:spcPts val="1500"/>
              </a:spcAft>
              <a:buNone/>
              <a:defRPr sz="1275" b="0">
                <a:solidFill>
                  <a:srgbClr val="1F2523"/>
                </a:solidFill>
                <a:latin typeface="DM Sans"/>
                <a:ea typeface="DM Sans"/>
                <a:cs typeface="DM Sans"/>
              </a:defRPr>
            </a:pPr>
            <a:r>
              <a:rPr sz="1275" b="0">
                <a:solidFill>
                  <a:srgbClr val="1F2523"/>
                </a:solidFill>
                <a:latin typeface="DM Sans"/>
                <a:ea typeface="DM Sans"/>
                <a:cs typeface="DM Sans"/>
              </a:rPr>
              <a:t>Estimated net revenue and date-based reports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FC9C54E-E80C-478A-B909-767A95B1B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914900"/>
            <a:ext cx="3495675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0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08C0872-7CA7-4940-A548-89AE21B0C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095875"/>
            <a:ext cx="304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50" b="1">
                <a:solidFill>
                  <a:srgbClr val="B52D28"/>
                </a:solidFill>
                <a:latin typeface="Manrope"/>
                <a:ea typeface="Manrope"/>
                <a:cs typeface="Manrope"/>
              </a:defRPr>
            </a:pPr>
            <a:r>
              <a:rPr sz="1050" b="1">
                <a:solidFill>
                  <a:srgbClr val="B52D28"/>
                </a:solidFill>
                <a:latin typeface="Manrope"/>
                <a:ea typeface="Manrope"/>
                <a:cs typeface="Manrope"/>
              </a:rPr>
              <a:t>Current dashboard formula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70198E6-BD62-4CEE-B28B-9AF3E16F0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391150"/>
            <a:ext cx="304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1">
                <a:solidFill>
                  <a:srgbClr val="B52D28"/>
                </a:solidFill>
                <a:latin typeface="DM Sans"/>
                <a:ea typeface="DM Sans"/>
                <a:cs typeface="DM Sans"/>
              </a:defRPr>
            </a:pPr>
            <a:r>
              <a:rPr sz="1275" b="1">
                <a:solidFill>
                  <a:srgbClr val="B52D28"/>
                </a:solidFill>
                <a:latin typeface="DM Sans"/>
                <a:ea typeface="DM Sans"/>
                <a:cs typeface="DM Sans"/>
              </a:rPr>
              <a:t>Order total − recorded commission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275" b="1">
                <a:solidFill>
                  <a:srgbClr val="B52D28"/>
                </a:solidFill>
                <a:latin typeface="DM Sans"/>
                <a:ea typeface="DM Sans"/>
                <a:cs typeface="DM Sans"/>
              </a:defRPr>
            </a:pPr>
            <a:r>
              <a:rPr sz="1275" b="1">
                <a:solidFill>
                  <a:srgbClr val="B52D28"/>
                </a:solidFill>
                <a:latin typeface="DM Sans"/>
                <a:ea typeface="DM Sans"/>
                <a:cs typeface="DM Sans"/>
              </a:rPr>
              <a:t>= estimated net revenue</a:t>
            </a:r>
          </a:p>
        </p:txBody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083467e764340f0"/>
          <a:stretch xmlns:a="http://schemas.openxmlformats.org/drawingml/2006/main"/>
        </p:blipFill>
        <p:spPr>
          <a:xfrm xmlns:a="http://schemas.openxmlformats.org/drawingml/2006/main">
            <a:off x="4533900" y="1572816"/>
            <a:ext cx="7124700" cy="4007644"/>
          </a:xfrm>
          <a:prstGeom xmlns:a="http://schemas.openxmlformats.org/drawingml/2006/main" prst="roundRect">
            <a:avLst>
              <a:gd name="adj" fmla="val 3800"/>
            </a:avLst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E5EE448-F4E7-44BB-B357-400DB5E6F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5781675"/>
            <a:ext cx="6819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75" b="1">
                <a:solidFill>
                  <a:srgbClr val="B52D28"/>
                </a:solidFill>
                <a:latin typeface="DM Sans"/>
                <a:ea typeface="DM Sans"/>
                <a:cs typeface="DM Sans"/>
              </a:defRPr>
            </a:pPr>
            <a:r>
              <a:rPr sz="975" b="1">
                <a:solidFill>
                  <a:srgbClr val="B52D28"/>
                </a:solidFill>
                <a:latin typeface="DM Sans"/>
                <a:ea typeface="DM Sans"/>
                <a:cs typeface="DM Sans"/>
              </a:rPr>
              <a:t>Final payout may differ if the confirmed policy applies discounts, refunds, tax, or other settlement adjustments.</a:t>
            </a:r>
          </a:p>
        </p:txBody>
      </p:sp>
    </p:spTree>
    <p:extLst>
      <p:ext uri="{BB962C8B-B14F-4D97-AF65-F5344CB8AC3E}">
        <p14:creationId xmlns:p14="http://schemas.microsoft.com/office/powerpoint/2010/main" val="1397329045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6b91b5e1461425a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95300" y="409575"/>
            <a:ext cx="323850" cy="323850"/>
          </a:xfrm>
          <a:prstGeom xmlns:a="http://schemas.openxmlformats.org/drawingml/2006/main" prst="roundRect">
            <a:avLst>
              <a:gd name="adj" fmla="val 47059"/>
            </a:avLst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AE02099-CF85-4BBA-A4FC-407945FE6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00050"/>
            <a:ext cx="100488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325" b="1">
                <a:solidFill>
                  <a:srgbClr val="1F2523"/>
                </a:solidFill>
                <a:latin typeface="Manrope"/>
                <a:ea typeface="Manrope"/>
                <a:cs typeface="Manrope"/>
              </a:defRPr>
            </a:pPr>
            <a:r>
              <a:rPr sz="2325" b="1">
                <a:solidFill>
                  <a:srgbClr val="1F2523"/>
                </a:solidFill>
                <a:latin typeface="Manrope"/>
                <a:ea typeface="Manrope"/>
                <a:cs typeface="Manrope"/>
              </a:rPr>
              <a:t>Restaurant information and branches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56F9EC4-7ECB-42D2-A983-0C317B9E4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933450"/>
            <a:ext cx="100488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0">
                <a:solidFill>
                  <a:srgbClr val="6D7471"/>
                </a:solidFill>
                <a:latin typeface="DM Sans"/>
                <a:ea typeface="DM Sans"/>
                <a:cs typeface="DM Sans"/>
              </a:defRPr>
            </a:pPr>
            <a:r>
              <a:rPr sz="1125" b="0">
                <a:solidFill>
                  <a:srgbClr val="6D7471"/>
                </a:solidFill>
                <a:latin typeface="DM Sans"/>
                <a:ea typeface="DM Sans"/>
                <a:cs typeface="DM Sans"/>
              </a:rPr>
              <a:t>Keeping customer-facing and payout information current supports smoother fulfilment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A6E5846-700F-4D60-AF72-66473663A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229350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825" b="1">
                <a:solidFill>
                  <a:srgbClr val="9B9F9D"/>
                </a:solidFill>
                <a:latin typeface="DM Sans"/>
                <a:ea typeface="DM Sans"/>
                <a:cs typeface="DM Sans"/>
              </a:defRPr>
            </a:pPr>
            <a:r>
              <a:rPr sz="825" b="1">
                <a:solidFill>
                  <a:srgbClr val="9B9F9D"/>
                </a:solidFill>
                <a:latin typeface="DM Sans"/>
                <a:ea typeface="DM Sans"/>
                <a:cs typeface="DM Sans"/>
              </a:rPr>
              <a:t>11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5FAAF44-5A7E-4B78-9AAB-19E3B7162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1590675"/>
            <a:ext cx="30956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1F2523"/>
                </a:solidFill>
                <a:latin typeface="Manrope"/>
                <a:ea typeface="Manrope"/>
                <a:cs typeface="Manrope"/>
              </a:defRPr>
            </a:pPr>
            <a:r>
              <a:rPr sz="1500" b="1">
                <a:solidFill>
                  <a:srgbClr val="1F2523"/>
                </a:solidFill>
                <a:latin typeface="Manrope"/>
                <a:ea typeface="Manrope"/>
                <a:cs typeface="Manrope"/>
              </a:rPr>
              <a:t>Merchant controls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62F8887-B10E-41C7-B41B-B37FD4036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14550"/>
            <a:ext cx="3476625" cy="2609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254000" indent="-127000" algn="l">
              <a:lnSpc>
                <a:spcPct val="105000"/>
              </a:lnSpc>
              <a:spcAft>
                <a:spcPts val="1500"/>
              </a:spcAft>
              <a:buNone/>
              <a:defRPr sz="1275" b="0">
                <a:solidFill>
                  <a:srgbClr val="1F2523"/>
                </a:solidFill>
                <a:latin typeface="DM Sans"/>
                <a:ea typeface="DM Sans"/>
                <a:cs typeface="DM Sans"/>
              </a:defRPr>
            </a:pPr>
            <a:r>
              <a:rPr sz="1275" b="0">
                <a:solidFill>
                  <a:srgbClr val="1F2523"/>
                </a:solidFill>
                <a:latin typeface="DM Sans"/>
                <a:ea typeface="DM Sans"/>
                <a:cs typeface="DM Sans"/>
              </a:rPr>
              <a:t>Restaurant name and description</a:t>
            </a:r>
          </a:p>
          <a:p xmlns:a="http://schemas.openxmlformats.org/drawingml/2006/main">
            <a:pPr marL="254000" indent="-127000" algn="l">
              <a:lnSpc>
                <a:spcPct val="105000"/>
              </a:lnSpc>
              <a:spcAft>
                <a:spcPts val="1500"/>
              </a:spcAft>
              <a:buNone/>
              <a:defRPr sz="1275" b="0">
                <a:solidFill>
                  <a:srgbClr val="1F2523"/>
                </a:solidFill>
                <a:latin typeface="DM Sans"/>
                <a:ea typeface="DM Sans"/>
                <a:cs typeface="DM Sans"/>
              </a:defRPr>
            </a:pPr>
            <a:r>
              <a:rPr sz="1275" b="0">
                <a:solidFill>
                  <a:srgbClr val="1F2523"/>
                </a:solidFill>
                <a:latin typeface="DM Sans"/>
                <a:ea typeface="DM Sans"/>
                <a:cs typeface="DM Sans"/>
              </a:rPr>
              <a:t>Customer contact information</a:t>
            </a:r>
          </a:p>
          <a:p xmlns:a="http://schemas.openxmlformats.org/drawingml/2006/main">
            <a:pPr marL="254000" indent="-127000" algn="l">
              <a:lnSpc>
                <a:spcPct val="105000"/>
              </a:lnSpc>
              <a:spcAft>
                <a:spcPts val="1500"/>
              </a:spcAft>
              <a:buNone/>
              <a:defRPr sz="1275" b="0">
                <a:solidFill>
                  <a:srgbClr val="1F2523"/>
                </a:solidFill>
                <a:latin typeface="DM Sans"/>
                <a:ea typeface="DM Sans"/>
                <a:cs typeface="DM Sans"/>
              </a:defRPr>
            </a:pPr>
            <a:r>
              <a:rPr sz="1275" b="0">
                <a:solidFill>
                  <a:srgbClr val="1F2523"/>
                </a:solidFill>
                <a:latin typeface="DM Sans"/>
                <a:ea typeface="DM Sans"/>
                <a:cs typeface="DM Sans"/>
              </a:rPr>
              <a:t>Branch addresses and availability</a:t>
            </a:r>
          </a:p>
          <a:p xmlns:a="http://schemas.openxmlformats.org/drawingml/2006/main">
            <a:pPr marL="254000" indent="-127000" algn="l">
              <a:lnSpc>
                <a:spcPct val="105000"/>
              </a:lnSpc>
              <a:spcAft>
                <a:spcPts val="1500"/>
              </a:spcAft>
              <a:buNone/>
              <a:defRPr sz="1275" b="0">
                <a:solidFill>
                  <a:srgbClr val="1F2523"/>
                </a:solidFill>
                <a:latin typeface="DM Sans"/>
                <a:ea typeface="DM Sans"/>
                <a:cs typeface="DM Sans"/>
              </a:defRPr>
            </a:pPr>
            <a:r>
              <a:rPr sz="1275" b="0">
                <a:solidFill>
                  <a:srgbClr val="1F2523"/>
                </a:solidFill>
                <a:latin typeface="DM Sans"/>
                <a:ea typeface="DM Sans"/>
                <a:cs typeface="DM Sans"/>
              </a:rPr>
              <a:t>Payout account name and details</a:t>
            </a:r>
          </a:p>
          <a:p xmlns:a="http://schemas.openxmlformats.org/drawingml/2006/main">
            <a:pPr marL="254000" indent="-127000" algn="l">
              <a:lnSpc>
                <a:spcPct val="105000"/>
              </a:lnSpc>
              <a:spcAft>
                <a:spcPts val="1500"/>
              </a:spcAft>
              <a:buNone/>
              <a:defRPr sz="1275" b="0">
                <a:solidFill>
                  <a:srgbClr val="1F2523"/>
                </a:solidFill>
                <a:latin typeface="DM Sans"/>
                <a:ea typeface="DM Sans"/>
                <a:cs typeface="DM Sans"/>
              </a:defRPr>
            </a:pPr>
            <a:r>
              <a:rPr sz="1275" b="0">
                <a:solidFill>
                  <a:srgbClr val="1F2523"/>
                </a:solidFill>
                <a:latin typeface="DM Sans"/>
                <a:ea typeface="DM Sans"/>
                <a:cs typeface="DM Sans"/>
              </a:rPr>
              <a:t>Activated service modes and store status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0C9EBD9-8F65-42EE-A45B-AAD13FD1E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953000"/>
            <a:ext cx="3476625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EDF8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709C7FF-30AD-454F-A80E-122A8DC27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143500"/>
            <a:ext cx="3019425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>
                <a:solidFill>
                  <a:srgbClr val="257B50"/>
                </a:solidFill>
                <a:latin typeface="DM Sans"/>
                <a:ea typeface="DM Sans"/>
                <a:cs typeface="DM Sans"/>
              </a:defRPr>
            </a:pPr>
            <a:r>
              <a:rPr sz="1125" b="1">
                <a:solidFill>
                  <a:srgbClr val="257B50"/>
                </a:solidFill>
                <a:latin typeface="DM Sans"/>
                <a:ea typeface="DM Sans"/>
                <a:cs typeface="DM Sans"/>
              </a:rPr>
              <a:t>Profile changes should match the restaurant’s current operating details before the store goes online.</a:t>
            </a:r>
          </a:p>
        </p:txBody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a1f7c9c0ecc430d"/>
          <a:stretch xmlns:a="http://schemas.openxmlformats.org/drawingml/2006/main"/>
        </p:blipFill>
        <p:spPr>
          <a:xfrm xmlns:a="http://schemas.openxmlformats.org/drawingml/2006/main">
            <a:off x="4533900" y="1572816"/>
            <a:ext cx="7124700" cy="4007644"/>
          </a:xfrm>
          <a:prstGeom xmlns:a="http://schemas.openxmlformats.org/drawingml/2006/main" prst="roundRect">
            <a:avLst>
              <a:gd name="adj" fmla="val 3800"/>
            </a:avLst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366BB15-D4F9-4605-886F-A3D2DCA9D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5781675"/>
            <a:ext cx="6762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825" b="0">
                <a:solidFill>
                  <a:srgbClr val="6D7471"/>
                </a:solidFill>
                <a:latin typeface="DM Sans"/>
                <a:ea typeface="DM Sans"/>
                <a:cs typeface="DM Sans"/>
              </a:defRPr>
            </a:pPr>
            <a:r>
              <a:rPr sz="825" b="0">
                <a:solidFill>
                  <a:srgbClr val="6D7471"/>
                </a:solidFill>
                <a:latin typeface="DM Sans"/>
                <a:ea typeface="DM Sans"/>
                <a:cs typeface="DM Sans"/>
              </a:rPr>
              <a:t>Illustrative data based on current merchant settings fields.</a:t>
            </a:r>
          </a:p>
        </p:txBody>
      </p:sp>
    </p:spTree>
    <p:extLst>
      <p:ext uri="{BB962C8B-B14F-4D97-AF65-F5344CB8AC3E}">
        <p14:creationId xmlns:p14="http://schemas.microsoft.com/office/powerpoint/2010/main" val="1557544672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7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d0aa8499e6d4d39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95300" y="409575"/>
            <a:ext cx="323850" cy="323850"/>
          </a:xfrm>
          <a:prstGeom xmlns:a="http://schemas.openxmlformats.org/drawingml/2006/main" prst="roundRect">
            <a:avLst>
              <a:gd name="adj" fmla="val 47059"/>
            </a:avLst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F506C30-9869-4472-86F2-10AA0D1EE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00050"/>
            <a:ext cx="100488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325" b="1">
                <a:solidFill>
                  <a:srgbClr val="1F2523"/>
                </a:solidFill>
                <a:latin typeface="Manrope"/>
                <a:ea typeface="Manrope"/>
                <a:cs typeface="Manrope"/>
              </a:defRPr>
            </a:pPr>
            <a:r>
              <a:rPr sz="2325" b="1">
                <a:solidFill>
                  <a:srgbClr val="1F2523"/>
                </a:solidFill>
                <a:latin typeface="Manrope"/>
                <a:ea typeface="Manrope"/>
                <a:cs typeface="Manrope"/>
              </a:rPr>
              <a:t>Dine-in, pickup, and delivery at a glance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762BC90-C374-4566-BB31-7980B60A0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933450"/>
            <a:ext cx="100488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0">
                <a:solidFill>
                  <a:srgbClr val="6D7471"/>
                </a:solidFill>
                <a:latin typeface="DM Sans"/>
                <a:ea typeface="DM Sans"/>
                <a:cs typeface="DM Sans"/>
              </a:defRPr>
            </a:pPr>
            <a:r>
              <a:rPr sz="1125" b="0">
                <a:solidFill>
                  <a:srgbClr val="6D7471"/>
                </a:solidFill>
                <a:latin typeface="DM Sans"/>
                <a:ea typeface="DM Sans"/>
                <a:cs typeface="DM Sans"/>
              </a:rPr>
              <a:t>Each mode changes the handoff. The merchant still receives, prepares, and completes the order.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5519BDA-C1E8-47AF-9E99-A7E0F81A2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229350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825" b="1">
                <a:solidFill>
                  <a:srgbClr val="9B9F9D"/>
                </a:solidFill>
                <a:latin typeface="DM Sans"/>
                <a:ea typeface="DM Sans"/>
                <a:cs typeface="DM Sans"/>
              </a:defRPr>
            </a:pPr>
            <a:r>
              <a:rPr sz="825" b="1">
                <a:solidFill>
                  <a:srgbClr val="9B9F9D"/>
                </a:solidFill>
                <a:latin typeface="DM Sans"/>
                <a:ea typeface="DM Sans"/>
                <a:cs typeface="DM Sans"/>
              </a:rPr>
              <a:t>12</a:t>
            </a:r>
          </a:p>
        </p:txBody>
      </p:sp>
      <p:graphicFrame>
        <p:nvGraphicFramePr>
          <p:cNvPr id="11" name=""/>
          <p:cNvGraphicFramePr/>
          <p:nvPr/>
        </p:nvGraphicFramePr>
        <p:xfrm>
          <a:off xmlns:a="http://schemas.openxmlformats.org/drawingml/2006/main" x="523875" y="1504950"/>
          <a:ext xmlns:a="http://schemas.openxmlformats.org/drawingml/2006/main" cx="11144250" cy="409575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2143125"/>
                <a:gridCol w="3000375"/>
                <a:gridCol w="3000375"/>
                <a:gridCol w="3000375"/>
              </a:tblGrid>
              <a:tr h="682625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anrope"/>
                          <a:ea typeface="Manrope"/>
                          <a:cs typeface="Manrope"/>
                        </a:rPr>
                        <a:t>Journey point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anrope"/>
                          <a:ea typeface="Manrope"/>
                          <a:cs typeface="Manrope"/>
                        </a:rPr>
                        <a:t>Dine-in / order to table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anrope"/>
                          <a:ea typeface="Manrope"/>
                          <a:cs typeface="Manrope"/>
                        </a:rPr>
                        <a:t>Pickup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anrope"/>
                          <a:ea typeface="Manrope"/>
                          <a:cs typeface="Manrope"/>
                        </a:rPr>
                        <a:t>Delivery</a:t>
                      </a:r>
                    </a:p>
                  </a:txBody>
                  <a:tcPr marL="91440" marR="91440" marT="45720" marB="45720"/>
                </a:tc>
              </a:tr>
              <a:tr h="682625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050" b="1">
                          <a:solidFill>
                            <a:srgbClr val="1F2523"/>
                          </a:solidFill>
                          <a:latin typeface="Manrope"/>
                          <a:ea typeface="Manrope"/>
                          <a:cs typeface="Manrope"/>
                        </a:rPr>
                        <a:t>Customer starts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F2523"/>
                          </a:solidFill>
                          <a:latin typeface="DM Sans"/>
                          <a:ea typeface="DM Sans"/>
                          <a:cs typeface="DM Sans"/>
                        </a:rPr>
                        <a:t>At the restaurant table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F2523"/>
                          </a:solidFill>
                          <a:latin typeface="DM Sans"/>
                          <a:ea typeface="DM Sans"/>
                          <a:cs typeface="DM Sans"/>
                        </a:rPr>
                        <a:t>Away from the restaurant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F2523"/>
                          </a:solidFill>
                          <a:latin typeface="DM Sans"/>
                          <a:ea typeface="DM Sans"/>
                          <a:cs typeface="DM Sans"/>
                        </a:rPr>
                        <a:t>Away from the restaurant</a:t>
                      </a:r>
                    </a:p>
                  </a:txBody>
                  <a:tcPr marL="91440" marR="91440" marT="45720" marB="45720"/>
                </a:tc>
              </a:tr>
              <a:tr h="682625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050" b="1">
                          <a:solidFill>
                            <a:srgbClr val="1F2523"/>
                          </a:solidFill>
                          <a:latin typeface="Manrope"/>
                          <a:ea typeface="Manrope"/>
                          <a:cs typeface="Manrope"/>
                        </a:rPr>
                        <a:t>Customer receives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F2523"/>
                          </a:solidFill>
                          <a:latin typeface="DM Sans"/>
                          <a:ea typeface="DM Sans"/>
                          <a:cs typeface="DM Sans"/>
                        </a:rPr>
                        <a:t>Prepared food at the table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F2523"/>
                          </a:solidFill>
                          <a:latin typeface="DM Sans"/>
                          <a:ea typeface="DM Sans"/>
                          <a:cs typeface="DM Sans"/>
                        </a:rPr>
                        <a:t>Prepared order at the counter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F2523"/>
                          </a:solidFill>
                          <a:latin typeface="DM Sans"/>
                          <a:ea typeface="DM Sans"/>
                          <a:cs typeface="DM Sans"/>
                        </a:rPr>
                        <a:t>Prepared order at the delivery address</a:t>
                      </a:r>
                    </a:p>
                  </a:txBody>
                  <a:tcPr marL="91440" marR="91440" marT="45720" marB="45720"/>
                </a:tc>
              </a:tr>
              <a:tr h="682625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050" b="1">
                          <a:solidFill>
                            <a:srgbClr val="1F2523"/>
                          </a:solidFill>
                          <a:latin typeface="Manrope"/>
                          <a:ea typeface="Manrope"/>
                          <a:cs typeface="Manrope"/>
                        </a:rPr>
                        <a:t>Merchant handoff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F2523"/>
                          </a:solidFill>
                          <a:latin typeface="DM Sans"/>
                          <a:ea typeface="DM Sans"/>
                          <a:cs typeface="DM Sans"/>
                        </a:rPr>
                        <a:t>Serve the identified table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F2523"/>
                          </a:solidFill>
                          <a:latin typeface="DM Sans"/>
                          <a:ea typeface="DM Sans"/>
                          <a:cs typeface="DM Sans"/>
                        </a:rPr>
                        <a:t>Release to the customer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F2523"/>
                          </a:solidFill>
                          <a:latin typeface="DM Sans"/>
                          <a:ea typeface="DM Sans"/>
                          <a:cs typeface="DM Sans"/>
                        </a:rPr>
                        <a:t>Release to the assigned rider</a:t>
                      </a:r>
                    </a:p>
                  </a:txBody>
                  <a:tcPr marL="91440" marR="91440" marT="45720" marB="45720"/>
                </a:tc>
              </a:tr>
              <a:tr h="682625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050" b="1">
                          <a:solidFill>
                            <a:srgbClr val="1F2523"/>
                          </a:solidFill>
                          <a:latin typeface="Manrope"/>
                          <a:ea typeface="Manrope"/>
                          <a:cs typeface="Manrope"/>
                        </a:rPr>
                        <a:t>Rider involved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F2523"/>
                          </a:solidFill>
                          <a:latin typeface="DM Sans"/>
                          <a:ea typeface="DM Sans"/>
                          <a:cs typeface="DM Sans"/>
                        </a:rPr>
                        <a:t>No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F2523"/>
                          </a:solidFill>
                          <a:latin typeface="DM Sans"/>
                          <a:ea typeface="DM Sans"/>
                          <a:cs typeface="DM Sans"/>
                        </a:rPr>
                        <a:t>No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F2523"/>
                          </a:solidFill>
                          <a:latin typeface="DM Sans"/>
                          <a:ea typeface="DM Sans"/>
                          <a:cs typeface="DM Sans"/>
                        </a:rPr>
                        <a:t>Yes</a:t>
                      </a:r>
                    </a:p>
                  </a:txBody>
                  <a:tcPr marL="91440" marR="91440" marT="45720" marB="45720"/>
                </a:tc>
              </a:tr>
              <a:tr h="682625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050" b="1">
                          <a:solidFill>
                            <a:srgbClr val="1F2523"/>
                          </a:solidFill>
                          <a:latin typeface="Manrope"/>
                          <a:ea typeface="Manrope"/>
                          <a:cs typeface="Manrope"/>
                        </a:rPr>
                        <a:t>Delivery fee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F2523"/>
                          </a:solidFill>
                          <a:latin typeface="DM Sans"/>
                          <a:ea typeface="DM Sans"/>
                          <a:cs typeface="DM Sans"/>
                        </a:rPr>
                        <a:t>Not expected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F2523"/>
                          </a:solidFill>
                          <a:latin typeface="DM Sans"/>
                          <a:ea typeface="DM Sans"/>
                          <a:cs typeface="DM Sans"/>
                        </a:rPr>
                        <a:t>Not expected</a:t>
                      </a:r>
                    </a:p>
                  </a:txBody>
                  <a:tcPr marL="91440" marR="91440" marT="45720" marB="45720"/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050" b="1">
                          <a:solidFill>
                            <a:srgbClr val="8E621C"/>
                          </a:solidFill>
                          <a:latin typeface="DM Sans"/>
                          <a:ea typeface="DM Sans"/>
                          <a:cs typeface="DM Sans"/>
                        </a:rPr>
                        <a:t>Applies according to the confirmed delivery-fee policy</a:t>
                      </a:r>
                    </a:p>
                  </a:txBody>
                  <a:tcPr marL="91440" marR="91440" marT="45720" marB="45720" anchor="ctr">
                    <a:solidFill>
                      <a:srgbClr val="FFF6E7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894366D-9D5B-45C5-BAEA-8AA65E140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905500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50" b="1">
                <a:solidFill>
                  <a:srgbClr val="B52D28"/>
                </a:solidFill>
                <a:latin typeface="DM Sans"/>
                <a:ea typeface="DM Sans"/>
                <a:cs typeface="DM Sans"/>
              </a:defRPr>
            </a:pPr>
            <a:r>
              <a:rPr sz="1050" b="1">
                <a:solidFill>
                  <a:srgbClr val="B52D28"/>
                </a:solidFill>
                <a:latin typeface="DM Sans"/>
                <a:ea typeface="DM Sans"/>
                <a:cs typeface="DM Sans"/>
              </a:rPr>
              <a:t>Confirm service availability, operating hours, handoff verification, and delivery-fee rules before activation.</a:t>
            </a:r>
          </a:p>
        </p:txBody>
      </p:sp>
    </p:spTree>
    <p:extLst>
      <p:ext uri="{BB962C8B-B14F-4D97-AF65-F5344CB8AC3E}">
        <p14:creationId xmlns:p14="http://schemas.microsoft.com/office/powerpoint/2010/main" val="594365529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56c56a87b7a47f6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95300" y="409575"/>
            <a:ext cx="323850" cy="323850"/>
          </a:xfrm>
          <a:prstGeom xmlns:a="http://schemas.openxmlformats.org/drawingml/2006/main" prst="roundRect">
            <a:avLst>
              <a:gd name="adj" fmla="val 47059"/>
            </a:avLst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98C29BA-559D-4CAE-86B0-A9B22937C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00050"/>
            <a:ext cx="100488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325" b="1">
                <a:solidFill>
                  <a:srgbClr val="1F2523"/>
                </a:solidFill>
                <a:latin typeface="Manrope"/>
                <a:ea typeface="Manrope"/>
                <a:cs typeface="Manrope"/>
              </a:defRPr>
            </a:pPr>
            <a:r>
              <a:rPr sz="2325" b="1">
                <a:solidFill>
                  <a:srgbClr val="1F2523"/>
                </a:solidFill>
                <a:latin typeface="Manrope"/>
                <a:ea typeface="Manrope"/>
                <a:cs typeface="Manrope"/>
              </a:rPr>
              <a:t>Dine-in / Order to table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A990B43-A710-4ADB-8F5A-74DA7B518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933450"/>
            <a:ext cx="100488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0">
                <a:solidFill>
                  <a:srgbClr val="6D7471"/>
                </a:solidFill>
                <a:latin typeface="DM Sans"/>
                <a:ea typeface="DM Sans"/>
                <a:cs typeface="DM Sans"/>
              </a:defRPr>
            </a:pPr>
            <a:r>
              <a:rPr sz="1125" b="0">
                <a:solidFill>
                  <a:srgbClr val="6D7471"/>
                </a:solidFill>
                <a:latin typeface="DM Sans"/>
                <a:ea typeface="DM Sans"/>
                <a:cs typeface="DM Sans"/>
              </a:rPr>
              <a:t>The customer orders for a specific table. The merchant prepares and serves the meal in the restaurant.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187AAFD-E8CE-4099-A38E-4379A13BE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229350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825" b="1">
                <a:solidFill>
                  <a:srgbClr val="9B9F9D"/>
                </a:solidFill>
                <a:latin typeface="DM Sans"/>
                <a:ea typeface="DM Sans"/>
                <a:cs typeface="DM Sans"/>
              </a:defRPr>
            </a:pPr>
            <a:r>
              <a:rPr sz="825" b="1">
                <a:solidFill>
                  <a:srgbClr val="9B9F9D"/>
                </a:solidFill>
                <a:latin typeface="DM Sans"/>
                <a:ea typeface="DM Sans"/>
                <a:cs typeface="DM Sans"/>
              </a:rPr>
              <a:t>13</a:t>
            </a:r>
          </a:p>
        </p:txBody>
      </p:sp>
      <p:pic>
        <p:nvPicPr>
          <p:cNvPr id="3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107aa4c4f884d3d"/>
          <a:srcRect xmlns:a="http://schemas.openxmlformats.org/drawingml/2006/main" l="20936" t="0" r="20936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953125" y="1447800"/>
            <a:ext cx="5715000" cy="4095750"/>
          </a:xfrm>
          <a:prstGeom xmlns:a="http://schemas.openxmlformats.org/drawingml/2006/main" prst="roundRect">
            <a:avLst>
              <a:gd name="adj" fmla="val 3721"/>
            </a:avLst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6F4E02F-4C17-406C-9C96-BC8F7A6EC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476375"/>
            <a:ext cx="4000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29302D"/>
          </a:solidFill>
          <a:ln xmlns:a="http://schemas.openxmlformats.org/drawingml/2006/main" w="9525">
            <a:solidFill>
              <a:srgbClr val="29302D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242D30E-84E4-4BAA-9882-3012E7BA6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476375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 b="1">
                <a:solidFill>
                  <a:srgbClr val="FFFFFF"/>
                </a:solidFill>
                <a:latin typeface="Manrope"/>
                <a:ea typeface="Manrope"/>
                <a:cs typeface="Manrope"/>
              </a:defRPr>
            </a:pPr>
            <a:r>
              <a:rPr sz="1200" b="1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CE7C64F-3022-456C-8E49-26657CB51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1466850"/>
            <a:ext cx="44005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1F2523"/>
                </a:solidFill>
                <a:latin typeface="Manrope"/>
                <a:ea typeface="Manrope"/>
                <a:cs typeface="Manrope"/>
              </a:defRPr>
            </a:pPr>
            <a:r>
              <a:rPr sz="1275" b="1">
                <a:solidFill>
                  <a:srgbClr val="1F2523"/>
                </a:solidFill>
                <a:latin typeface="Manrope"/>
                <a:ea typeface="Manrope"/>
                <a:cs typeface="Manrope"/>
              </a:rPr>
              <a:t>Customer starts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D42D36B-7ECA-45A4-964E-3A8F14D3C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1762125"/>
            <a:ext cx="44005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050" b="0">
                <a:solidFill>
                  <a:srgbClr val="6D7471"/>
                </a:solidFill>
                <a:latin typeface="DM Sans"/>
                <a:ea typeface="DM Sans"/>
                <a:cs typeface="DM Sans"/>
              </a:defRPr>
            </a:pPr>
            <a:r>
              <a:rPr sz="1050" b="0">
                <a:solidFill>
                  <a:srgbClr val="6D7471"/>
                </a:solidFill>
                <a:latin typeface="DM Sans"/>
                <a:ea typeface="DM Sans"/>
                <a:cs typeface="DM Sans"/>
              </a:rPr>
              <a:t>Selects the restaurant, confirms the table, and submits the order.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F9B145B-6A4B-45E6-88DC-D053D0F30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314575"/>
            <a:ext cx="4000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29302D"/>
          </a:solidFill>
          <a:ln xmlns:a="http://schemas.openxmlformats.org/drawingml/2006/main" w="9525">
            <a:solidFill>
              <a:srgbClr val="29302D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5D46F5F-D6BA-4E3C-8F40-C1DA7B96A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314575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 b="1">
                <a:solidFill>
                  <a:srgbClr val="FFFFFF"/>
                </a:solidFill>
                <a:latin typeface="Manrope"/>
                <a:ea typeface="Manrope"/>
                <a:cs typeface="Manrope"/>
              </a:defRPr>
            </a:pPr>
            <a:r>
              <a:rPr sz="1200" b="1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8CBCD56-686D-421B-BFE7-1F59FCE2E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305050"/>
            <a:ext cx="44005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1F2523"/>
                </a:solidFill>
                <a:latin typeface="Manrope"/>
                <a:ea typeface="Manrope"/>
                <a:cs typeface="Manrope"/>
              </a:defRPr>
            </a:pPr>
            <a:r>
              <a:rPr sz="1275" b="1">
                <a:solidFill>
                  <a:srgbClr val="1F2523"/>
                </a:solidFill>
                <a:latin typeface="Manrope"/>
                <a:ea typeface="Manrope"/>
                <a:cs typeface="Manrope"/>
              </a:rPr>
              <a:t>Merchant receives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058BEE0-2EC8-4CA4-BC12-B531A2266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600325"/>
            <a:ext cx="44005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050" b="0">
                <a:solidFill>
                  <a:srgbClr val="6D7471"/>
                </a:solidFill>
                <a:latin typeface="DM Sans"/>
                <a:ea typeface="DM Sans"/>
                <a:cs typeface="DM Sans"/>
              </a:defRPr>
            </a:pPr>
            <a:r>
              <a:rPr sz="1050" b="0">
                <a:solidFill>
                  <a:srgbClr val="6D7471"/>
                </a:solidFill>
                <a:latin typeface="DM Sans"/>
                <a:ea typeface="DM Sans"/>
                <a:cs typeface="DM Sans"/>
              </a:rPr>
              <a:t>Reviews the order and table reference in the dashboard.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943461C-0745-488C-8D9D-B6113827E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152775"/>
            <a:ext cx="4000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29302D"/>
          </a:solidFill>
          <a:ln xmlns:a="http://schemas.openxmlformats.org/drawingml/2006/main" w="9525">
            <a:solidFill>
              <a:srgbClr val="29302D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2467373-862B-4006-9650-41FC026E3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152775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 b="1">
                <a:solidFill>
                  <a:srgbClr val="FFFFFF"/>
                </a:solidFill>
                <a:latin typeface="Manrope"/>
                <a:ea typeface="Manrope"/>
                <a:cs typeface="Manrope"/>
              </a:defRPr>
            </a:pPr>
            <a:r>
              <a:rPr sz="1200" b="1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677DCD3-D80F-481D-94B9-FF6F1CA3E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143250"/>
            <a:ext cx="44005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1F2523"/>
                </a:solidFill>
                <a:latin typeface="Manrope"/>
                <a:ea typeface="Manrope"/>
                <a:cs typeface="Manrope"/>
              </a:defRPr>
            </a:pPr>
            <a:r>
              <a:rPr sz="1275" b="1">
                <a:solidFill>
                  <a:srgbClr val="1F2523"/>
                </a:solidFill>
                <a:latin typeface="Manrope"/>
                <a:ea typeface="Manrope"/>
                <a:cs typeface="Manrope"/>
              </a:rPr>
              <a:t>Kitchen prepares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EB29EEA-1EAE-4A52-AC76-272409029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438525"/>
            <a:ext cx="44005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050" b="0">
                <a:solidFill>
                  <a:srgbClr val="6D7471"/>
                </a:solidFill>
                <a:latin typeface="DM Sans"/>
                <a:ea typeface="DM Sans"/>
                <a:cs typeface="DM Sans"/>
              </a:defRPr>
            </a:pPr>
            <a:r>
              <a:rPr sz="1050" b="0">
                <a:solidFill>
                  <a:srgbClr val="6D7471"/>
                </a:solidFill>
                <a:latin typeface="DM Sans"/>
                <a:ea typeface="DM Sans"/>
                <a:cs typeface="DM Sans"/>
              </a:rPr>
              <a:t>Prepares the items and updates the order status.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DF30778-3B9B-47AC-9827-FA0BF10DA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990975"/>
            <a:ext cx="4000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43B35"/>
          </a:solidFill>
          <a:ln xmlns:a="http://schemas.openxmlformats.org/drawingml/2006/main" w="9525">
            <a:solidFill>
              <a:srgbClr val="F43B35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1104746-EB3E-48A7-B4B3-C115D8CC8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990975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 b="1">
                <a:solidFill>
                  <a:srgbClr val="FFFFFF"/>
                </a:solidFill>
                <a:latin typeface="Manrope"/>
                <a:ea typeface="Manrope"/>
                <a:cs typeface="Manrope"/>
              </a:defRPr>
            </a:pPr>
            <a:r>
              <a:rPr sz="1200" b="1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04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701E47E-0D0F-4DCA-B2F2-EC14D0092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981450"/>
            <a:ext cx="44005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1F2523"/>
                </a:solidFill>
                <a:latin typeface="Manrope"/>
                <a:ea typeface="Manrope"/>
                <a:cs typeface="Manrope"/>
              </a:defRPr>
            </a:pPr>
            <a:r>
              <a:rPr sz="1275" b="1">
                <a:solidFill>
                  <a:srgbClr val="1F2523"/>
                </a:solidFill>
                <a:latin typeface="Manrope"/>
                <a:ea typeface="Manrope"/>
                <a:cs typeface="Manrope"/>
              </a:rPr>
              <a:t>Merchant serves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D426AF5-C69F-4E66-9BE7-4B1ED0E86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276725"/>
            <a:ext cx="44005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050" b="0">
                <a:solidFill>
                  <a:srgbClr val="6D7471"/>
                </a:solidFill>
                <a:latin typeface="DM Sans"/>
                <a:ea typeface="DM Sans"/>
                <a:cs typeface="DM Sans"/>
              </a:defRPr>
            </a:pPr>
            <a:r>
              <a:rPr sz="1050" b="0">
                <a:solidFill>
                  <a:srgbClr val="6D7471"/>
                </a:solidFill>
                <a:latin typeface="DM Sans"/>
                <a:ea typeface="DM Sans"/>
                <a:cs typeface="DM Sans"/>
              </a:rPr>
              <a:t>Delivers the prepared order to the correct table.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7160750-30E0-4378-8E86-222E91D60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829175"/>
            <a:ext cx="4000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29302D"/>
          </a:solidFill>
          <a:ln xmlns:a="http://schemas.openxmlformats.org/drawingml/2006/main" w="9525">
            <a:solidFill>
              <a:srgbClr val="29302D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CEFE7F6-537C-4247-A152-4CD4EF03A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829175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 b="1">
                <a:solidFill>
                  <a:srgbClr val="FFFFFF"/>
                </a:solidFill>
                <a:latin typeface="Manrope"/>
                <a:ea typeface="Manrope"/>
                <a:cs typeface="Manrope"/>
              </a:defRPr>
            </a:pPr>
            <a:r>
              <a:rPr sz="1200" b="1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05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DAA1679-97C7-425A-8D99-D4FAAF351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819650"/>
            <a:ext cx="44005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1F2523"/>
                </a:solidFill>
                <a:latin typeface="Manrope"/>
                <a:ea typeface="Manrope"/>
                <a:cs typeface="Manrope"/>
              </a:defRPr>
            </a:pPr>
            <a:r>
              <a:rPr sz="1275" b="1">
                <a:solidFill>
                  <a:srgbClr val="1F2523"/>
                </a:solidFill>
                <a:latin typeface="Manrope"/>
                <a:ea typeface="Manrope"/>
                <a:cs typeface="Manrope"/>
              </a:rPr>
              <a:t>Order closes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9EF5C03-12D0-499E-8255-778A43360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5114925"/>
            <a:ext cx="44005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050" b="0">
                <a:solidFill>
                  <a:srgbClr val="6D7471"/>
                </a:solidFill>
                <a:latin typeface="DM Sans"/>
                <a:ea typeface="DM Sans"/>
                <a:cs typeface="DM Sans"/>
              </a:defRPr>
            </a:pPr>
            <a:r>
              <a:rPr sz="1050" b="0">
                <a:solidFill>
                  <a:srgbClr val="6D7471"/>
                </a:solidFill>
                <a:latin typeface="DM Sans"/>
                <a:ea typeface="DM Sans"/>
                <a:cs typeface="DM Sans"/>
              </a:rPr>
              <a:t>Marks the order complete after service.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7A5F8CD-254E-4C3E-BDC1-91B5FBC2F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5753100"/>
            <a:ext cx="571500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FFF6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BDBDFD5-8265-41F6-B4E4-ABD54FBF7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5876925"/>
            <a:ext cx="5276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75" b="1">
                <a:solidFill>
                  <a:srgbClr val="8E621C"/>
                </a:solidFill>
                <a:latin typeface="DM Sans"/>
                <a:ea typeface="DM Sans"/>
                <a:cs typeface="DM Sans"/>
              </a:defRPr>
            </a:pPr>
            <a:r>
              <a:rPr sz="975" b="1">
                <a:solidFill>
                  <a:srgbClr val="8E621C"/>
                </a:solidFill>
                <a:latin typeface="DM Sans"/>
                <a:ea typeface="DM Sans"/>
                <a:cs typeface="DM Sans"/>
              </a:rPr>
              <a:t>Confirm how the customer identifies the table: QR code, table number, or staff-provided link.</a:t>
            </a:r>
          </a:p>
        </p:txBody>
      </p:sp>
    </p:spTree>
    <p:extLst>
      <p:ext uri="{BB962C8B-B14F-4D97-AF65-F5344CB8AC3E}">
        <p14:creationId xmlns:p14="http://schemas.microsoft.com/office/powerpoint/2010/main" val="1668425016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7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e6e1aef946642f1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95300" y="409575"/>
            <a:ext cx="323850" cy="323850"/>
          </a:xfrm>
          <a:prstGeom xmlns:a="http://schemas.openxmlformats.org/drawingml/2006/main" prst="roundRect">
            <a:avLst>
              <a:gd name="adj" fmla="val 47059"/>
            </a:avLst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6332167-1753-4FC9-BA9B-9F236A99F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00050"/>
            <a:ext cx="100488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325" b="1">
                <a:solidFill>
                  <a:srgbClr val="1F2523"/>
                </a:solidFill>
                <a:latin typeface="Manrope"/>
                <a:ea typeface="Manrope"/>
                <a:cs typeface="Manrope"/>
              </a:defRPr>
            </a:pPr>
            <a:r>
              <a:rPr sz="2325" b="1">
                <a:solidFill>
                  <a:srgbClr val="1F2523"/>
                </a:solidFill>
                <a:latin typeface="Manrope"/>
                <a:ea typeface="Manrope"/>
                <a:cs typeface="Manrope"/>
              </a:rPr>
              <a:t>Pickup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E233B6C-3885-4E03-8709-DBE71CA1E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933450"/>
            <a:ext cx="100488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0">
                <a:solidFill>
                  <a:srgbClr val="6D7471"/>
                </a:solidFill>
                <a:latin typeface="DM Sans"/>
                <a:ea typeface="DM Sans"/>
                <a:cs typeface="DM Sans"/>
              </a:defRPr>
            </a:pPr>
            <a:r>
              <a:rPr sz="1125" b="0">
                <a:solidFill>
                  <a:srgbClr val="6D7471"/>
                </a:solidFill>
                <a:latin typeface="DM Sans"/>
                <a:ea typeface="DM Sans"/>
                <a:cs typeface="DM Sans"/>
              </a:rPr>
              <a:t>The customer orders ahead. The merchant prepares the food and releases it at the restaurant.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7CBC3A7-1A36-474D-A8FB-C46A68E74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229350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825" b="1">
                <a:solidFill>
                  <a:srgbClr val="9B9F9D"/>
                </a:solidFill>
                <a:latin typeface="DM Sans"/>
                <a:ea typeface="DM Sans"/>
                <a:cs typeface="DM Sans"/>
              </a:defRPr>
            </a:pPr>
            <a:r>
              <a:rPr sz="825" b="1">
                <a:solidFill>
                  <a:srgbClr val="9B9F9D"/>
                </a:solidFill>
                <a:latin typeface="DM Sans"/>
                <a:ea typeface="DM Sans"/>
                <a:cs typeface="DM Sans"/>
              </a:rPr>
              <a:t>14</a:t>
            </a:r>
          </a:p>
        </p:txBody>
      </p:sp>
      <p:pic>
        <p:nvPicPr>
          <p:cNvPr id="3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785f9f548da4723"/>
          <a:srcRect xmlns:a="http://schemas.openxmlformats.org/drawingml/2006/main" l="10735" t="0" r="10735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23875" y="1466850"/>
            <a:ext cx="5715000" cy="4095750"/>
          </a:xfrm>
          <a:prstGeom xmlns:a="http://schemas.openxmlformats.org/drawingml/2006/main" prst="roundRect">
            <a:avLst>
              <a:gd name="adj" fmla="val 3721"/>
            </a:avLst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EB52A6E-8BE2-4865-ADC8-BDF1F0125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476375"/>
            <a:ext cx="4000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29302D"/>
          </a:solidFill>
          <a:ln xmlns:a="http://schemas.openxmlformats.org/drawingml/2006/main" w="9525">
            <a:solidFill>
              <a:srgbClr val="29302D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C0F4E26-51C9-422C-953A-E5B912C19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476375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 b="1">
                <a:solidFill>
                  <a:srgbClr val="FFFFFF"/>
                </a:solidFill>
                <a:latin typeface="Manrope"/>
                <a:ea typeface="Manrope"/>
                <a:cs typeface="Manrope"/>
              </a:defRPr>
            </a:pPr>
            <a:r>
              <a:rPr sz="1200" b="1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28E59E7-CD7F-4465-A2AE-A60036777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1466850"/>
            <a:ext cx="44005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1F2523"/>
                </a:solidFill>
                <a:latin typeface="Manrope"/>
                <a:ea typeface="Manrope"/>
                <a:cs typeface="Manrope"/>
              </a:defRPr>
            </a:pPr>
            <a:r>
              <a:rPr sz="1275" b="1">
                <a:solidFill>
                  <a:srgbClr val="1F2523"/>
                </a:solidFill>
                <a:latin typeface="Manrope"/>
                <a:ea typeface="Manrope"/>
                <a:cs typeface="Manrope"/>
              </a:rPr>
              <a:t>Customer orders ahead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B9BFC05-768D-4185-9173-E0E40DD81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1762125"/>
            <a:ext cx="44005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050" b="0">
                <a:solidFill>
                  <a:srgbClr val="6D7471"/>
                </a:solidFill>
                <a:latin typeface="DM Sans"/>
                <a:ea typeface="DM Sans"/>
                <a:cs typeface="DM Sans"/>
              </a:defRPr>
            </a:pPr>
            <a:r>
              <a:rPr sz="1050" b="0">
                <a:solidFill>
                  <a:srgbClr val="6D7471"/>
                </a:solidFill>
                <a:latin typeface="DM Sans"/>
                <a:ea typeface="DM Sans"/>
                <a:cs typeface="DM Sans"/>
              </a:rPr>
              <a:t>Chooses pickup and submits the order before arriving.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17124A1-0657-4004-A384-EB17D091F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314575"/>
            <a:ext cx="4000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29302D"/>
          </a:solidFill>
          <a:ln xmlns:a="http://schemas.openxmlformats.org/drawingml/2006/main" w="9525">
            <a:solidFill>
              <a:srgbClr val="29302D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1562A90-78A4-4A61-9C57-30FBCA0D9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314575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 b="1">
                <a:solidFill>
                  <a:srgbClr val="FFFFFF"/>
                </a:solidFill>
                <a:latin typeface="Manrope"/>
                <a:ea typeface="Manrope"/>
                <a:cs typeface="Manrope"/>
              </a:defRPr>
            </a:pPr>
            <a:r>
              <a:rPr sz="1200" b="1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FD7C452-0E6B-498C-B99C-F7BBBAE6E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2305050"/>
            <a:ext cx="44005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1F2523"/>
                </a:solidFill>
                <a:latin typeface="Manrope"/>
                <a:ea typeface="Manrope"/>
                <a:cs typeface="Manrope"/>
              </a:defRPr>
            </a:pPr>
            <a:r>
              <a:rPr sz="1275" b="1">
                <a:solidFill>
                  <a:srgbClr val="1F2523"/>
                </a:solidFill>
                <a:latin typeface="Manrope"/>
                <a:ea typeface="Manrope"/>
                <a:cs typeface="Manrope"/>
              </a:rPr>
              <a:t>Merchant confirms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B440F99-8AD1-4BBF-A5B4-535BDCDF0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2600325"/>
            <a:ext cx="44005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050" b="0">
                <a:solidFill>
                  <a:srgbClr val="6D7471"/>
                </a:solidFill>
                <a:latin typeface="DM Sans"/>
                <a:ea typeface="DM Sans"/>
                <a:cs typeface="DM Sans"/>
              </a:defRPr>
            </a:pPr>
            <a:r>
              <a:rPr sz="1050" b="0">
                <a:solidFill>
                  <a:srgbClr val="6D7471"/>
                </a:solidFill>
                <a:latin typeface="DM Sans"/>
                <a:ea typeface="DM Sans"/>
                <a:cs typeface="DM Sans"/>
              </a:rPr>
              <a:t>Reviews the order and expected pickup timing.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014DBB1-B2AF-4938-9A4D-41C6CE555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152775"/>
            <a:ext cx="4000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29302D"/>
          </a:solidFill>
          <a:ln xmlns:a="http://schemas.openxmlformats.org/drawingml/2006/main" w="9525">
            <a:solidFill>
              <a:srgbClr val="29302D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88FAB79-37CC-41CA-87C0-B42C8D086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152775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 b="1">
                <a:solidFill>
                  <a:srgbClr val="FFFFFF"/>
                </a:solidFill>
                <a:latin typeface="Manrope"/>
                <a:ea typeface="Manrope"/>
                <a:cs typeface="Manrope"/>
              </a:defRPr>
            </a:pPr>
            <a:r>
              <a:rPr sz="1200" b="1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5ADDAB1-928A-43F0-94D8-B246B36FF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3143250"/>
            <a:ext cx="44005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1F2523"/>
                </a:solidFill>
                <a:latin typeface="Manrope"/>
                <a:ea typeface="Manrope"/>
                <a:cs typeface="Manrope"/>
              </a:defRPr>
            </a:pPr>
            <a:r>
              <a:rPr sz="1275" b="1">
                <a:solidFill>
                  <a:srgbClr val="1F2523"/>
                </a:solidFill>
                <a:latin typeface="Manrope"/>
                <a:ea typeface="Manrope"/>
                <a:cs typeface="Manrope"/>
              </a:rPr>
              <a:t>Kitchen prepares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E8DB756-9034-4E4F-8F5E-0ED63140E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3438525"/>
            <a:ext cx="44005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050" b="0">
                <a:solidFill>
                  <a:srgbClr val="6D7471"/>
                </a:solidFill>
                <a:latin typeface="DM Sans"/>
                <a:ea typeface="DM Sans"/>
                <a:cs typeface="DM Sans"/>
              </a:defRPr>
            </a:pPr>
            <a:r>
              <a:rPr sz="1050" b="0">
                <a:solidFill>
                  <a:srgbClr val="6D7471"/>
                </a:solidFill>
                <a:latin typeface="DM Sans"/>
                <a:ea typeface="DM Sans"/>
                <a:cs typeface="DM Sans"/>
              </a:rPr>
              <a:t>Prepares and packs the order for collection.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631AF4F-B974-4060-931A-30FCD267C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990975"/>
            <a:ext cx="4000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43B35"/>
          </a:solidFill>
          <a:ln xmlns:a="http://schemas.openxmlformats.org/drawingml/2006/main" w="9525">
            <a:solidFill>
              <a:srgbClr val="F43B35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30B85CD-BBFC-43F2-987C-74916E83B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990975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 b="1">
                <a:solidFill>
                  <a:srgbClr val="FFFFFF"/>
                </a:solidFill>
                <a:latin typeface="Manrope"/>
                <a:ea typeface="Manrope"/>
                <a:cs typeface="Manrope"/>
              </a:defRPr>
            </a:pPr>
            <a:r>
              <a:rPr sz="1200" b="1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04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821EAF9-C949-45EE-BDFB-02BBBE39C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3981450"/>
            <a:ext cx="44005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1F2523"/>
                </a:solidFill>
                <a:latin typeface="Manrope"/>
                <a:ea typeface="Manrope"/>
                <a:cs typeface="Manrope"/>
              </a:defRPr>
            </a:pPr>
            <a:r>
              <a:rPr sz="1275" b="1">
                <a:solidFill>
                  <a:srgbClr val="1F2523"/>
                </a:solidFill>
                <a:latin typeface="Manrope"/>
                <a:ea typeface="Manrope"/>
                <a:cs typeface="Manrope"/>
              </a:rPr>
              <a:t>Merchant marks ready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79204AC-8251-4787-80AD-1C19B3188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4276725"/>
            <a:ext cx="44005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050" b="0">
                <a:solidFill>
                  <a:srgbClr val="6D7471"/>
                </a:solidFill>
                <a:latin typeface="DM Sans"/>
                <a:ea typeface="DM Sans"/>
                <a:cs typeface="DM Sans"/>
              </a:defRPr>
            </a:pPr>
            <a:r>
              <a:rPr sz="1050" b="0">
                <a:solidFill>
                  <a:srgbClr val="6D7471"/>
                </a:solidFill>
                <a:latin typeface="DM Sans"/>
                <a:ea typeface="DM Sans"/>
                <a:cs typeface="DM Sans"/>
              </a:rPr>
              <a:t>Lets the customer know the order can be collected.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22878D8-0125-4835-932A-DE7F20CA6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829175"/>
            <a:ext cx="4000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29302D"/>
          </a:solidFill>
          <a:ln xmlns:a="http://schemas.openxmlformats.org/drawingml/2006/main" w="9525">
            <a:solidFill>
              <a:srgbClr val="29302D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ACBE50D-8ED3-4BE7-8ECA-741C28E05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829175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 b="1">
                <a:solidFill>
                  <a:srgbClr val="FFFFFF"/>
                </a:solidFill>
                <a:latin typeface="Manrope"/>
                <a:ea typeface="Manrope"/>
                <a:cs typeface="Manrope"/>
              </a:defRPr>
            </a:pPr>
            <a:r>
              <a:rPr sz="1200" b="1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05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1DD2DBB-85D6-410E-913F-A88576C31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4819650"/>
            <a:ext cx="44005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1F2523"/>
                </a:solidFill>
                <a:latin typeface="Manrope"/>
                <a:ea typeface="Manrope"/>
                <a:cs typeface="Manrope"/>
              </a:defRPr>
            </a:pPr>
            <a:r>
              <a:rPr sz="1275" b="1">
                <a:solidFill>
                  <a:srgbClr val="1F2523"/>
                </a:solidFill>
                <a:latin typeface="Manrope"/>
                <a:ea typeface="Manrope"/>
                <a:cs typeface="Manrope"/>
              </a:rPr>
              <a:t>Customer collects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DC42B61-DE66-47B6-A904-8492C7654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5114925"/>
            <a:ext cx="44005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050" b="0">
                <a:solidFill>
                  <a:srgbClr val="6D7471"/>
                </a:solidFill>
                <a:latin typeface="DM Sans"/>
                <a:ea typeface="DM Sans"/>
                <a:cs typeface="DM Sans"/>
              </a:defRPr>
            </a:pPr>
            <a:r>
              <a:rPr sz="1050" b="0">
                <a:solidFill>
                  <a:srgbClr val="6D7471"/>
                </a:solidFill>
                <a:latin typeface="DM Sans"/>
                <a:ea typeface="DM Sans"/>
                <a:cs typeface="DM Sans"/>
              </a:rPr>
              <a:t>Receives the order at the agreed pickup point.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08D8F55-AAC5-4245-BFED-C7B029DEC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5753100"/>
            <a:ext cx="571500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FFF6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4FD57F3-1276-4EAF-8CB2-CFFBE420A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876925"/>
            <a:ext cx="5276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75" b="1">
                <a:solidFill>
                  <a:srgbClr val="8E621C"/>
                </a:solidFill>
                <a:latin typeface="DM Sans"/>
                <a:ea typeface="DM Sans"/>
                <a:cs typeface="DM Sans"/>
              </a:defRPr>
            </a:pPr>
            <a:r>
              <a:rPr sz="975" b="1">
                <a:solidFill>
                  <a:srgbClr val="8E621C"/>
                </a:solidFill>
                <a:latin typeface="DM Sans"/>
                <a:ea typeface="DM Sans"/>
                <a:cs typeface="DM Sans"/>
              </a:rPr>
              <a:t>Confirm pickup windows and the order-verification method used at handoff.</a:t>
            </a:r>
          </a:p>
        </p:txBody>
      </p:sp>
    </p:spTree>
    <p:extLst>
      <p:ext uri="{BB962C8B-B14F-4D97-AF65-F5344CB8AC3E}">
        <p14:creationId xmlns:p14="http://schemas.microsoft.com/office/powerpoint/2010/main" val="417735089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0dbcbd364b14eef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95300" y="409575"/>
            <a:ext cx="323850" cy="323850"/>
          </a:xfrm>
          <a:prstGeom xmlns:a="http://schemas.openxmlformats.org/drawingml/2006/main" prst="roundRect">
            <a:avLst>
              <a:gd name="adj" fmla="val 47059"/>
            </a:avLst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50C3AB9-634A-4BD9-900A-6D0CFC5FC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00050"/>
            <a:ext cx="100488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325" b="1">
                <a:solidFill>
                  <a:srgbClr val="1F2523"/>
                </a:solidFill>
                <a:latin typeface="Manrope"/>
                <a:ea typeface="Manrope"/>
                <a:cs typeface="Manrope"/>
              </a:defRPr>
            </a:pPr>
            <a:r>
              <a:rPr sz="2325" b="1">
                <a:solidFill>
                  <a:srgbClr val="1F2523"/>
                </a:solidFill>
                <a:latin typeface="Manrope"/>
                <a:ea typeface="Manrope"/>
                <a:cs typeface="Manrope"/>
              </a:rPr>
              <a:t>Delivery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0FE5ADE-EFC8-4D9C-BBA1-B9DC0521B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933450"/>
            <a:ext cx="100488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0">
                <a:solidFill>
                  <a:srgbClr val="6D7471"/>
                </a:solidFill>
                <a:latin typeface="DM Sans"/>
                <a:ea typeface="DM Sans"/>
                <a:cs typeface="DM Sans"/>
              </a:defRPr>
            </a:pPr>
            <a:r>
              <a:rPr sz="1125" b="0">
                <a:solidFill>
                  <a:srgbClr val="6D7471"/>
                </a:solidFill>
                <a:latin typeface="DM Sans"/>
                <a:ea typeface="DM Sans"/>
                <a:cs typeface="DM Sans"/>
              </a:rPr>
              <a:t>The merchant prepares the order. A Pahatud rider collects it and completes the last-mile delivery.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23B05F4-CADA-4F5D-8453-137C009EE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229350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825" b="1">
                <a:solidFill>
                  <a:srgbClr val="9B9F9D"/>
                </a:solidFill>
                <a:latin typeface="DM Sans"/>
                <a:ea typeface="DM Sans"/>
                <a:cs typeface="DM Sans"/>
              </a:defRPr>
            </a:pPr>
            <a:r>
              <a:rPr sz="825" b="1">
                <a:solidFill>
                  <a:srgbClr val="9B9F9D"/>
                </a:solidFill>
                <a:latin typeface="DM Sans"/>
                <a:ea typeface="DM Sans"/>
                <a:cs typeface="DM Sans"/>
              </a:rPr>
              <a:t>15</a:t>
            </a:r>
          </a:p>
        </p:txBody>
      </p:sp>
      <p:pic>
        <p:nvPicPr>
          <p:cNvPr id="3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16038a1f0434936"/>
          <a:srcRect xmlns:a="http://schemas.openxmlformats.org/drawingml/2006/main" l="15116" t="0" r="15116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953125" y="1447800"/>
            <a:ext cx="5715000" cy="4095750"/>
          </a:xfrm>
          <a:prstGeom xmlns:a="http://schemas.openxmlformats.org/drawingml/2006/main" prst="roundRect">
            <a:avLst>
              <a:gd name="adj" fmla="val 3721"/>
            </a:avLst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80C5D67-727B-4A8A-A745-9379408D7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476375"/>
            <a:ext cx="4000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29302D"/>
          </a:solidFill>
          <a:ln xmlns:a="http://schemas.openxmlformats.org/drawingml/2006/main" w="9525">
            <a:solidFill>
              <a:srgbClr val="29302D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1347B09-5233-4500-AFF4-65B849840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476375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 b="1">
                <a:solidFill>
                  <a:srgbClr val="FFFFFF"/>
                </a:solidFill>
                <a:latin typeface="Manrope"/>
                <a:ea typeface="Manrope"/>
                <a:cs typeface="Manrope"/>
              </a:defRPr>
            </a:pPr>
            <a:r>
              <a:rPr sz="1200" b="1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EC0D03B-210A-45C4-B7FB-E149295A0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1466850"/>
            <a:ext cx="44005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1F2523"/>
                </a:solidFill>
                <a:latin typeface="Manrope"/>
                <a:ea typeface="Manrope"/>
                <a:cs typeface="Manrope"/>
              </a:defRPr>
            </a:pPr>
            <a:r>
              <a:rPr sz="1275" b="1">
                <a:solidFill>
                  <a:srgbClr val="1F2523"/>
                </a:solidFill>
                <a:latin typeface="Manrope"/>
                <a:ea typeface="Manrope"/>
                <a:cs typeface="Manrope"/>
              </a:rPr>
              <a:t>Customer submits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7077FFD-A65D-4122-9614-1166B129E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1762125"/>
            <a:ext cx="44005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050" b="0">
                <a:solidFill>
                  <a:srgbClr val="6D7471"/>
                </a:solidFill>
                <a:latin typeface="DM Sans"/>
                <a:ea typeface="DM Sans"/>
                <a:cs typeface="DM Sans"/>
              </a:defRPr>
            </a:pPr>
            <a:r>
              <a:rPr sz="1050" b="0">
                <a:solidFill>
                  <a:srgbClr val="6D7471"/>
                </a:solidFill>
                <a:latin typeface="DM Sans"/>
                <a:ea typeface="DM Sans"/>
                <a:cs typeface="DM Sans"/>
              </a:rPr>
              <a:t>Chooses delivery, confirms the address, and places the order.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C3FF0AD-8B52-47A0-8680-F5218B084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314575"/>
            <a:ext cx="4000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29302D"/>
          </a:solidFill>
          <a:ln xmlns:a="http://schemas.openxmlformats.org/drawingml/2006/main" w="9525">
            <a:solidFill>
              <a:srgbClr val="29302D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8631667-9B69-41BB-93B2-94FBAECC5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314575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 b="1">
                <a:solidFill>
                  <a:srgbClr val="FFFFFF"/>
                </a:solidFill>
                <a:latin typeface="Manrope"/>
                <a:ea typeface="Manrope"/>
                <a:cs typeface="Manrope"/>
              </a:defRPr>
            </a:pPr>
            <a:r>
              <a:rPr sz="1200" b="1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5809127-D317-4249-9A32-9EA493E86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305050"/>
            <a:ext cx="44005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1F2523"/>
                </a:solidFill>
                <a:latin typeface="Manrope"/>
                <a:ea typeface="Manrope"/>
                <a:cs typeface="Manrope"/>
              </a:defRPr>
            </a:pPr>
            <a:r>
              <a:rPr sz="1275" b="1">
                <a:solidFill>
                  <a:srgbClr val="1F2523"/>
                </a:solidFill>
                <a:latin typeface="Manrope"/>
                <a:ea typeface="Manrope"/>
                <a:cs typeface="Manrope"/>
              </a:rPr>
              <a:t>Merchant accepts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E531DD7-A8AD-486A-808F-478D73909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600325"/>
            <a:ext cx="44005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050" b="0">
                <a:solidFill>
                  <a:srgbClr val="6D7471"/>
                </a:solidFill>
                <a:latin typeface="DM Sans"/>
                <a:ea typeface="DM Sans"/>
                <a:cs typeface="DM Sans"/>
              </a:defRPr>
            </a:pPr>
            <a:r>
              <a:rPr sz="1050" b="0">
                <a:solidFill>
                  <a:srgbClr val="6D7471"/>
                </a:solidFill>
                <a:latin typeface="DM Sans"/>
                <a:ea typeface="DM Sans"/>
                <a:cs typeface="DM Sans"/>
              </a:rPr>
              <a:t>Reviews the items and starts preparation.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41FDE30-9F64-45AA-AC7E-1E5A136C6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152775"/>
            <a:ext cx="4000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29302D"/>
          </a:solidFill>
          <a:ln xmlns:a="http://schemas.openxmlformats.org/drawingml/2006/main" w="9525">
            <a:solidFill>
              <a:srgbClr val="29302D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CC831E8-71B7-4B13-B430-9AE31F17A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152775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 b="1">
                <a:solidFill>
                  <a:srgbClr val="FFFFFF"/>
                </a:solidFill>
                <a:latin typeface="Manrope"/>
                <a:ea typeface="Manrope"/>
                <a:cs typeface="Manrope"/>
              </a:defRPr>
            </a:pPr>
            <a:r>
              <a:rPr sz="1200" b="1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9A2BBF1-BB01-4AA4-A31B-D8FAD248D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143250"/>
            <a:ext cx="44005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1F2523"/>
                </a:solidFill>
                <a:latin typeface="Manrope"/>
                <a:ea typeface="Manrope"/>
                <a:cs typeface="Manrope"/>
              </a:defRPr>
            </a:pPr>
            <a:r>
              <a:rPr sz="1275" b="1">
                <a:solidFill>
                  <a:srgbClr val="1F2523"/>
                </a:solidFill>
                <a:latin typeface="Manrope"/>
                <a:ea typeface="Manrope"/>
                <a:cs typeface="Manrope"/>
              </a:rPr>
              <a:t>Merchant marks ready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F1F1D48-1378-4715-B38F-9A487883D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438525"/>
            <a:ext cx="44005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050" b="0">
                <a:solidFill>
                  <a:srgbClr val="6D7471"/>
                </a:solidFill>
                <a:latin typeface="DM Sans"/>
                <a:ea typeface="DM Sans"/>
                <a:cs typeface="DM Sans"/>
              </a:defRPr>
            </a:pPr>
            <a:r>
              <a:rPr sz="1050" b="0">
                <a:solidFill>
                  <a:srgbClr val="6D7471"/>
                </a:solidFill>
                <a:latin typeface="DM Sans"/>
                <a:ea typeface="DM Sans"/>
                <a:cs typeface="DM Sans"/>
              </a:rPr>
              <a:t>Seals the order and signals that it is ready for pickup.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8070269-2D50-45C7-AB03-625CE6375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990975"/>
            <a:ext cx="4000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43B35"/>
          </a:solidFill>
          <a:ln xmlns:a="http://schemas.openxmlformats.org/drawingml/2006/main" w="9525">
            <a:solidFill>
              <a:srgbClr val="F43B35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44EACFF-2851-4562-B116-2BA62A36C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990975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 b="1">
                <a:solidFill>
                  <a:srgbClr val="FFFFFF"/>
                </a:solidFill>
                <a:latin typeface="Manrope"/>
                <a:ea typeface="Manrope"/>
                <a:cs typeface="Manrope"/>
              </a:defRPr>
            </a:pPr>
            <a:r>
              <a:rPr sz="1200" b="1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04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BB796E3-9CFC-4D71-8B1D-77139907C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981450"/>
            <a:ext cx="44005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1F2523"/>
                </a:solidFill>
                <a:latin typeface="Manrope"/>
                <a:ea typeface="Manrope"/>
                <a:cs typeface="Manrope"/>
              </a:defRPr>
            </a:pPr>
            <a:r>
              <a:rPr sz="1275" b="1">
                <a:solidFill>
                  <a:srgbClr val="1F2523"/>
                </a:solidFill>
                <a:latin typeface="Manrope"/>
                <a:ea typeface="Manrope"/>
                <a:cs typeface="Manrope"/>
              </a:rPr>
              <a:t>Rider collects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4B4A777-3ACF-470B-B53F-B12BF222A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276725"/>
            <a:ext cx="44005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050" b="0">
                <a:solidFill>
                  <a:srgbClr val="6D7471"/>
                </a:solidFill>
                <a:latin typeface="DM Sans"/>
                <a:ea typeface="DM Sans"/>
                <a:cs typeface="DM Sans"/>
              </a:defRPr>
            </a:pPr>
            <a:r>
              <a:rPr sz="1050" b="0">
                <a:solidFill>
                  <a:srgbClr val="6D7471"/>
                </a:solidFill>
                <a:latin typeface="DM Sans"/>
                <a:ea typeface="DM Sans"/>
                <a:cs typeface="DM Sans"/>
              </a:rPr>
              <a:t>Receives the order from the merchant and verifies the handoff.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EA72C7C-F6BF-43E8-9200-4CCB80F9E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829175"/>
            <a:ext cx="4000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29302D"/>
          </a:solidFill>
          <a:ln xmlns:a="http://schemas.openxmlformats.org/drawingml/2006/main" w="9525">
            <a:solidFill>
              <a:srgbClr val="29302D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9602195-3DCD-4210-AC6C-E97268F48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829175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 b="1">
                <a:solidFill>
                  <a:srgbClr val="FFFFFF"/>
                </a:solidFill>
                <a:latin typeface="Manrope"/>
                <a:ea typeface="Manrope"/>
                <a:cs typeface="Manrope"/>
              </a:defRPr>
            </a:pPr>
            <a:r>
              <a:rPr sz="1200" b="1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05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1435645-F442-4C90-8CAC-C13444700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819650"/>
            <a:ext cx="44005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1F2523"/>
                </a:solidFill>
                <a:latin typeface="Manrope"/>
                <a:ea typeface="Manrope"/>
                <a:cs typeface="Manrope"/>
              </a:defRPr>
            </a:pPr>
            <a:r>
              <a:rPr sz="1275" b="1">
                <a:solidFill>
                  <a:srgbClr val="1F2523"/>
                </a:solidFill>
                <a:latin typeface="Manrope"/>
                <a:ea typeface="Manrope"/>
                <a:cs typeface="Manrope"/>
              </a:rPr>
              <a:t>Rider delivers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8D3A7EB-2558-4D5A-9620-CBDC5E300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5114925"/>
            <a:ext cx="44005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050" b="0">
                <a:solidFill>
                  <a:srgbClr val="6D7471"/>
                </a:solidFill>
                <a:latin typeface="DM Sans"/>
                <a:ea typeface="DM Sans"/>
                <a:cs typeface="DM Sans"/>
              </a:defRPr>
            </a:pPr>
            <a:r>
              <a:rPr sz="1050" b="0">
                <a:solidFill>
                  <a:srgbClr val="6D7471"/>
                </a:solidFill>
                <a:latin typeface="DM Sans"/>
                <a:ea typeface="DM Sans"/>
                <a:cs typeface="DM Sans"/>
              </a:rPr>
              <a:t>Transports the order to the customer’s address.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20AA2C1-74B2-4AA5-8927-126DAF68E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5753100"/>
            <a:ext cx="571500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FFF6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0CBA914-4A47-4816-AD53-AB2128153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5876925"/>
            <a:ext cx="5276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75" b="1">
                <a:solidFill>
                  <a:srgbClr val="8E621C"/>
                </a:solidFill>
                <a:latin typeface="DM Sans"/>
                <a:ea typeface="DM Sans"/>
                <a:cs typeface="DM Sans"/>
              </a:defRPr>
            </a:pPr>
            <a:r>
              <a:rPr sz="975" b="1">
                <a:solidFill>
                  <a:srgbClr val="8E621C"/>
                </a:solidFill>
                <a:latin typeface="DM Sans"/>
                <a:ea typeface="DM Sans"/>
                <a:cs typeface="DM Sans"/>
              </a:rPr>
              <a:t>Confirm delivery-fee calculation, rider assignment, proof of delivery, and exception handling.</a:t>
            </a:r>
          </a:p>
        </p:txBody>
      </p:sp>
    </p:spTree>
    <p:extLst>
      <p:ext uri="{BB962C8B-B14F-4D97-AF65-F5344CB8AC3E}">
        <p14:creationId xmlns:p14="http://schemas.microsoft.com/office/powerpoint/2010/main" val="55258353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43B3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13AE25F-11AA-4EAD-B9C3-216F5D8A7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09575"/>
            <a:ext cx="3238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E5CB19E-A217-4E33-A09E-207FAEE16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09575"/>
            <a:ext cx="285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425" b="1">
                <a:solidFill>
                  <a:srgbClr val="F43B35"/>
                </a:solidFill>
                <a:latin typeface="Manrope"/>
                <a:ea typeface="Manrope"/>
                <a:cs typeface="Manrope"/>
              </a:defRPr>
            </a:pPr>
            <a:r>
              <a:rPr sz="1425" b="1">
                <a:solidFill>
                  <a:srgbClr val="F43B35"/>
                </a:solidFill>
                <a:latin typeface="Manrope"/>
                <a:ea typeface="Manrope"/>
                <a:cs typeface="Manrope"/>
              </a:rPr>
              <a:t>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6D345B9-046B-490F-B6FE-CF3CF03BC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00050"/>
            <a:ext cx="100488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325" b="1">
                <a:solidFill>
                  <a:srgbClr val="FFFFFF"/>
                </a:solidFill>
                <a:latin typeface="Manrope"/>
                <a:ea typeface="Manrope"/>
                <a:cs typeface="Manrope"/>
              </a:defRPr>
            </a:pPr>
            <a:r>
              <a:rPr sz="2325" b="1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Before launch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D507EDF-8AE4-4464-B0EA-04593B0A8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933450"/>
            <a:ext cx="100488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0">
                <a:solidFill>
                  <a:srgbClr val="FFE7E4"/>
                </a:solidFill>
                <a:latin typeface="DM Sans"/>
                <a:ea typeface="DM Sans"/>
                <a:cs typeface="DM Sans"/>
              </a:defRPr>
            </a:pPr>
            <a:r>
              <a:rPr sz="1125" b="0">
                <a:solidFill>
                  <a:srgbClr val="FFE7E4"/>
                </a:solidFill>
                <a:latin typeface="DM Sans"/>
                <a:ea typeface="DM Sans"/>
                <a:cs typeface="DM Sans"/>
              </a:rPr>
              <a:t>Resolve the commercial details, complete the dashboard setup, and test each activated service mode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02D8F13-4EAF-45B9-A8DF-442F97543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229350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825" b="1">
                <a:solidFill>
                  <a:srgbClr val="FFE7E4"/>
                </a:solidFill>
                <a:latin typeface="DM Sans"/>
                <a:ea typeface="DM Sans"/>
                <a:cs typeface="DM Sans"/>
              </a:defRPr>
            </a:pPr>
            <a:r>
              <a:rPr sz="825" b="1">
                <a:solidFill>
                  <a:srgbClr val="FFE7E4"/>
                </a:solidFill>
                <a:latin typeface="DM Sans"/>
                <a:ea typeface="DM Sans"/>
                <a:cs typeface="DM Sans"/>
              </a:rPr>
              <a:t>16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C08F84A-2352-4558-858E-E14CE9695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581150"/>
            <a:ext cx="5286375" cy="3905250"/>
          </a:xfrm>
          <a:prstGeom xmlns:a="http://schemas.openxmlformats.org/drawingml/2006/main" prst="roundRect">
            <a:avLst>
              <a:gd name="adj" fmla="val 195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A4F2E83-45AC-49EF-9B6B-2ECF8D957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1581150"/>
            <a:ext cx="5286375" cy="3905250"/>
          </a:xfrm>
          <a:prstGeom xmlns:a="http://schemas.openxmlformats.org/drawingml/2006/main" prst="roundRect">
            <a:avLst>
              <a:gd name="adj" fmla="val 1951"/>
            </a:avLst>
          </a:prstGeom>
          <a:solidFill xmlns:a="http://schemas.openxmlformats.org/drawingml/2006/main">
            <a:srgbClr val="FFF7EF"/>
          </a:solidFill>
          <a:ln xmlns:a="http://schemas.openxmlformats.org/drawingml/2006/main" w="9525">
            <a:solidFill>
              <a:srgbClr val="FFF7E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8917025-4AFF-4ED2-89EF-0009712B6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1876425"/>
            <a:ext cx="447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725" b="1">
                <a:solidFill>
                  <a:srgbClr val="1F2523"/>
                </a:solidFill>
                <a:latin typeface="Manrope"/>
                <a:ea typeface="Manrope"/>
                <a:cs typeface="Manrope"/>
              </a:defRPr>
            </a:pPr>
            <a:r>
              <a:rPr sz="1725" b="1">
                <a:solidFill>
                  <a:srgbClr val="1F2523"/>
                </a:solidFill>
                <a:latin typeface="Manrope"/>
                <a:ea typeface="Manrope"/>
                <a:cs typeface="Manrope"/>
              </a:rPr>
              <a:t>Merchant readiness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A370CD2-E981-449B-A2DA-557D7188B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28875"/>
            <a:ext cx="4476750" cy="2400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254000" indent="-127000" algn="l">
              <a:lnSpc>
                <a:spcPct val="105000"/>
              </a:lnSpc>
              <a:spcAft>
                <a:spcPts val="1400"/>
              </a:spcAft>
              <a:buNone/>
              <a:defRPr sz="1275" b="0">
                <a:solidFill>
                  <a:srgbClr val="1F2523"/>
                </a:solidFill>
                <a:latin typeface="DM Sans"/>
                <a:ea typeface="DM Sans"/>
                <a:cs typeface="DM Sans"/>
              </a:defRPr>
            </a:pPr>
            <a:r>
              <a:rPr sz="1275" b="0">
                <a:solidFill>
                  <a:srgbClr val="1F2523"/>
                </a:solidFill>
                <a:latin typeface="DM Sans"/>
                <a:ea typeface="DM Sans"/>
                <a:cs typeface="DM Sans"/>
              </a:rPr>
              <a:t>Business profile and branch details are current</a:t>
            </a:r>
          </a:p>
          <a:p xmlns:a="http://schemas.openxmlformats.org/drawingml/2006/main">
            <a:pPr marL="254000" indent="-127000" algn="l">
              <a:lnSpc>
                <a:spcPct val="105000"/>
              </a:lnSpc>
              <a:spcAft>
                <a:spcPts val="1400"/>
              </a:spcAft>
              <a:buNone/>
              <a:defRPr sz="1275" b="0">
                <a:solidFill>
                  <a:srgbClr val="1F2523"/>
                </a:solidFill>
                <a:latin typeface="DM Sans"/>
                <a:ea typeface="DM Sans"/>
                <a:cs typeface="DM Sans"/>
              </a:defRPr>
            </a:pPr>
            <a:r>
              <a:rPr sz="1275" b="0">
                <a:solidFill>
                  <a:srgbClr val="1F2523"/>
                </a:solidFill>
                <a:latin typeface="DM Sans"/>
                <a:ea typeface="DM Sans"/>
                <a:cs typeface="DM Sans"/>
              </a:rPr>
              <a:t>Menu, prices, add-ons, and availability are complete</a:t>
            </a:r>
          </a:p>
          <a:p xmlns:a="http://schemas.openxmlformats.org/drawingml/2006/main">
            <a:pPr marL="254000" indent="-127000" algn="l">
              <a:lnSpc>
                <a:spcPct val="105000"/>
              </a:lnSpc>
              <a:spcAft>
                <a:spcPts val="1400"/>
              </a:spcAft>
              <a:buNone/>
              <a:defRPr sz="1275" b="0">
                <a:solidFill>
                  <a:srgbClr val="1F2523"/>
                </a:solidFill>
                <a:latin typeface="DM Sans"/>
                <a:ea typeface="DM Sans"/>
                <a:cs typeface="DM Sans"/>
              </a:defRPr>
            </a:pPr>
            <a:r>
              <a:rPr sz="1275" b="0">
                <a:solidFill>
                  <a:srgbClr val="1F2523"/>
                </a:solidFill>
                <a:latin typeface="DM Sans"/>
                <a:ea typeface="DM Sans"/>
                <a:cs typeface="DM Sans"/>
              </a:rPr>
              <a:t>Operating hours and service modes are set</a:t>
            </a:r>
          </a:p>
          <a:p xmlns:a="http://schemas.openxmlformats.org/drawingml/2006/main">
            <a:pPr marL="254000" indent="-127000" algn="l">
              <a:lnSpc>
                <a:spcPct val="105000"/>
              </a:lnSpc>
              <a:spcAft>
                <a:spcPts val="1400"/>
              </a:spcAft>
              <a:buNone/>
              <a:defRPr sz="1275" b="0">
                <a:solidFill>
                  <a:srgbClr val="1F2523"/>
                </a:solidFill>
                <a:latin typeface="DM Sans"/>
                <a:ea typeface="DM Sans"/>
                <a:cs typeface="DM Sans"/>
              </a:defRPr>
            </a:pPr>
            <a:r>
              <a:rPr sz="1275" b="0">
                <a:solidFill>
                  <a:srgbClr val="1F2523"/>
                </a:solidFill>
                <a:latin typeface="DM Sans"/>
                <a:ea typeface="DM Sans"/>
                <a:cs typeface="DM Sans"/>
              </a:rPr>
              <a:t>Contact and payout information are verified</a:t>
            </a:r>
          </a:p>
          <a:p xmlns:a="http://schemas.openxmlformats.org/drawingml/2006/main">
            <a:pPr marL="254000" indent="-127000" algn="l">
              <a:lnSpc>
                <a:spcPct val="105000"/>
              </a:lnSpc>
              <a:spcAft>
                <a:spcPts val="1400"/>
              </a:spcAft>
              <a:buNone/>
              <a:defRPr sz="1275" b="0">
                <a:solidFill>
                  <a:srgbClr val="1F2523"/>
                </a:solidFill>
                <a:latin typeface="DM Sans"/>
                <a:ea typeface="DM Sans"/>
                <a:cs typeface="DM Sans"/>
              </a:defRPr>
            </a:pPr>
            <a:r>
              <a:rPr sz="1275" b="0">
                <a:solidFill>
                  <a:srgbClr val="1F2523"/>
                </a:solidFill>
                <a:latin typeface="DM Sans"/>
                <a:ea typeface="DM Sans"/>
                <a:cs typeface="DM Sans"/>
              </a:rPr>
              <a:t>Team completes a test order for each active service mode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DEC1D42-6247-481B-B741-AFB32F2C2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38925" y="1876425"/>
            <a:ext cx="447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725" b="1">
                <a:solidFill>
                  <a:srgbClr val="1F2523"/>
                </a:solidFill>
                <a:latin typeface="Manrope"/>
                <a:ea typeface="Manrope"/>
                <a:cs typeface="Manrope"/>
              </a:defRPr>
            </a:pPr>
            <a:r>
              <a:rPr sz="1725" b="1">
                <a:solidFill>
                  <a:srgbClr val="1F2523"/>
                </a:solidFill>
                <a:latin typeface="Manrope"/>
                <a:ea typeface="Manrope"/>
                <a:cs typeface="Manrope"/>
              </a:rPr>
              <a:t>Pahatud confirmations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68690DB-943D-4645-9B97-25E0802B0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428875"/>
            <a:ext cx="4476750" cy="2400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254000" indent="-127000" algn="l">
              <a:lnSpc>
                <a:spcPct val="105000"/>
              </a:lnSpc>
              <a:spcAft>
                <a:spcPts val="1400"/>
              </a:spcAft>
              <a:buNone/>
              <a:defRPr sz="1275" b="0">
                <a:solidFill>
                  <a:srgbClr val="1F2523"/>
                </a:solidFill>
                <a:latin typeface="DM Sans"/>
                <a:ea typeface="DM Sans"/>
                <a:cs typeface="DM Sans"/>
              </a:defRPr>
            </a:pPr>
            <a:r>
              <a:rPr sz="1275" b="0">
                <a:solidFill>
                  <a:srgbClr val="1F2523"/>
                </a:solidFill>
                <a:latin typeface="DM Sans"/>
                <a:ea typeface="DM Sans"/>
                <a:cs typeface="DM Sans"/>
              </a:rPr>
              <a:t>Final commission rate and eligible subtotal definition</a:t>
            </a:r>
          </a:p>
          <a:p xmlns:a="http://schemas.openxmlformats.org/drawingml/2006/main">
            <a:pPr marL="254000" indent="-127000" algn="l">
              <a:lnSpc>
                <a:spcPct val="105000"/>
              </a:lnSpc>
              <a:spcAft>
                <a:spcPts val="1400"/>
              </a:spcAft>
              <a:buNone/>
              <a:defRPr sz="1275" b="0">
                <a:solidFill>
                  <a:srgbClr val="1F2523"/>
                </a:solidFill>
                <a:latin typeface="DM Sans"/>
                <a:ea typeface="DM Sans"/>
                <a:cs typeface="DM Sans"/>
              </a:defRPr>
            </a:pPr>
            <a:r>
              <a:rPr sz="1275" b="0">
                <a:solidFill>
                  <a:srgbClr val="1F2523"/>
                </a:solidFill>
                <a:latin typeface="DM Sans"/>
                <a:ea typeface="DM Sans"/>
                <a:cs typeface="DM Sans"/>
              </a:rPr>
              <a:t>Discount and voucher funding rules</a:t>
            </a:r>
          </a:p>
          <a:p xmlns:a="http://schemas.openxmlformats.org/drawingml/2006/main">
            <a:pPr marL="254000" indent="-127000" algn="l">
              <a:lnSpc>
                <a:spcPct val="105000"/>
              </a:lnSpc>
              <a:spcAft>
                <a:spcPts val="1400"/>
              </a:spcAft>
              <a:buNone/>
              <a:defRPr sz="1275" b="0">
                <a:solidFill>
                  <a:srgbClr val="1F2523"/>
                </a:solidFill>
                <a:latin typeface="DM Sans"/>
                <a:ea typeface="DM Sans"/>
                <a:cs typeface="DM Sans"/>
              </a:defRPr>
            </a:pPr>
            <a:r>
              <a:rPr sz="1275" b="0">
                <a:solidFill>
                  <a:srgbClr val="1F2523"/>
                </a:solidFill>
                <a:latin typeface="DM Sans"/>
                <a:ea typeface="DM Sans"/>
                <a:cs typeface="DM Sans"/>
              </a:rPr>
              <a:t>Delivery-fee and other customer-charge treatment</a:t>
            </a:r>
          </a:p>
          <a:p xmlns:a="http://schemas.openxmlformats.org/drawingml/2006/main">
            <a:pPr marL="254000" indent="-127000" algn="l">
              <a:lnSpc>
                <a:spcPct val="105000"/>
              </a:lnSpc>
              <a:spcAft>
                <a:spcPts val="1400"/>
              </a:spcAft>
              <a:buNone/>
              <a:defRPr sz="1275" b="0">
                <a:solidFill>
                  <a:srgbClr val="1F2523"/>
                </a:solidFill>
                <a:latin typeface="DM Sans"/>
                <a:ea typeface="DM Sans"/>
                <a:cs typeface="DM Sans"/>
              </a:defRPr>
            </a:pPr>
            <a:r>
              <a:rPr sz="1275" b="0">
                <a:solidFill>
                  <a:srgbClr val="1F2523"/>
                </a:solidFill>
                <a:latin typeface="DM Sans"/>
                <a:ea typeface="DM Sans"/>
                <a:cs typeface="DM Sans"/>
              </a:rPr>
              <a:t>Payout schedule, refunds, and settlement adjustments</a:t>
            </a:r>
          </a:p>
          <a:p xmlns:a="http://schemas.openxmlformats.org/drawingml/2006/main">
            <a:pPr marL="254000" indent="-127000" algn="l">
              <a:lnSpc>
                <a:spcPct val="105000"/>
              </a:lnSpc>
              <a:spcAft>
                <a:spcPts val="1400"/>
              </a:spcAft>
              <a:buNone/>
              <a:defRPr sz="1275" b="0">
                <a:solidFill>
                  <a:srgbClr val="1F2523"/>
                </a:solidFill>
                <a:latin typeface="DM Sans"/>
                <a:ea typeface="DM Sans"/>
                <a:cs typeface="DM Sans"/>
              </a:defRPr>
            </a:pPr>
            <a:r>
              <a:rPr sz="1275" b="0">
                <a:solidFill>
                  <a:srgbClr val="1F2523"/>
                </a:solidFill>
                <a:latin typeface="DM Sans"/>
                <a:ea typeface="DM Sans"/>
                <a:cs typeface="DM Sans"/>
              </a:rPr>
              <a:t>Support contacts and escalation process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B6F1542-AA36-4F9E-B709-984AAB202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791200"/>
            <a:ext cx="1524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>
                <a:solidFill>
                  <a:srgbClr val="FFE6E3"/>
                </a:solidFill>
                <a:latin typeface="DM Sans"/>
                <a:ea typeface="DM Sans"/>
                <a:cs typeface="DM Sans"/>
              </a:defRPr>
            </a:pPr>
            <a:r>
              <a:rPr sz="975" b="1">
                <a:solidFill>
                  <a:srgbClr val="FFE6E3"/>
                </a:solidFill>
                <a:latin typeface="DM Sans"/>
                <a:ea typeface="DM Sans"/>
                <a:cs typeface="DM Sans"/>
              </a:rPr>
              <a:t>Merchant support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5C7BC03-BFED-4013-8AF8-DBBE321E2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5781675"/>
            <a:ext cx="4953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1">
                <a:solidFill>
                  <a:srgbClr val="FFFFFF"/>
                </a:solidFill>
                <a:latin typeface="DM Sans"/>
                <a:ea typeface="DM Sans"/>
                <a:cs typeface="DM Sans"/>
              </a:defRPr>
            </a:pPr>
            <a:r>
              <a:rPr sz="1200" b="1">
                <a:solidFill>
                  <a:srgbClr val="FFFFFF"/>
                </a:solidFill>
                <a:latin typeface="DM Sans"/>
                <a:ea typeface="DM Sans"/>
                <a:cs typeface="DM Sans"/>
              </a:rPr>
              <a:t>info@pahatud.com   +63 916 298 6547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6B3EF82-7B76-4DFA-BCDF-619A2D39B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5781675"/>
            <a:ext cx="47910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275" b="1">
                <a:solidFill>
                  <a:srgbClr val="FFFFFF"/>
                </a:solidFill>
                <a:latin typeface="Manrope"/>
                <a:ea typeface="Manrope"/>
                <a:cs typeface="Manrope"/>
              </a:defRPr>
            </a:pPr>
            <a:r>
              <a:rPr sz="1275" b="1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Agree the policy. Activate the dashboard. Run the test orders.</a:t>
            </a:r>
          </a:p>
        </p:txBody>
      </p:sp>
    </p:spTree>
    <p:extLst>
      <p:ext uri="{BB962C8B-B14F-4D97-AF65-F5344CB8AC3E}">
        <p14:creationId xmlns:p14="http://schemas.microsoft.com/office/powerpoint/2010/main" val="23598847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2026-10-07T02:22:25.3720000Z</dcterms:created>
  <dcterms:modified xsi:type="dcterms:W3CDTF">2026-10-07T02:22:25.3720000Z</dcterms:modified>
</coreProperties>
</file>