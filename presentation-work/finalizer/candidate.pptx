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0a3f867fa444e" /><Relationship Type="http://schemas.openxmlformats.org/officeDocument/2006/relationships/extended-properties" Target="/docProps/app.xml" Id="Rf7a041e83c7d4ecc" /><Relationship Type="http://schemas.openxmlformats.org/officeDocument/2006/relationships/officeDocument" Target="/ppt/presentation.xml" Id="R7f05f10e7bc246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96ed23bd84dff"/>
  </p:sldMasterIdLst>
  <p:notesMasterIdLst>
    <p:notesMasterId xmlns:r="http://schemas.openxmlformats.org/officeDocument/2006/relationships" r:id="R1c75b2043ce342f6"/>
  </p:notesMasterIdLst>
  <p:sldIdLst>
    <p:sldId xmlns:r="http://schemas.openxmlformats.org/officeDocument/2006/relationships" id="256" r:id="R2c84e4b287b044e0"/>
    <p:sldId xmlns:r="http://schemas.openxmlformats.org/officeDocument/2006/relationships" id="257" r:id="Rd82f37208e1846d0"/>
    <p:sldId xmlns:r="http://schemas.openxmlformats.org/officeDocument/2006/relationships" id="258" r:id="R2e62dfb7c8a54494"/>
    <p:sldId xmlns:r="http://schemas.openxmlformats.org/officeDocument/2006/relationships" id="259" r:id="R23d5d75f11884d7f"/>
    <p:sldId xmlns:r="http://schemas.openxmlformats.org/officeDocument/2006/relationships" id="260" r:id="R0c3bcab2289d4518"/>
    <p:sldId xmlns:r="http://schemas.openxmlformats.org/officeDocument/2006/relationships" id="261" r:id="R4098c9a3a5e446d3"/>
    <p:sldId xmlns:r="http://schemas.openxmlformats.org/officeDocument/2006/relationships" id="262" r:id="Rdfd2eef4ffd6438c"/>
    <p:sldId xmlns:r="http://schemas.openxmlformats.org/officeDocument/2006/relationships" id="263" r:id="Rc7dbfdf74dea4356"/>
    <p:sldId xmlns:r="http://schemas.openxmlformats.org/officeDocument/2006/relationships" id="264" r:id="R3a1f91ede25e4689"/>
    <p:sldId xmlns:r="http://schemas.openxmlformats.org/officeDocument/2006/relationships" id="265" r:id="R8b784a103fa14ada"/>
    <p:sldId xmlns:r="http://schemas.openxmlformats.org/officeDocument/2006/relationships" id="266" r:id="Rdacd223d4ab24f94"/>
    <p:sldId xmlns:r="http://schemas.openxmlformats.org/officeDocument/2006/relationships" id="267" r:id="Rad7228f533a5431f"/>
    <p:sldId xmlns:r="http://schemas.openxmlformats.org/officeDocument/2006/relationships" id="268" r:id="Rf59a1af1b1314c28"/>
    <p:sldId xmlns:r="http://schemas.openxmlformats.org/officeDocument/2006/relationships" id="269" r:id="R5dc75014b9034df9"/>
    <p:sldId xmlns:r="http://schemas.openxmlformats.org/officeDocument/2006/relationships" id="270" r:id="R42781cbba4444fd5"/>
    <p:sldId xmlns:r="http://schemas.openxmlformats.org/officeDocument/2006/relationships" id="271" r:id="R0101e782b696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31c625dc54225" /><Relationship Type="http://schemas.openxmlformats.org/officeDocument/2006/relationships/slideMaster" Target="/ppt/slideMasters/slideMaster1.xml" Id="Ra4496ed23bd84dff" /><Relationship Type="http://schemas.openxmlformats.org/officeDocument/2006/relationships/notesMaster" Target="/ppt/notesMasters/notesMaster1.xml" Id="R1c75b2043ce342f6" /><Relationship Type="http://schemas.openxmlformats.org/officeDocument/2006/relationships/presProps" Target="/ppt/presProps.xml" Id="Ref5de323f4664fb9" /><Relationship Type="http://schemas.openxmlformats.org/officeDocument/2006/relationships/tableStyles" Target="/ppt/tableStyles.xml" Id="R8bea358f66c44540" /><Relationship Type="http://schemas.openxmlformats.org/officeDocument/2006/relationships/slide" Target="/ppt/slides/slide1.xml" Id="R2c84e4b287b044e0" /><Relationship Type="http://schemas.openxmlformats.org/officeDocument/2006/relationships/slide" Target="/ppt/slides/slide2.xml" Id="Rd82f37208e1846d0" /><Relationship Type="http://schemas.openxmlformats.org/officeDocument/2006/relationships/slide" Target="/ppt/slides/slide3.xml" Id="R2e62dfb7c8a54494" /><Relationship Type="http://schemas.openxmlformats.org/officeDocument/2006/relationships/slide" Target="/ppt/slides/slide4.xml" Id="R23d5d75f11884d7f" /><Relationship Type="http://schemas.openxmlformats.org/officeDocument/2006/relationships/slide" Target="/ppt/slides/slide5.xml" Id="R0c3bcab2289d4518" /><Relationship Type="http://schemas.openxmlformats.org/officeDocument/2006/relationships/slide" Target="/ppt/slides/slide6.xml" Id="R4098c9a3a5e446d3" /><Relationship Type="http://schemas.openxmlformats.org/officeDocument/2006/relationships/slide" Target="/ppt/slides/slide7.xml" Id="Rdfd2eef4ffd6438c" /><Relationship Type="http://schemas.openxmlformats.org/officeDocument/2006/relationships/slide" Target="/ppt/slides/slide8.xml" Id="Rc7dbfdf74dea4356" /><Relationship Type="http://schemas.openxmlformats.org/officeDocument/2006/relationships/slide" Target="/ppt/slides/slide9.xml" Id="R3a1f91ede25e4689" /><Relationship Type="http://schemas.openxmlformats.org/officeDocument/2006/relationships/slide" Target="/ppt/slides/slide10.xml" Id="R8b784a103fa14ada" /><Relationship Type="http://schemas.openxmlformats.org/officeDocument/2006/relationships/slide" Target="/ppt/slides/slide11.xml" Id="Rdacd223d4ab24f94" /><Relationship Type="http://schemas.openxmlformats.org/officeDocument/2006/relationships/slide" Target="/ppt/slides/slide12.xml" Id="Rad7228f533a5431f" /><Relationship Type="http://schemas.openxmlformats.org/officeDocument/2006/relationships/slide" Target="/ppt/slides/slide13.xml" Id="Rf59a1af1b1314c28" /><Relationship Type="http://schemas.openxmlformats.org/officeDocument/2006/relationships/slide" Target="/ppt/slides/slide14.xml" Id="R5dc75014b9034df9" /><Relationship Type="http://schemas.openxmlformats.org/officeDocument/2006/relationships/slide" Target="/ppt/slides/slide15.xml" Id="R42781cbba4444fd5" /><Relationship Type="http://schemas.openxmlformats.org/officeDocument/2006/relationships/slide" Target="/ppt/slides/slide16.xml" Id="R0101e782b696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26f06cc92246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f6db5776e4023" /><Relationship Type="http://schemas.openxmlformats.org/officeDocument/2006/relationships/notesMaster" Target="/ppt/notesMasters/notesMaster1.xml" Id="R1467cc29fb8a4a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08fffc2b442f4" /><Relationship Type="http://schemas.openxmlformats.org/officeDocument/2006/relationships/notesMaster" Target="/ppt/notesMasters/notesMaster1.xml" Id="R616153fbf523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fab5272bb4c3c" /><Relationship Type="http://schemas.openxmlformats.org/officeDocument/2006/relationships/notesMaster" Target="/ppt/notesMasters/notesMaster1.xml" Id="R13118de645f4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b1d6fb3e749d1" /><Relationship Type="http://schemas.openxmlformats.org/officeDocument/2006/relationships/notesMaster" Target="/ppt/notesMasters/notesMaster1.xml" Id="Rf690e523effb41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0a33350b34080" /><Relationship Type="http://schemas.openxmlformats.org/officeDocument/2006/relationships/notesMaster" Target="/ppt/notesMasters/notesMaster1.xml" Id="Rf9d35c0d502240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7e8536e9534bac" /><Relationship Type="http://schemas.openxmlformats.org/officeDocument/2006/relationships/notesMaster" Target="/ppt/notesMasters/notesMaster1.xml" Id="R8283b8a4aa8f40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4abbf1b85e4b64" /><Relationship Type="http://schemas.openxmlformats.org/officeDocument/2006/relationships/notesMaster" Target="/ppt/notesMasters/notesMaster1.xml" Id="R421ef02cda6e4a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afa785d60447f1" /><Relationship Type="http://schemas.openxmlformats.org/officeDocument/2006/relationships/notesMaster" Target="/ppt/notesMasters/notesMaster1.xml" Id="R34415e76b3a44c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feecea4bd347cb" /><Relationship Type="http://schemas.openxmlformats.org/officeDocument/2006/relationships/notesMaster" Target="/ppt/notesMasters/notesMaster1.xml" Id="Rd21c565fa84a41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8a55fe1e8047a6" /><Relationship Type="http://schemas.openxmlformats.org/officeDocument/2006/relationships/notesMaster" Target="/ppt/notesMasters/notesMaster1.xml" Id="Ra69b4c8fb43049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c2de24672b4efb" /><Relationship Type="http://schemas.openxmlformats.org/officeDocument/2006/relationships/notesMaster" Target="/ppt/notesMasters/notesMaster1.xml" Id="R2d21c9b26d4844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f36f6de3a04755" /><Relationship Type="http://schemas.openxmlformats.org/officeDocument/2006/relationships/notesMaster" Target="/ppt/notesMasters/notesMaster1.xml" Id="R62677149499142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ed8d772b484000" /><Relationship Type="http://schemas.openxmlformats.org/officeDocument/2006/relationships/notesMaster" Target="/ppt/notesMasters/notesMaster1.xml" Id="Rc996ee2d172141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60c155ff7b4058" /><Relationship Type="http://schemas.openxmlformats.org/officeDocument/2006/relationships/notesMaster" Target="/ppt/notesMasters/notesMaster1.xml" Id="Rc8f27b8a68614a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fc352a4f1843ff" /><Relationship Type="http://schemas.openxmlformats.org/officeDocument/2006/relationships/notesMaster" Target="/ppt/notesMasters/notesMaster1.xml" Id="R1792f4c556504a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89cc83a5104c5e" /><Relationship Type="http://schemas.openxmlformats.org/officeDocument/2006/relationships/notesMaster" Target="/ppt/notesMasters/notesMaster1.xml" Id="R702fd2268a6f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Brand and layout reference: Pahatud_Agent_Orientation_2026-09-29_v3 (1).pptx. Hero illustration generated for this presentation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public/images/app-preview/home.png; public/images/app-preview/restaurants.png; resources/views/merchant/partials/documentation.blade.php; routes/web.php merchant dashboard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resources/views/merchant/partials/documentation.blade.php; routes/web.php merchant routes; resources/views/merchant/pages/application.blade.php.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 states a straightforward 15% commission confirmed before activation. app/Http/Controllers/Api/Merchant/ItemController.php stores commission from item price and the merchant percentage. Examples are arithmetic illustrations, not contract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resources/views/pages/home.blade.php; app/Model/Cart.php; app/Http/Controllers/Api/Merchant/ItemController.php. Arithmetic: ₱1,000 × 15% = ₱150; ₱1,000 − ₱150 = ₱850.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app/Model/Cart.php cartItemAmounts(); app/Http/Controllers/Api/Merchant/ItemController.php; resources/js/components/merchant/pages/report/OrderListComponent.vue. Items marked Needs confirmation are intentionally unresolved because the supplied materials do not define a final commercial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resources/js/components/merchant/pages/orders/SummaryComponent.vue; app/Http/Controllers/Api/Merchant/OrderController.php. Screenshot is a presentation preview based on the current UI code and uses sample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resources/js/components/merchant/pages/report/OrderListComponent.vue; routes/merchant.php; resources/views/merchant/partials/documentation.blade.php. Screenshot uses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app/Http/Controllers/Api/Merchant/ItemController.php; resources/js/components/merchant/pages/products/ViewComponent.vue; app/Products.php. Screenshot uses sample menu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resources/js/components/merchant/pages/orders/SummaryComponent.vue; app/Http/Controllers/Api/Merchant/OrderController.php; resources/views/merchant/pages/reports/today.blade.php. The screenshot is reused here because the same merchant dashboard is the source for the sales and earnings view; data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resources/views/merchant/partials/documentation.blade.php; resources/js/components/merchant/pages/profile/ViewComponent.vue; routes/web.php. Screenshot uses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service definitions follow the user's supplied brief. Delivery fee treatment is intentionally subject to confirmation because no final commercial policy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Table-identification method requires product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Pickup timing and handoff verification require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Delivery-fee and exception policies require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 for support contact and merchant tasks. Commercial-policy items remain intentionally flagged for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88397717c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4d6753cfd4e9f" /><Relationship Type="http://schemas.openxmlformats.org/officeDocument/2006/relationships/slideLayout" Target="/ppt/slideLayouts/slideLayout1.xml" Id="Rad043d72e0504e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43d72e0504e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b5cc1a4f44ba8" /><Relationship Type="http://schemas.openxmlformats.org/officeDocument/2006/relationships/image" Target="/ppt/media/image.png" Id="Rd3f08bcaa91a4e0c" /><Relationship Type="http://schemas.openxmlformats.org/officeDocument/2006/relationships/image" Target="/ppt/media/image.jpeg" Id="Redf048c82a744f9f" /><Relationship Type="http://schemas.openxmlformats.org/officeDocument/2006/relationships/notesSlide" Target="/ppt/notesSlides/notesSlide1.xml" Id="R6f7a6ad6d7f6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19600937a47c9" /><Relationship Type="http://schemas.openxmlformats.org/officeDocument/2006/relationships/image" Target="/ppt/media/image2.jpeg" Id="R8bf36f1b472141cc" /><Relationship Type="http://schemas.openxmlformats.org/officeDocument/2006/relationships/image" Target="/ppt/media/image2.png" Id="R3e438f411dca45e2" /><Relationship Type="http://schemas.openxmlformats.org/officeDocument/2006/relationships/image" Target="/ppt/media/image3.png" Id="Ra4334a19c15841aa" /><Relationship Type="http://schemas.openxmlformats.org/officeDocument/2006/relationships/notesSlide" Target="/ppt/notesSlides/notesSlide2.xml" Id="R006aa227e71544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34da6b7f54652" /><Relationship Type="http://schemas.openxmlformats.org/officeDocument/2006/relationships/image" Target="/ppt/media/image3.jpeg" Id="Rf81156d5358b45f7" /><Relationship Type="http://schemas.openxmlformats.org/officeDocument/2006/relationships/notesSlide" Target="/ppt/notesSlides/notesSlide3.xml" Id="R7f0f9a6d45cf4e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34c3dc00d4239" /><Relationship Type="http://schemas.openxmlformats.org/officeDocument/2006/relationships/image" Target="/ppt/media/image4.jpeg" Id="R0aeb609d3c5b4b87" /><Relationship Type="http://schemas.openxmlformats.org/officeDocument/2006/relationships/notesSlide" Target="/ppt/notesSlides/notesSlide4.xml" Id="R5aa45827d71740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7f7a802634197" /><Relationship Type="http://schemas.openxmlformats.org/officeDocument/2006/relationships/image" Target="/ppt/media/image5.jpeg" Id="Rf835ddbffb3149e1" /><Relationship Type="http://schemas.openxmlformats.org/officeDocument/2006/relationships/notesSlide" Target="/ppt/notesSlides/notesSlide5.xml" Id="R001449541b3c42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1a16cce96497a" /><Relationship Type="http://schemas.openxmlformats.org/officeDocument/2006/relationships/image" Target="/ppt/media/image6.jpeg" Id="R05576fd6c314450f" /><Relationship Type="http://schemas.openxmlformats.org/officeDocument/2006/relationships/notesSlide" Target="/ppt/notesSlides/notesSlide6.xml" Id="Rd033c80089c54f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9526d6892439b" /><Relationship Type="http://schemas.openxmlformats.org/officeDocument/2006/relationships/image" Target="/ppt/media/image7.jpeg" Id="R039bf0518c824596" /><Relationship Type="http://schemas.openxmlformats.org/officeDocument/2006/relationships/image" Target="/ppt/media/image4.png" Id="R75d06ea4111048f0" /><Relationship Type="http://schemas.openxmlformats.org/officeDocument/2006/relationships/notesSlide" Target="/ppt/notesSlides/notesSlide7.xml" Id="R856e8de9c36a42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a74e1ef274b37" /><Relationship Type="http://schemas.openxmlformats.org/officeDocument/2006/relationships/image" Target="/ppt/media/image8.jpeg" Id="Rf54738dc2e4541e0" /><Relationship Type="http://schemas.openxmlformats.org/officeDocument/2006/relationships/image" Target="/ppt/media/image5.png" Id="R646d719ed4874c90" /><Relationship Type="http://schemas.openxmlformats.org/officeDocument/2006/relationships/notesSlide" Target="/ppt/notesSlides/notesSlide8.xml" Id="R1e70017ca193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bb40f5c914516" /><Relationship Type="http://schemas.openxmlformats.org/officeDocument/2006/relationships/image" Target="/ppt/media/image9.jpeg" Id="Rbcf58168fd03443d" /><Relationship Type="http://schemas.openxmlformats.org/officeDocument/2006/relationships/image" Target="/ppt/media/image6.png" Id="R6321877f75c14122" /><Relationship Type="http://schemas.openxmlformats.org/officeDocument/2006/relationships/notesSlide" Target="/ppt/notesSlides/notesSlide9.xml" Id="Rf5a20811038b4a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df69c11294621" /><Relationship Type="http://schemas.openxmlformats.org/officeDocument/2006/relationships/image" Target="/ppt/media/image10.jpeg" Id="Raab3f8df22ea4ddb" /><Relationship Type="http://schemas.openxmlformats.org/officeDocument/2006/relationships/image" Target="/ppt/media/image7.png" Id="R17f545e6353b4f94" /><Relationship Type="http://schemas.openxmlformats.org/officeDocument/2006/relationships/notesSlide" Target="/ppt/notesSlides/notesSlide10.xml" Id="R1836ac671ebf4a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4e03b08a24d57" /><Relationship Type="http://schemas.openxmlformats.org/officeDocument/2006/relationships/image" Target="/ppt/media/image11.jpeg" Id="R8eba27ce5b134c56" /><Relationship Type="http://schemas.openxmlformats.org/officeDocument/2006/relationships/image" Target="/ppt/media/image8.png" Id="R656b387f9ba6477e" /><Relationship Type="http://schemas.openxmlformats.org/officeDocument/2006/relationships/notesSlide" Target="/ppt/notesSlides/notesSlide11.xml" Id="R880e745b22a54f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d0a9cb9ad4e53" /><Relationship Type="http://schemas.openxmlformats.org/officeDocument/2006/relationships/image" Target="/ppt/media/image12.jpeg" Id="Rf580f3b5c6b2435e" /><Relationship Type="http://schemas.openxmlformats.org/officeDocument/2006/relationships/notesSlide" Target="/ppt/notesSlides/notesSlide12.xml" Id="Re2929e12553e43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ca5b724f0483f" /><Relationship Type="http://schemas.openxmlformats.org/officeDocument/2006/relationships/image" Target="/ppt/media/image13.jpeg" Id="R4249216292834611" /><Relationship Type="http://schemas.openxmlformats.org/officeDocument/2006/relationships/image" Target="/ppt/media/image9.png" Id="R81171415083f4bcf" /><Relationship Type="http://schemas.openxmlformats.org/officeDocument/2006/relationships/notesSlide" Target="/ppt/notesSlides/notesSlide13.xml" Id="R4eacdf54213f44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ada1e81984e4c" /><Relationship Type="http://schemas.openxmlformats.org/officeDocument/2006/relationships/image" Target="/ppt/media/image14.jpeg" Id="R294071b519254c80" /><Relationship Type="http://schemas.openxmlformats.org/officeDocument/2006/relationships/image" Target="/ppt/media/image10.png" Id="R7c9938e3d2f444fb" /><Relationship Type="http://schemas.openxmlformats.org/officeDocument/2006/relationships/notesSlide" Target="/ppt/notesSlides/notesSlide14.xml" Id="Rffcb898967284a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38c61d75842fc" /><Relationship Type="http://schemas.openxmlformats.org/officeDocument/2006/relationships/image" Target="/ppt/media/image15.jpeg" Id="R238dce82e4a3493b" /><Relationship Type="http://schemas.openxmlformats.org/officeDocument/2006/relationships/image" Target="/ppt/media/image11.png" Id="Ra2596a62fa214965" /><Relationship Type="http://schemas.openxmlformats.org/officeDocument/2006/relationships/notesSlide" Target="/ppt/notesSlides/notesSlide15.xml" Id="R3c4ced83371f42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38d4e97c4ced" /><Relationship Type="http://schemas.openxmlformats.org/officeDocument/2006/relationships/notesSlide" Target="/ppt/notesSlides/notesSlide16.xml" Id="Rd41669f32869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08bcaa91a4e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CA40F-471D-4086-A539-8B824F5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048c82a744f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52927-C818-4087-A166-8A860A20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PAHATUDFOOD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44DD5-4E1F-45D8-97BD-7A495A88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Partner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D4DFD-E14A-4CF5-BAB3-1545C38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Commission, dashboard, and service journeys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27A66-E0AE-40B5-A39D-908D9A22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FB317-49CD-470E-B3D3-5B97100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Prepared for prospective restaurant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5510E-95EC-492C-BB51-FC424136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324789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36f1b472141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344B5-456C-4DEA-92E1-DD9306CE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the partnership includes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C53D6-60A6-4D7D-8570-5FB1E50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single merchant account connects the customer marketplace, restaurant operations, and fulfilment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9C741-253E-41E5-A683-465430C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E6103-F9F1-48FD-A838-9B270B1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9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One storefront. Three ways to serve.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02686-1877-43F3-9856-196800FA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51911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Customer discovery: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Your restaurant and menu appear in the PahatudFood marketplace.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Order control: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Your team reviews, prepares, and updates every order from the merchant dashboard.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Flexible service: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Activate dine-in, pickup, delivery, or the service mix agreed for each branch.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Clear reporting: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Track sales, recorded platform commission, and estimated net revenue.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00ED1-7049-4071-8929-EABA59FC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44E2-C0F2-447D-BA5D-9DC71BF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Merchant manages the menu and orders. PahatudFood provides marketplace access and delivery coordination.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D0394-0E43-472E-B750-2640098A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1857375" cy="4095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3D86E-3E34-4302-AA39-52A4249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24000"/>
            <a:ext cx="1857375" cy="4095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38f411dca45e2"/>
          <a:stretch xmlns:a="http://schemas.openxmlformats.org/drawingml/2006/main"/>
        </p:blipFill>
        <p:spPr>
          <a:xfrm xmlns:a="http://schemas.openxmlformats.org/drawingml/2006/main">
            <a:off x="7210425" y="1937279"/>
            <a:ext cx="1466850" cy="3259667"/>
          </a:xfrm>
          <a:prstGeom xmlns:a="http://schemas.openxmlformats.org/drawingml/2006/main" prst="roundRect">
            <a:avLst>
              <a:gd name="adj" fmla="val 1039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34a19c15841aa"/>
          <a:stretch xmlns:a="http://schemas.openxmlformats.org/drawingml/2006/main"/>
        </p:blipFill>
        <p:spPr>
          <a:xfrm xmlns:a="http://schemas.openxmlformats.org/drawingml/2006/main">
            <a:off x="9324975" y="1937279"/>
            <a:ext cx="1466850" cy="3259667"/>
          </a:xfrm>
          <a:prstGeom xmlns:a="http://schemas.openxmlformats.org/drawingml/2006/main" prst="roundRect">
            <a:avLst>
              <a:gd name="adj" fmla="val 1039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991DC-82CC-427C-9EE3-48FF1EC4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81675"/>
            <a:ext cx="3971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Customer app</a:t>
            </a:r>
          </a:p>
        </p:txBody>
      </p:sp>
    </p:spTree>
    <p:extLst>
      <p:ext uri="{BB962C8B-B14F-4D97-AF65-F5344CB8AC3E}">
        <p14:creationId xmlns:p14="http://schemas.microsoft.com/office/powerpoint/2010/main" val="1053790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156d5358b45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F7B5-88AC-40B5-B4BE-DB73F4CB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journey from setup to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F1C99-9793-450E-805B-518A590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operating model becomes simple once the commercial policy and service modes are agreed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C48B9-20B1-4334-90F9-3C4F26D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1A82E-9BC0-4A1B-BD8F-51D2CE3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6607-F2E9-4216-ABDB-A8F8A52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85C34-C309-4597-8AF2-08E45660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DCAE4-78F3-4710-ACA5-BE7B7C8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Apply and receive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4554A-ADE9-43E3-97D2-BEBF23D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Submit the restaurant and required documents.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DFB60-6BE7-43E3-9683-CAB0B5B3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B0193-EC94-4CF0-AF64-630B9D5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21837-7C3D-45EC-9EA8-BDDBC75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Complete the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9D8E9-58EC-4C5E-8DC5-A7B2C68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profile, branch, contact, and payout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606C2-FC5C-45FF-96AB-C48FCB9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86A3C-5762-4587-9B35-4C37C16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4B625-0698-4624-8387-E412893A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Build the menu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57149-E8F8-4CB8-A697-0FBD73F5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Add categories, products, prices, add-ons, and availability.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06CBA-D5A4-43DD-98F9-4FC994C8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A5F14-1160-424A-A872-4C3EA55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4550D-7696-4A40-8B27-834953D9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Go online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B3071-307A-4774-A856-0A43AE7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 and fulfil orders through the dashboard.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0A2DE-98C3-4FC3-AD7C-EC0CFF58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73A8-817C-4548-AEFE-CA1030B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C9B89-BBCA-46AD-AE29-11AE807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Review and improve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D28BE-73AD-49A8-B56B-AE766FD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Check sales, commission, estimated earnings, and order outcomes.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CF179-D901-41C4-9A75-B6E19DF1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57800"/>
            <a:ext cx="7372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B27F3-D8F4-41AA-A64C-E7C3994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2925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Service availability depends on the modes activated for the restaurant or branch.</a:t>
            </a:r>
          </a:p>
        </p:txBody>
      </p:sp>
    </p:spTree>
    <p:extLst>
      <p:ext uri="{BB962C8B-B14F-4D97-AF65-F5344CB8AC3E}">
        <p14:creationId xmlns:p14="http://schemas.microsoft.com/office/powerpoint/2010/main" val="873823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b609d3c5b4b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E9DC1-88E1-4EF7-BC8E-FCD7EEC3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PahatudFood commission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5A7A4-119A-4848-AD5B-DB505EEF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proposed standard rate is calculated from the eligible food subtotal for each completed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3E78C-3110-4BC3-93A8-2E880FC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BBE0-2963-4288-96E7-7DF9B7DD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048125" cy="4229100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A8DE-8153-4B50-9BB7-AEC5752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E5E2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E5E2"/>
                </a:solidFill>
                <a:latin typeface="Manrope"/>
                <a:ea typeface="Manrope"/>
                <a:cs typeface="Manrope"/>
              </a:rPr>
              <a:t>PROPOSED STANDARD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EDC23-615E-4688-A5DE-722908B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96818-AD3B-4F2D-812D-0912179E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of eligible item prices and paid add-ons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6DA7D-12B5-4C2E-A175-5E1EFA7E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19575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D87"/>
          </a:solidFill>
          <a:ln xmlns:a="http://schemas.openxmlformats.org/drawingml/2006/main" w="9525">
            <a:solidFill>
              <a:srgbClr val="FF8D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681B8-87A6-43A0-AE6A-826871B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9125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2F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FFF2F0"/>
                </a:solidFill>
                <a:latin typeface="DM Sans"/>
                <a:ea typeface="DM Sans"/>
                <a:cs typeface="DM Sans"/>
              </a:rPr>
              <a:t>The merchant agreement confirms the final rate before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DFF62-D0B6-4B9B-A314-9D0B0366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9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Platform commission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5B261-DAFC-460D-A1C9-E4E88D6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95500"/>
            <a:ext cx="596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Eligible food subtotal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×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agreed commission rate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= platform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1D5D1-7CD8-46E3-A2F7-77ECD48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76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Merchant amount before adjustments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01305-8E73-47B4-A58C-65961A7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276600"/>
            <a:ext cx="596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Eligible food subtotal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−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platform commission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= merchant amount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7EA9F-33B9-4973-A217-EA60C6B1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10050"/>
            <a:ext cx="26955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B5E66-503A-4085-AD25-5AF2F30C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10050"/>
            <a:ext cx="26955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54CE7-C509-4C46-ABD5-ECF6ECAA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005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₱500 subtotal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28FCF-E1C9-435D-A8E6-3FE2C930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7244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PahatudFood ₱75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₱425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52F03-B032-406A-A2E2-952EA471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₱2,000 subtotal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A1E85-D2CF-484E-AF6E-B5BF3300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244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PahatudFood ₱300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₱1,700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DC028-A97D-496F-AAB4-A50C62E3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Examples exclude other applicable adjustments.</a:t>
            </a:r>
          </a:p>
        </p:txBody>
      </p:sp>
    </p:spTree>
    <p:extLst>
      <p:ext uri="{BB962C8B-B14F-4D97-AF65-F5344CB8AC3E}">
        <p14:creationId xmlns:p14="http://schemas.microsoft.com/office/powerpoint/2010/main" val="942396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5ddbffb3149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9908E-6957-44F3-976C-32F55238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15% commission on a ₱1,000 food subtotal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EABAE-9AF0-437C-9546-69106CEC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simple settlement example before discounts, refunds, taxes, or other applicable adjustments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EA4F-7EAA-4AD8-8CD2-B26B0A99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E716E-A0CF-4522-A421-6A4034B8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71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₱1,000</a:t>
            </a:r>
            <a:r>
              <a:rPr sz="180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× 15% =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697D6-38D8-4C8F-B79B-A7769AF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PahatudFood commission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DD6F8-1797-4452-9128-BC265F6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671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₱1,000</a:t>
            </a:r>
            <a:r>
              <a:rPr sz="180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− ₱150 =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₱850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830EC-50DA-4E77-B1AF-542E885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7B50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257B50"/>
                </a:solidFill>
                <a:latin typeface="DM Sans"/>
                <a:ea typeface="DM Sans"/>
                <a:cs typeface="DM Sans"/>
              </a:rPr>
              <a:t>Merchant amount before other adjustments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753350" y="1619250"/>
          <a:ext xmlns:a="http://schemas.openxmlformats.org/drawingml/2006/main" cx="3714750" cy="2552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1447800"/>
              </a:tblGrid>
              <a:tr h="63817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Settlement 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Amount (₱)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PahatudFood commission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150.00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Merchant share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FA66C"/>
                          </a:solidFill>
                          <a:latin typeface="Manrope"/>
                          <a:ea typeface="Manrope"/>
                          <a:cs typeface="Manrope"/>
                        </a:rPr>
                        <a:t>850.00</a:t>
                      </a:r>
                    </a:p>
                  </a:txBody>
                  <a:tcPr marL="91440" marR="91440" marT="45720" marB="45720" anchor="ctr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Total food subtotal</a:t>
                      </a:r>
                    </a:p>
                  </a:txBody>
                  <a:tcPr marL="91440" marR="91440" marT="45720" marB="45720" anchor="ctr">
                    <a:solidFill>
                      <a:srgbClr val="293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1,000.00</a:t>
                      </a:r>
                    </a:p>
                  </a:txBody>
                  <a:tcPr marL="91440" marR="91440" marT="45720" marB="45720" anchor="ctr">
                    <a:solidFill>
                      <a:srgbClr val="29302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6B0A5-7D88-47C0-9F82-420963C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790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8D378-4FEE-4615-8AE6-8A126BC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Current product logic keeps the delivery fee outside the item commission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CC038-DA6D-49B8-B9A1-D64DCFE2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054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the final merchant agreement before using this example as a contractual statement.</a:t>
            </a:r>
          </a:p>
        </p:txBody>
      </p:sp>
    </p:spTree>
    <p:extLst>
      <p:ext uri="{BB962C8B-B14F-4D97-AF65-F5344CB8AC3E}">
        <p14:creationId xmlns:p14="http://schemas.microsoft.com/office/powerpoint/2010/main" val="922609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76fd6c31445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62446-B7FE-4BA3-B6F8-1C984156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Treatment of fees, discounts, and other charges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64CE5-CB96-4FCB-BFB0-21F3CA7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current implementation answers some questions. Commercial policy must confirm the rest.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B8289-6ED8-431E-8EB5-4658E08A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905500"/>
                <a:gridCol w="2667000"/>
              </a:tblGrid>
              <a:tr h="58510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Order component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Current product logic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Status for partner discussion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Item prices and paid add-ons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Included in the stored item commission amount.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Delivery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Calculated and displayed separately from item commission.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Convenience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Added as a separate customer charge and excluded from the stored item commission field.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VAT on convenience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Calculated separately from item commission when configured.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Discounts and vouchers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Reduce the customer total. The merchant or platform funding rule is not defined as a commercial policy in the materials reviewed.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Manrope"/>
                          <a:ea typeface="Manrope"/>
                          <a:cs typeface="Manrope"/>
                        </a:rPr>
                        <a:t>Needs confirmation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Refunds, cancellations, and other adjustments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The final settlement and any commission reversal or clawback rule require a written policy.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Manrope"/>
                          <a:ea typeface="Manrope"/>
                          <a:cs typeface="Manrope"/>
                        </a:rPr>
                        <a:t>Needs confirmation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6E257-14BC-47BA-B584-F2813E82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Use the signed merchant agreement as the final authority if it differs from current system behavior.</a:t>
            </a:r>
          </a:p>
        </p:txBody>
      </p:sp>
    </p:spTree>
    <p:extLst>
      <p:ext uri="{BB962C8B-B14F-4D97-AF65-F5344CB8AC3E}">
        <p14:creationId xmlns:p14="http://schemas.microsoft.com/office/powerpoint/2010/main" val="1225088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bf0518c8245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D8EDC-8BA0-4F6B-A309-2EA25A69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dashboard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1D81C-AC22-4AE3-A28B-4F8CA5C5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home view combines store status, order health, sales activity, commission, and estimated net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AA62-190E-4DD9-9329-A1AF2A4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06ea4111048f0"/>
          <a:stretch xmlns:a="http://schemas.openxmlformats.org/drawingml/2006/main"/>
        </p:blipFill>
        <p:spPr>
          <a:xfrm xmlns:a="http://schemas.openxmlformats.org/drawingml/2006/main">
            <a:off x="527050" y="1466850"/>
            <a:ext cx="751840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4885A-AA5B-4552-BD47-0B27AC56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62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Five questions answered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46FE5-EEF2-4B6F-BBCB-E726790B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050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1E093-F8F6-490D-BCD2-7765681F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Is the store online?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1C3C8-2075-4938-AF9E-94B862E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9BF0B-F3EF-4547-B6D5-A472026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86B11-449E-499F-AEC1-188FAB8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needs attention now?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144B3-15A7-49EA-B87A-9ACF1DB1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7182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5AED3-08F6-4E50-9112-48C1118F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1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7F0BD-B43A-42E2-A68F-562CB440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How much did we sell?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2252E-EAA1-443D-B428-294E5954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298B4-9CAF-4CDB-B2A0-68F5C85D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374C8-77C4-4A61-AC39-1873A17A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90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commission was recorded?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1B794-2DE7-4693-A6A6-DC67A9FE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4817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29766-727F-4E67-8A4B-CD3E7A5B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577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F200D-9922-4F2C-BDD5-AA3773C8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is the estimated net revenue?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9212E-67EF-495A-A964-4A31A71C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data. Layout follows the current merchant dashboard.</a:t>
            </a:r>
          </a:p>
        </p:txBody>
      </p:sp>
    </p:spTree>
    <p:extLst>
      <p:ext uri="{BB962C8B-B14F-4D97-AF65-F5344CB8AC3E}">
        <p14:creationId xmlns:p14="http://schemas.microsoft.com/office/powerpoint/2010/main" val="833872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738dc2e4541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EDD39-951D-4738-B47B-6DBB3AF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Manage orders from one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D2E65-546D-44ED-80EA-C055112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clear status workflow helps the kitchen, customer, and rider stay aligned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7296E-16EB-44FE-8F52-02B5FFF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2D69D-2245-43A0-A931-04BF732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7BB65-A7F3-4DAC-AA6A-733A8F8E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09FB-AD5E-4434-8DD1-9525F90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621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38147-77D8-4E7E-AB83-8D35636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573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Check items, add-ons, instructions, payment, and service mode.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F1E3C-5D74-4B7E-ADD9-788D2FB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AD41F-8240-4CAD-B11F-A5389108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D47CB-23CC-4904-B85E-D57DC6D1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Accept and 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6E36B-609C-4A2A-AB89-79116653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the order promptly and start kitchen preparation.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EFBE6-3DA6-4767-82B0-00434DF2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098BA-F7F2-47A7-BAB5-0DE361F0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B4047-8181-4670-9614-24669BC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Mark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40C58-0F42-40CE-AD4F-397E8F90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Signal that a table, pickup customer, or rider can receive the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F8CB3-813F-4881-BAB4-DF5C2AFA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31B41-E22A-4A7D-9086-6E860CC1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33B8E-71B4-4C80-85E7-C1559B6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Complete or cancel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333AA-29CF-4465-B73D-ACF347B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291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Close the order accurately and preserve the reason when it cannot be fulfilled.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d719ed4874c90"/>
          <a:stretch xmlns:a="http://schemas.openxmlformats.org/drawingml/2006/main"/>
        </p:blipFill>
        <p:spPr>
          <a:xfrm xmlns:a="http://schemas.openxmlformats.org/drawingml/2006/main">
            <a:off x="4543425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88B00-3B87-4870-8EA7-47CDD5D9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781675"/>
            <a:ext cx="712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E3820-93CD-4678-BC33-A75E5261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95975"/>
            <a:ext cx="6686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Illustrative data. Actual status labels and actions depend on the enabled service mode.</a:t>
            </a:r>
          </a:p>
        </p:txBody>
      </p:sp>
    </p:spTree>
    <p:extLst>
      <p:ext uri="{BB962C8B-B14F-4D97-AF65-F5344CB8AC3E}">
        <p14:creationId xmlns:p14="http://schemas.microsoft.com/office/powerpoint/2010/main" val="1476428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58168fd0344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A4A25-A0D4-47E5-801F-6B0FBDD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Update menu items and prices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2A79-5D7D-4F30-B9AD-4F93542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Menu accuracy reduces order issues and keeps commission calculations aligned with current prices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ED476-7DFA-47AD-BC35-D430608C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1877f75c14122"/>
          <a:stretch xmlns:a="http://schemas.openxmlformats.org/drawingml/2006/main"/>
        </p:blipFill>
        <p:spPr>
          <a:xfrm xmlns:a="http://schemas.openxmlformats.org/drawingml/2006/main">
            <a:off x="523875" y="1525488"/>
            <a:ext cx="7191375" cy="4045148"/>
          </a:xfrm>
          <a:prstGeom xmlns:a="http://schemas.openxmlformats.org/drawingml/2006/main" prst="roundRect">
            <a:avLst>
              <a:gd name="adj" fmla="val 37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7823F-317C-496F-931A-ADE19C65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9067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merchants can maintain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C6121-2D8A-42E0-BFE6-C07AEA05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3190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Product name and description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Category and branch availability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Regular and promotional prices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Add-ons and item variations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Available or sold-out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E4AB0-DBAB-4B8F-8BA9-0BB4855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381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525FA-49F6-4B84-A69A-256089E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New item prices store a commission amount using the merchant’s assigned percentage.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1E513-79B4-4C08-B23A-2995A0C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 based on current product fields.</a:t>
            </a:r>
          </a:p>
        </p:txBody>
      </p:sp>
    </p:spTree>
    <p:extLst>
      <p:ext uri="{BB962C8B-B14F-4D97-AF65-F5344CB8AC3E}">
        <p14:creationId xmlns:p14="http://schemas.microsoft.com/office/powerpoint/2010/main" val="1214474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3f8df22ea4d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7ED21-A2CE-4DD2-BBD1-E3F5D40B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Sales and earnings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FEF77-FF7F-4728-B870-72CDF7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reports separate completed sales, platform commission, and estimated net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74B42-0707-4F6E-85B8-05476E0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DEA18-CB16-49B5-A09F-3177DCD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to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32E63-75A5-44D0-B4AA-3AD10266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429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Sales today, this week, and this month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Completed, pending, and cancelled orders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Gross completed revenue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Recorded platform commission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Estimated net revenue and date-based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42F70-C791-4D91-8C02-F97CC1C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4956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7BA17-9853-4E60-9E28-93CADF0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Current dashboard 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DC792-3704-420F-925C-B225D9C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Order total − recorded commission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= estimated net revenue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545e6353b4f94"/>
          <a:stretch xmlns:a="http://schemas.openxmlformats.org/drawingml/2006/main"/>
        </p:blipFill>
        <p:spPr>
          <a:xfrm xmlns:a="http://schemas.openxmlformats.org/drawingml/2006/main">
            <a:off x="4533900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F17AE-6001-4377-97D2-497FF7D8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781675"/>
            <a:ext cx="681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Final payout may differ if the confirmed policy applies discounts, refunds, tax, or other settlement adjustments.</a:t>
            </a:r>
          </a:p>
        </p:txBody>
      </p:sp>
    </p:spTree>
    <p:extLst>
      <p:ext uri="{BB962C8B-B14F-4D97-AF65-F5344CB8AC3E}">
        <p14:creationId xmlns:p14="http://schemas.microsoft.com/office/powerpoint/2010/main" val="171825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a27ce5b134c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1E33F-DDD0-4C7C-A747-D07208B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Restaurant information and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C29B-1538-49CD-AFBC-5EF23ACB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Keeping customer-facing and payout information current supports smoother fulfilment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B5D7B-48F0-42FB-8D4C-FE5BE658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2261F-0125-4BC8-9555-D0BF493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9067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5483E-12A2-4F76-9793-DDCA93D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476625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Restaurant name and description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Customer contact information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Branch addresses and availability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Payout account name and details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Activated service modes and store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C5BE9-BFF9-419E-9ACE-B6DE064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3476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246ED-E40B-4129-A0B2-F8C1467A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019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7B50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257B50"/>
                </a:solidFill>
                <a:latin typeface="DM Sans"/>
                <a:ea typeface="DM Sans"/>
                <a:cs typeface="DM Sans"/>
              </a:rPr>
              <a:t>Profile changes should match the restaurant’s current operating details before the store goes online.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387f9ba6477e"/>
          <a:stretch xmlns:a="http://schemas.openxmlformats.org/drawingml/2006/main"/>
        </p:blipFill>
        <p:spPr>
          <a:xfrm xmlns:a="http://schemas.openxmlformats.org/drawingml/2006/main">
            <a:off x="4533900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A157F-7C7F-411A-9F88-3A8090E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816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 based on current merchant settings fields.</a:t>
            </a:r>
          </a:p>
        </p:txBody>
      </p:sp>
    </p:spTree>
    <p:extLst>
      <p:ext uri="{BB962C8B-B14F-4D97-AF65-F5344CB8AC3E}">
        <p14:creationId xmlns:p14="http://schemas.microsoft.com/office/powerpoint/2010/main" val="355924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0f3b5c6b243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2E515-F8A1-4294-AD00-263CDD8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Dine-in, pickup, and delivery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910D4-D068-484F-A295-2DE8B7E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Each mode changes the handoff. The merchant still receives, prepares, and completes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F3F51-2B03-4D8E-BDA7-C707A8AB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504950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3000375"/>
                <a:gridCol w="3000375"/>
                <a:gridCol w="3000375"/>
              </a:tblGrid>
              <a:tr h="68262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Journey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Dine-in / order to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Pickup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52D28"/>
                          </a:solidFill>
                          <a:latin typeface="Manrope"/>
                          <a:ea typeface="Manrope"/>
                          <a:cs typeface="Manrope"/>
                        </a:rPr>
                        <a:t>Delivery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Customer starts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At the restaurant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Away from the restaurant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Away from the restaurant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Customer receives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food at the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order at the counter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order at the delivery address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Merchant handoff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Serve the identified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Release to the customer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Release to the assigned rider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Rider involved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Delivery fee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Not 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Not 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DM Sans"/>
                          <a:ea typeface="DM Sans"/>
                          <a:cs typeface="DM Sans"/>
                        </a:rPr>
                        <a:t>Applies according to the confirmed delivery-fee policy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B85AD-C7F0-44DC-A65C-A58FF2A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Confirm service availability, operating hours, handoff verification, and delivery-fee rules before activation.</a:t>
            </a:r>
          </a:p>
        </p:txBody>
      </p:sp>
    </p:spTree>
    <p:extLst>
      <p:ext uri="{BB962C8B-B14F-4D97-AF65-F5344CB8AC3E}">
        <p14:creationId xmlns:p14="http://schemas.microsoft.com/office/powerpoint/2010/main" val="244745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92162928346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257B6-E7E4-4EBC-8541-C97B017D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Dine-in / Order to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A35E6-39FA-405E-B7A3-AE473412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customer orders for a specific table. The merchant prepares and serves the meal in the restaurant.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57E2-AC1E-493C-ACCA-9757535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71415083f4bcf"/>
          <a:srcRect xmlns:a="http://schemas.openxmlformats.org/drawingml/2006/main" l="20936" t="0" r="209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478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71886-D786-4E33-B5BD-D500410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9E6B0-20C6-4BEB-90DD-1714E68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5CB4B-4837-433B-BC24-1DC55E2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starts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133B4-82AD-4CF4-8C34-CC888D67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Selects the restaurant, confirms the table, and submits the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E3814-2D4E-43EA-89FE-7EB0A2C1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CEDB2-C149-4BF3-9A5A-C725E42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340BB-2ADF-4C0F-BD2A-C15632E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receives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30658-E085-495C-BB75-E3C1CB0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order and table reference in the dashboard.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FB05D-EAB4-46C7-B022-B9F27C4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7A07E-B250-40D9-9406-D99806DD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73272-80F1-4467-8CA5-66FC50E1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Kitchen prepares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67BAE-2D2F-4B8F-856E-624137D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Prepares the items and updates the order status.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3C9B4-6D54-40F6-9D00-D2EDA3F4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D0539-98D6-43E7-8328-4A648EC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FD298-D5FB-4096-B68C-7F538266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serves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AF44A-AB70-4418-8FEF-9A386B4A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Delivers the prepared order to the correct 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0AEC3-8CE2-4A24-8CF3-64FFE0F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D1209-70FB-4D98-9A8A-22E68559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52292-F9F4-41AD-9D5D-9FE64499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Order closes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6D8A1-6A58-489A-B3BD-25F1310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Marks the order complete after service.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85D0A-399A-4133-882C-6386E9B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C2010-C7E2-4FCE-9D92-5D5916AF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how the customer identifies the table: QR code, table number, or staff-provided link.</a:t>
            </a:r>
          </a:p>
        </p:txBody>
      </p:sp>
    </p:spTree>
    <p:extLst>
      <p:ext uri="{BB962C8B-B14F-4D97-AF65-F5344CB8AC3E}">
        <p14:creationId xmlns:p14="http://schemas.microsoft.com/office/powerpoint/2010/main" val="1318754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71b519254c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7A882-4692-4945-B411-B5B1D1B5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650BB-248C-4F07-9992-B1C16237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customer orders ahead. The merchant prepares the food and releases it at the restaurant.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0492A-C040-4725-B9D0-C160AA2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938e3d2f444fb"/>
          <a:srcRect xmlns:a="http://schemas.openxmlformats.org/drawingml/2006/main" l="10735" t="0" r="10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46685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0B032-24B1-4FBE-982A-372B406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AC874-C77A-4224-8FF7-B26BBD3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AB639-EFA6-4EAB-BBE7-DB45254E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orders ahead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61E82-05CE-4576-B53B-E69B627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Chooses pickup and submits the order before arriving.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094DC-3AC8-4023-8AEB-BEDF3349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8A03A-ED9D-472F-A35D-3C54290D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3EE7C-BF75-4E84-BFBF-88ECF00C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confirms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5729A-6F0C-4AB3-8ED5-B685D1D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order and expected pickup timing.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EE848-72DE-4B98-B8FE-FADB1441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C5AAE-5B74-4350-8ACB-8AB06C84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CE03C-51C5-45CA-9D63-DCE3C953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Kitchen prepares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C1AA3-06DA-4EC0-9075-15ABA75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Prepares and packs the order for collection.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68EBF-8185-4717-84FB-F10F3BF1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EB6B4-205E-40B9-A393-3ECFF52A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60E5-D216-4903-9CD6-88D39EB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marks 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B956A-2254-4835-AB35-B16D231D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Lets the customer know the order can be collected.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7A346-CB83-4950-8C39-2166A52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57F5D-95D9-4578-A27E-AF32C1CD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8D341-6AE5-4FF6-B5A5-78B63132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collects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7BA78-E85A-4A99-AC79-076F0CAF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Receives the order at the agreed pickup point.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B80BB-CA5D-4AFD-AB3C-214BFCF8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963F3-35C8-403E-8CEB-E7343009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pickup windows and the order-verification method used at handoff.</a:t>
            </a:r>
          </a:p>
        </p:txBody>
      </p:sp>
    </p:spTree>
    <p:extLst>
      <p:ext uri="{BB962C8B-B14F-4D97-AF65-F5344CB8AC3E}">
        <p14:creationId xmlns:p14="http://schemas.microsoft.com/office/powerpoint/2010/main" val="205179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dce82e4a349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79C18-3E0D-4C9D-B1ED-17A6818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3871E-85C7-49A9-B320-E60218DB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merchant prepares the order. A Pahatud rider collects it and completes the last-mile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1A737-ED1D-4C52-8A73-27D5795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6a62fa214965"/>
          <a:srcRect xmlns:a="http://schemas.openxmlformats.org/drawingml/2006/main" l="15116" t="0" r="1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478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2306-F400-4E86-B64E-C382C50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DA5E5-8D51-43BA-AC6A-701B312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07675-B2FB-47E2-9E72-D1090BEF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submits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4E72C-350C-4CD7-988F-F735AD1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Chooses delivery, confirms the address, and places the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533F9-435E-4AF5-BF9E-0A6E8B3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28D75-9381-44A5-989E-FB03E6F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1A49F-4F13-42D1-8DF9-D2AFB72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accepts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22B50-96AA-4AF9-B596-10FB1AB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items and starts preparation.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4635C-1803-48D1-AFDD-FEC7E70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39549-03BB-4562-8A22-A53D1D3F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5995D-364C-4DC3-9332-74D4F51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marks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8E4A2-7BB8-44A6-98F7-4897110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Seals the order and signals that it is ready for pickup.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90CEF-43D6-4088-AB2E-0358656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981A5-BB22-4EA3-9391-478D1F4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CF3B9-D682-4249-8FF3-3632748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Rider collects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2AD62-163C-49EF-85E2-071521E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Receives the order from the merchant and verifies the handoff.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AC229-AE8A-4375-A54D-532E252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16CB7-6097-4D69-A81D-2B442124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74AB2-254D-4E0E-B199-A1EF455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Rider delivers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1F989-75BE-4DBE-8CEC-3FDEDBD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Transports the order to the customer’s address.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AFACA-E0C7-4A0D-8BFF-B44FB66D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903DD-99D7-427E-9234-E8CC163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delivery-fee calculation, rider assignment, proof of delivery, and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1160564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B9CEB-C8BF-4FD4-BFF0-1B71F6B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9572F-0273-4D22-9B7D-C4BC39B0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8DECC-87CE-4709-B5ED-6B0D93E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Before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6707C-74C9-48EB-B34D-132C803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E7E4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E7E4"/>
                </a:solidFill>
                <a:latin typeface="DM Sans"/>
                <a:ea typeface="DM Sans"/>
                <a:cs typeface="DM Sans"/>
              </a:rPr>
              <a:t>Resolve the commercial details, complete the dashboard setup, and test each activated service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8746B-9178-4845-BC64-EDC02FC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FFE7E4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FFE7E4"/>
                </a:solidFill>
                <a:latin typeface="DM Sans"/>
                <a:ea typeface="DM Sans"/>
                <a:cs typeface="DM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4023A-3103-43BF-AADF-D36BE3DC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EFCBE-51E7-4C81-B468-B77927E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FF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9951E-4A21-4094-852A-5B2EE70C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76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B3A40-D063-4BF2-A19F-04F1704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Business profile and branch details are current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Menu, prices, add-ons, and availability are complete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Operating hours and service modes are set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Contact and payout information are verified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Team completes a test order for each active service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B7FCC-ED46-4576-8616-05D3501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76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Pahatud confirmations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03B91-1B63-422A-8860-7026B55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Final commission rate and eligible subtotal definition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Discount and voucher funding rules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Delivery-fee and other customer-charge treatment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Payout schedule, refunds, and settlement adjustments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Support contacts and escalation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AA335-0693-4885-9035-C7B09A5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E6E3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E6E3"/>
                </a:solidFill>
                <a:latin typeface="DM Sans"/>
                <a:ea typeface="DM Sans"/>
                <a:cs typeface="DM Sans"/>
              </a:rPr>
              <a:t>Merchant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672B3-DE48-488E-BFF2-6CD581A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816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info@pahatud.com   +63 916 298 6547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7BE0F-5058-42C7-B4E7-3FACD36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81675"/>
            <a:ext cx="479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Agree the policy. Activate the dashboard. Run the test orders.</a:t>
            </a:r>
          </a:p>
        </p:txBody>
      </p:sp>
    </p:spTree>
    <p:extLst>
      <p:ext uri="{BB962C8B-B14F-4D97-AF65-F5344CB8AC3E}">
        <p14:creationId xmlns:p14="http://schemas.microsoft.com/office/powerpoint/2010/main" val="1852131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2026-10-07T02:24:54.1500000Z</dcterms:created>
  <dcterms:modified xsi:type="dcterms:W3CDTF">2026-10-07T02:24:54.1500000Z</dcterms:modified>
</coreProperties>
</file>