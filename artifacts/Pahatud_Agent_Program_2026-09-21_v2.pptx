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f4a19236e140f2" /><Relationship Type="http://schemas.openxmlformats.org/officeDocument/2006/relationships/extended-properties" Target="/docProps/app.xml" Id="R69368ff08e0a4320" /><Relationship Type="http://schemas.openxmlformats.org/officeDocument/2006/relationships/officeDocument" Target="/ppt/presentation.xml" Id="R8519b121423546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6dbba6b1e3430b"/>
  </p:sldMasterIdLst>
  <p:notesMasterIdLst>
    <p:notesMasterId xmlns:r="http://schemas.openxmlformats.org/officeDocument/2006/relationships" r:id="Ra8a208c57a034e7d"/>
  </p:notesMasterIdLst>
  <p:sldIdLst>
    <p:sldId xmlns:r="http://schemas.openxmlformats.org/officeDocument/2006/relationships" id="256" r:id="Re6ee149abb3846c7"/>
    <p:sldId xmlns:r="http://schemas.openxmlformats.org/officeDocument/2006/relationships" id="257" r:id="Rd3c77d7b77a5442e"/>
    <p:sldId xmlns:r="http://schemas.openxmlformats.org/officeDocument/2006/relationships" id="258" r:id="R8a29d3a90ea54a8f"/>
    <p:sldId xmlns:r="http://schemas.openxmlformats.org/officeDocument/2006/relationships" id="259" r:id="R30e7c7eb1fda4c2d"/>
    <p:sldId xmlns:r="http://schemas.openxmlformats.org/officeDocument/2006/relationships" id="260" r:id="R1b8bd9948c054df1"/>
    <p:sldId xmlns:r="http://schemas.openxmlformats.org/officeDocument/2006/relationships" id="261" r:id="Rb8cc858da0ad4353"/>
    <p:sldId xmlns:r="http://schemas.openxmlformats.org/officeDocument/2006/relationships" id="262" r:id="R3255866ecdce4404"/>
    <p:sldId xmlns:r="http://schemas.openxmlformats.org/officeDocument/2006/relationships" id="263" r:id="Rf9360add7cb94100"/>
    <p:sldId xmlns:r="http://schemas.openxmlformats.org/officeDocument/2006/relationships" id="264" r:id="R53fc403d6687498f"/>
    <p:sldId xmlns:r="http://schemas.openxmlformats.org/officeDocument/2006/relationships" id="265" r:id="R5aa97da061e944b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23e9c563514e5e" /><Relationship Type="http://schemas.openxmlformats.org/officeDocument/2006/relationships/slideMaster" Target="/ppt/slideMasters/slideMaster1.xml" Id="R186dbba6b1e3430b" /><Relationship Type="http://schemas.openxmlformats.org/officeDocument/2006/relationships/notesMaster" Target="/ppt/notesMasters/notesMaster1.xml" Id="Ra8a208c57a034e7d" /><Relationship Type="http://schemas.openxmlformats.org/officeDocument/2006/relationships/presProps" Target="/ppt/presProps.xml" Id="R49cb621c684a4a15" /><Relationship Type="http://schemas.openxmlformats.org/officeDocument/2006/relationships/tableStyles" Target="/ppt/tableStyles.xml" Id="R7bb86fde21aa497b" /><Relationship Type="http://schemas.openxmlformats.org/officeDocument/2006/relationships/slide" Target="/ppt/slides/slide1.xml" Id="Re6ee149abb3846c7" /><Relationship Type="http://schemas.openxmlformats.org/officeDocument/2006/relationships/slide" Target="/ppt/slides/slide2.xml" Id="Rd3c77d7b77a5442e" /><Relationship Type="http://schemas.openxmlformats.org/officeDocument/2006/relationships/slide" Target="/ppt/slides/slide3.xml" Id="R8a29d3a90ea54a8f" /><Relationship Type="http://schemas.openxmlformats.org/officeDocument/2006/relationships/slide" Target="/ppt/slides/slide4.xml" Id="R30e7c7eb1fda4c2d" /><Relationship Type="http://schemas.openxmlformats.org/officeDocument/2006/relationships/slide" Target="/ppt/slides/slide5.xml" Id="R1b8bd9948c054df1" /><Relationship Type="http://schemas.openxmlformats.org/officeDocument/2006/relationships/slide" Target="/ppt/slides/slide6.xml" Id="Rb8cc858da0ad4353" /><Relationship Type="http://schemas.openxmlformats.org/officeDocument/2006/relationships/slide" Target="/ppt/slides/slide7.xml" Id="R3255866ecdce4404" /><Relationship Type="http://schemas.openxmlformats.org/officeDocument/2006/relationships/slide" Target="/ppt/slides/slide8.xml" Id="Rf9360add7cb94100" /><Relationship Type="http://schemas.openxmlformats.org/officeDocument/2006/relationships/slide" Target="/ppt/slides/slide9.xml" Id="R53fc403d6687498f" /><Relationship Type="http://schemas.openxmlformats.org/officeDocument/2006/relationships/slide" Target="/ppt/slides/slide10.xml" Id="R5aa97da061e944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ccd794e42d47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ef2a542d0cd4d4f" /><Relationship Type="http://schemas.openxmlformats.org/officeDocument/2006/relationships/notesMaster" Target="/ppt/notesMasters/notesMaster1.xml" Id="R8abe0f474e6f4e2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9e405a3871b4c33" /><Relationship Type="http://schemas.openxmlformats.org/officeDocument/2006/relationships/notesMaster" Target="/ppt/notesMasters/notesMaster1.xml" Id="R5862c355800244f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0c382ff0e9349c7" /><Relationship Type="http://schemas.openxmlformats.org/officeDocument/2006/relationships/notesMaster" Target="/ppt/notesMasters/notesMaster1.xml" Id="R7f056f2f5f4940f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a5458b3470243c0" /><Relationship Type="http://schemas.openxmlformats.org/officeDocument/2006/relationships/notesMaster" Target="/ppt/notesMasters/notesMaster1.xml" Id="Re99c2ca9f482465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7051f912c67423b" /><Relationship Type="http://schemas.openxmlformats.org/officeDocument/2006/relationships/notesMaster" Target="/ppt/notesMasters/notesMaster1.xml" Id="R5b088ddad2594b5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817a04e2324181" /><Relationship Type="http://schemas.openxmlformats.org/officeDocument/2006/relationships/notesMaster" Target="/ppt/notesMasters/notesMaster1.xml" Id="R70b1ceea5a6e471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9d86899665d46f4" /><Relationship Type="http://schemas.openxmlformats.org/officeDocument/2006/relationships/notesMaster" Target="/ppt/notesMasters/notesMaster1.xml" Id="R7171edf0c6fe4dc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dfc889a0a874af3" /><Relationship Type="http://schemas.openxmlformats.org/officeDocument/2006/relationships/notesMaster" Target="/ppt/notesMasters/notesMaster1.xml" Id="Ra4ddfd25aac7435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3aa7db53cc84550" /><Relationship Type="http://schemas.openxmlformats.org/officeDocument/2006/relationships/notesMaster" Target="/ppt/notesMasters/notesMaster1.xml" Id="Rfb7ecfb89d81441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07ab89bfb064c55" /><Relationship Type="http://schemas.openxmlformats.org/officeDocument/2006/relationships/notesMaster" Target="/ppt/notesMasters/notesMaster1.xml" Id="Re11513f6c4804c1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Pahatud Agent orientation deck. Program language is based on resources/views/agent/auth/register.blade.php and resources/views/agent/help.blade.php.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resources/views/agent/auth/register.blade.php, sections 'How the Agent Program works' and 'What you get as a Pahatud agent'.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resources/views/agent/auth/register.blade.php and resources/views/agent/help.blade.php. Benefits describe portal capabilities and do not promise a fixed income.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config/agent.php. Current defaults are 15% Pahatud commission and a 30% agent share, producing ₱45 on a qualifying ₱1,000 order. Actual agent and restaurant rates may vary and are stored per order.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resources/views/agent/auth/register.blade.php and resources/views/agent/help.blade.php. Pahatud operations coordinates approved payouts; the dashboard does not currently offer self-service withdrawal.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resources/views/agent/auth/register.blade.php. Agent application and restaurant enrollment alone do not generate commission; a linked approved restaurant must complete a qualifying delivered order.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resources/views/agent/help.blade.php and resources/views/agent/dashboard.blade.php. Required standard documents are a valid government-issued ID and a DTI, SEC, or CDA business registration certificate. Representatives also need an authorization document.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resources/views/agent/layouts/app.blade.php, resources/views/agent/dashboard.blade.php, resources/views/agent/reports/index.blade.php, and resources/views/agent/help.blade.php.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resources/views/agent/help.blade.php. Restaurant images are existing Pahatud partner assets from public/images/partners.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Call to action. Agent application route: /agent/register. Support email: info@pahatud.com.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c7fd820a3943d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863007137345f0" /><Relationship Type="http://schemas.openxmlformats.org/officeDocument/2006/relationships/slideLayout" Target="/ppt/slideLayouts/slideLayout1.xml" Id="R616c1f74a94949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6c1f74a94949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303ed1c1504fd4" /><Relationship Type="http://schemas.openxmlformats.org/officeDocument/2006/relationships/image" Target="/ppt/media/image.jpeg" Id="R0500e1d230f341a5" /><Relationship Type="http://schemas.openxmlformats.org/officeDocument/2006/relationships/image" Target="/ppt/media/image2.jpeg" Id="Rb1d408cefee44d3b" /><Relationship Type="http://schemas.openxmlformats.org/officeDocument/2006/relationships/notesSlide" Target="/ppt/notesSlides/notesSlide1.xml" Id="Re41e96e28562436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7fd94c5a2d4ea6" /><Relationship Type="http://schemas.openxmlformats.org/officeDocument/2006/relationships/image" Target="/ppt/media/image.png" Id="Rfab62ea784a1434f" /><Relationship Type="http://schemas.openxmlformats.org/officeDocument/2006/relationships/notesSlide" Target="/ppt/notesSlides/notesSlide2.xml" Id="R62dad3a176d943a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6a33b1a5a1474c" /><Relationship Type="http://schemas.openxmlformats.org/officeDocument/2006/relationships/notesSlide" Target="/ppt/notesSlides/notesSlide3.xml" Id="R698380f30ad04e4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8f4a8d8a6447b8" /><Relationship Type="http://schemas.openxmlformats.org/officeDocument/2006/relationships/notesSlide" Target="/ppt/notesSlides/notesSlide4.xml" Id="R8b85dc4d725b4af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111b0f26af4029" /><Relationship Type="http://schemas.openxmlformats.org/officeDocument/2006/relationships/notesSlide" Target="/ppt/notesSlides/notesSlide5.xml" Id="R0ce3af81fb8d408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b655da826c4a4d" /><Relationship Type="http://schemas.openxmlformats.org/officeDocument/2006/relationships/notesSlide" Target="/ppt/notesSlides/notesSlide6.xml" Id="Ra70db6e0d472467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07c202b8e84808" /><Relationship Type="http://schemas.openxmlformats.org/officeDocument/2006/relationships/notesSlide" Target="/ppt/notesSlides/notesSlide7.xml" Id="Rebcacbba40b64e3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21fc776b924ace" /><Relationship Type="http://schemas.openxmlformats.org/officeDocument/2006/relationships/notesSlide" Target="/ppt/notesSlides/notesSlide8.xml" Id="Rabd7246ce2ba476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f126ad30f04e46" /><Relationship Type="http://schemas.openxmlformats.org/officeDocument/2006/relationships/image" Target="/ppt/media/image3.jpeg" Id="R56a67ebd6851427e" /><Relationship Type="http://schemas.openxmlformats.org/officeDocument/2006/relationships/image" Target="/ppt/media/image4.jpeg" Id="R59b8229628774196" /><Relationship Type="http://schemas.openxmlformats.org/officeDocument/2006/relationships/image" Target="/ppt/media/image5.jpeg" Id="Re6307cdb32b146b3" /><Relationship Type="http://schemas.openxmlformats.org/officeDocument/2006/relationships/notesSlide" Target="/ppt/notesSlides/notesSlide9.xml" Id="R1921f72649414f5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9a984d292748f2" /><Relationship Type="http://schemas.openxmlformats.org/officeDocument/2006/relationships/image" Target="/ppt/media/image6.jpeg" Id="R80585f968f114662" /><Relationship Type="http://schemas.openxmlformats.org/officeDocument/2006/relationships/image" Target="/ppt/media/image2.png" Id="Ra5e0ff40d76945e6" /><Relationship Type="http://schemas.openxmlformats.org/officeDocument/2006/relationships/notesSlide" Target="/ppt/notesSlides/notesSlide10.xml" Id="R168db54aef9f4fc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F3B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CD8A9F-DA33-49A6-A439-712AB0A49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0"/>
            <a:ext cx="5124450" cy="685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E0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5787C1-D402-43EE-BA83-20F39C181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666750"/>
            <a:ext cx="4000500" cy="5524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00e1d230f341a5"/>
          <a:srcRect xmlns:a="http://schemas.openxmlformats.org/drawingml/2006/main" l="7027" t="0" r="70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48575" y="838200"/>
            <a:ext cx="3657600" cy="5181600"/>
          </a:xfrm>
          <a:prstGeom xmlns:a="http://schemas.openxmlformats.org/drawingml/2006/main" prst="roundRect">
            <a:avLst>
              <a:gd name="adj" fmla="val 4167"/>
            </a:avLst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d408cefee44d3b"/>
          <a:stretch xmlns:a="http://schemas.openxmlformats.org/drawingml/2006/main"/>
        </p:blipFill>
        <p:spPr>
          <a:xfrm xmlns:a="http://schemas.openxmlformats.org/drawingml/2006/main">
            <a:off x="704850" y="552450"/>
            <a:ext cx="590550" cy="590550"/>
          </a:xfrm>
          <a:prstGeom xmlns:a="http://schemas.openxmlformats.org/drawingml/2006/main" prst="roundRect">
            <a:avLst>
              <a:gd name="adj" fmla="val 19355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D4A4D7-9552-4CBB-A4C4-1649EFD37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38175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PAHATUD AGENT PROGRAM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81C726-8435-4D1D-B75F-CD5E61D2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590550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2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52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Connect local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52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52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restaurants.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52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52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Grow together.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D40D58-5004-45A0-89E3-31E1F7A66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533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 practical introduction to the Pahatud Agent role, benefits, earnings, and tools.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F90345-A397-4F03-A571-ECFC7FB9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57850"/>
            <a:ext cx="1962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9050" rIns="1143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rPr>
              <a:t>AGENT ORIENTATION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549C24-983D-499E-96DB-E25C899A8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6959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9683328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C70B8A-884F-482A-9E31-081954620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685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rPr>
              <a:t>YOUR ROLE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9AAC15-B986-4EBC-87B8-C564DE886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685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52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352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Agents connect restaurants to Pahatud.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CDE47B-6495-4FB9-939A-8AEB834D0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52575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rPr>
              <a:t>You introduce, guide, and support restaurants as they join the marketplace.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7D47BD-5B4E-41B8-8DEA-82747B9C0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146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1052BB-864B-446F-BF85-DF669EB8F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067050"/>
            <a:ext cx="509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Connect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06D5A4-04DD-4421-B694-9F933D3C5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390900"/>
            <a:ext cx="5095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rPr>
              <a:t>Find restaurants that can benefit from online ordering and delivery.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696CFB-C289-4E01-9FA9-6CD4FEE62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A3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1DCFD9-7307-40EF-AA92-ABE0A4FF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048125"/>
            <a:ext cx="509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Guide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E06365-885F-4566-A551-FC7E33C36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371975"/>
            <a:ext cx="5095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rPr>
              <a:t>Help owners complete enrollment, documents, and requested corrections.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B0C19A-D433-4DB1-A591-3CBA352A4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76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8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834F20-42C7-4CC6-85FE-FCD6ABE78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029200"/>
            <a:ext cx="509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Grow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540237-D642-4884-9689-C1A0AE50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53050"/>
            <a:ext cx="5095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rPr>
              <a:t>Stay connected as approved restaurants receive qualifying orders.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574025-F4AA-4A6D-84F6-3D7E7E555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3400"/>
            <a:ext cx="3257550" cy="579120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FFF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71EA35-1073-4E27-AD07-8FDC8E66D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810125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b62ea784a1434f"/>
          <a:stretch xmlns:a="http://schemas.openxmlformats.org/drawingml/2006/main"/>
        </p:blipFill>
        <p:spPr>
          <a:xfrm xmlns:a="http://schemas.openxmlformats.org/drawingml/2006/main">
            <a:off x="8401050" y="1091142"/>
            <a:ext cx="2095500" cy="4656667"/>
          </a:xfrm>
          <a:prstGeom xmlns:a="http://schemas.openxmlformats.org/drawingml/2006/main" prst="roundRect">
            <a:avLst>
              <a:gd name="adj" fmla="val 7273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485747-7579-4BDD-8F3E-1B55FF539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619750"/>
            <a:ext cx="2076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242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9050" rIns="1143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LOCAL MARKETPLACE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AAD7C9-EDF9-4B3E-80C5-D64E01A18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8B9295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8B9295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904250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1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84918D-2014-426D-B97A-C22DB67B1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rPr>
              <a:t>WHAT AGENTS GET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35356C-701F-4F14-B150-11517BF17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52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52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352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A clear way to build a network and see the value it creates.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55909E-2523-4042-B24A-0CCEF2D49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38350"/>
            <a:ext cx="2971800" cy="2971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1EC171-3ADC-497A-B41D-0D97389A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57500"/>
            <a:ext cx="2286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3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WHAT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3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YOU GET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8DFBF1-A4CB-4F65-9F05-AF90725C5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9F8C77-CCBA-416D-937D-111A58BF0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Commission opportunities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42F97B-5B2A-4E6A-BA37-15CAAF7D8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05050"/>
            <a:ext cx="2838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rPr>
              <a:t>Earn a share of Pahatud's commission on qualifying successful orders.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1DC0BD-742A-47A2-9C17-31CF03ECD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291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09076E-A5AD-4327-A2FF-D24F340A4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100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Your restaurant network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5E0029-A48E-40D0-91F0-5852D2070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52950"/>
            <a:ext cx="2876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rPr>
              <a:t>Enroll restaurants and monitor every partner connected to your account.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33A284-6BE9-43D6-B31C-504B26ED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526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A3C2C6-F328-436C-8068-890E4A97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7335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Order visibility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F7E633-710F-4924-BD04-0793B9E9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076450"/>
            <a:ext cx="276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rPr>
              <a:t>See submitted orders and eligible sales tied to commission activity.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83DF51-8DB8-4931-A878-E7C573F8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385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A6D0D7-CE77-43FA-B4C4-4B5FFF506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61950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Transparent reporting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6AE599-F25B-4830-AE92-F2E1AA23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962400"/>
            <a:ext cx="2838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rPr>
              <a:t>Review pending, approved, paid, and reversed entries by restaurant and order.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B0BBFA-4200-4D91-B395-F34F6D6C3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149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084C90-61C5-4077-BC68-6F475A598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2959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Help when you need 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12C5C7-99D4-4584-916D-17FA54847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63880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rPr>
              <a:t>Use the built-in guide and email agent support at info@pahatud.com.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4CD532-16F8-4377-9309-1F4A462D2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8B9295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8B9295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100350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202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DDD01C-B47C-44D3-ACD9-AF2CB71E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FF8A84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8A84"/>
                </a:solidFill>
                <a:latin typeface="Avenir Next"/>
                <a:ea typeface="Avenir Next"/>
                <a:cs typeface="Avenir Next"/>
              </a:rPr>
              <a:t>HOW EARNINGS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D14739-4316-4ECF-ACD4-6AAE042A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5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5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Your earnings come from Pahatud's commission.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DBCA8C-8212-483E-9910-EF0F5C557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5257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 i="0">
                <a:solidFill>
                  <a:srgbClr val="C6CBCE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 i="0">
                <a:solidFill>
                  <a:srgbClr val="C6CBCE"/>
                </a:solidFill>
                <a:latin typeface="Avenir Next"/>
                <a:ea typeface="Avenir Next"/>
                <a:cs typeface="Avenir Next"/>
              </a:rPr>
              <a:t>Your share is not calculated from the full order value. Example uses the current default rates.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9F7524-AFEA-4231-B297-601290130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95650"/>
            <a:ext cx="819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1696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9EF92E-14F4-4CF4-A4F1-FF20A9ADB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43150"/>
            <a:ext cx="2286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03459E-EEB3-40F9-BA44-81A80B74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647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rPr>
              <a:t>ORDER VALUE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7DB870-FDB7-40E6-9570-C234F0DB5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943225"/>
            <a:ext cx="1943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37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337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₱1,000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D20525-F162-4CAB-9530-17F1230AD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004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eligible order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DDEFA8-A243-4624-A604-31504BCDC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43150"/>
            <a:ext cx="2286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A3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9FB360-A14A-44AB-9AC5-41F7C979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47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PAHATUD RATE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DEA170-F2A9-454E-8643-3A2281F4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943225"/>
            <a:ext cx="1943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37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337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15%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9F5877-60BA-420F-8AED-381F4819E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004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₱150 commission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8BD00E-0829-47C3-8F8A-55FDDC4C8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43150"/>
            <a:ext cx="2286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73A282-412A-400C-8868-BEDB466C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47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AGENT SHARE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57C8AC-2263-40FB-AC29-BBB80CEAF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943225"/>
            <a:ext cx="1943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3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3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30%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BCA624-EF7F-4C59-AAB9-EE8D8021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004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₱45 earned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A26B37-83D9-4CD3-9327-33B1F1931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19650"/>
            <a:ext cx="7391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7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7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₱1,000 × 15% × 30% = ₱45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D0DAC3-6C54-4048-AFBD-1FE6D307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5245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 i="0">
                <a:solidFill>
                  <a:srgbClr val="C6CBCE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C6CBCE"/>
                </a:solidFill>
                <a:latin typeface="Avenir Next"/>
                <a:ea typeface="Avenir Next"/>
                <a:cs typeface="Avenir Next"/>
              </a:rPr>
              <a:t>Actual rates are stored with each order. Your confirmed share appears in the Agent Dashboard.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801D54-72F3-434C-8421-504F58C26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FFFFFF">
                    <a:alpha val="60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>
                    <a:alpha val="60000"/>
                  </a:srgbClr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769532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C103AA-5736-43FB-9859-92A83FC89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rPr>
              <a:t>FROM ORDER TO PAYOUT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C1A406-F70B-4271-9D18-2E7D33817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52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352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Track every commission from order to payout.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9A9DB7-8D4E-477B-968E-2130C5EDA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525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rPr>
              <a:t>The ledger keeps qualifying and reversed activity visible.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94BD50-19F5-4AAA-BA2F-E4C122BF7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19450"/>
            <a:ext cx="781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7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A40F5A-560B-406A-A27E-2FB0B080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575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A3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E58E9E-EEBA-46F4-9790-58AE87BBF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90850"/>
            <a:ext cx="72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3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3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439AFD-105B-4C04-A8FB-E2833C3B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100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F1A33A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1A33A"/>
                </a:solidFill>
                <a:latin typeface="Avenir Next"/>
                <a:ea typeface="Avenir Next"/>
                <a:cs typeface="Avenir Next"/>
              </a:rPr>
              <a:t>PENDING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5474C6-E51B-445C-BA76-80FCA3F5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338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Recorded for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06836B-8788-4DB6-9320-95830363B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33900"/>
            <a:ext cx="2628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rPr>
              <a:t>A qualifying delivered order creates a commission entry.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55C022-4439-418B-8B34-12463011F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575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8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51A4D3-806D-4162-B0B8-71CE6B5B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90850"/>
            <a:ext cx="72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3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3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64A2FE-4E4F-454C-9A61-0606B3DDA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8100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138A64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138A64"/>
                </a:solidFill>
                <a:latin typeface="Avenir Next"/>
                <a:ea typeface="Avenir Next"/>
                <a:cs typeface="Avenir Next"/>
              </a:rPr>
              <a:t>APPROVED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03E6A2-650C-4204-A07A-976EB605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1338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Confirmed as eligible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456845-2257-4544-B5B9-F57BB6792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533900"/>
            <a:ext cx="2628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rPr>
              <a:t>Pahatud validates the entry before payout.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0935F0-2F49-43C0-A069-4F0980662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575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97B95C-F155-4CBE-A892-9123F5EE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90850"/>
            <a:ext cx="72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3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3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CBF822-2DCE-4ED7-A54D-715A8107F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100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PAID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81F5AD-7903-4705-918A-D4FE0973A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1338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Payout recorded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B34142-E480-418D-8367-E1E278B3D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533900"/>
            <a:ext cx="2628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rPr>
              <a:t>Operations coordinates payment and marks the entry paid.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A4EDE9-8720-417D-BA51-F54A674B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76900"/>
            <a:ext cx="107442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5FD802-38DC-4C36-841A-F898184B8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57875"/>
            <a:ext cx="10210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C72A2E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C72A2E"/>
                </a:solidFill>
                <a:latin typeface="Avenir Next"/>
                <a:ea typeface="Avenir Next"/>
                <a:cs typeface="Avenir Next"/>
              </a:rPr>
              <a:t>Reversed entries remain visible for transparency. The current portal tracks commissions but does not initiate self-service withdrawals.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7B9EDE-1923-4B14-B055-BD0017E9D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8B9295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8B9295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104442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F3B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181EE7-9AC7-486F-B001-37765A828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33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YOUR JOURNEY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B9B56F-A230-46B5-A655-F63E7EBBA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5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5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Five steps from application to active earnings.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6653FD-1FA0-4A62-BB67-AAE702249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19450"/>
            <a:ext cx="925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FFFF">
                <a:alpha val="53333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FE9467-16E0-45C5-8B91-8559BA7C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8130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337656-F29E-452F-AB6A-50D9A8A13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19425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8FEC38-F12E-4280-A219-BC0F38D97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4000500"/>
            <a:ext cx="1790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Apply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9F0B88-486F-4B5C-BE7A-D9F51998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4400550"/>
            <a:ext cx="1962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Create your agent account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77B7DF-3492-47DF-BF7A-A9E2A9C2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78130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710584-31FD-4BD2-AB3A-892F47EB8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19425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6680A4-7558-430B-98B6-906470530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000500"/>
            <a:ext cx="1790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Get approved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572E09-46C3-41D8-A352-A2B71D06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400550"/>
            <a:ext cx="1962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Wait for Pahatud's review and email decision.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BFAFDF-D029-48A3-BB04-6C4532D08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78130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EF373C-8747-43E8-A4D0-B3E348FC2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019425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D1F551-5CBD-4BEE-92D2-76A084B35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000500"/>
            <a:ext cx="1790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Enroll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D87191-F315-4A26-BD5C-21508C83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400550"/>
            <a:ext cx="1962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Add a restaurant and send its private invitation.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1F5DC0-CA9C-4D38-9ECD-93A710DC5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8130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F61B4F-FC87-432E-A795-6A359FABB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19425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74CE2D-AA91-47C6-A160-D967DDE90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000500"/>
            <a:ext cx="1790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Activate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3FAB6D-5AE9-4E2B-9C82-93842538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00550"/>
            <a:ext cx="1962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Complete details, documents, and final review.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155FD2-0A43-4233-88AB-8CE6699B6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78130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AEE48D-243E-48E8-8A4B-FD8D71FBB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019425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F1F59D-3DA2-43E7-982B-D4A0610BA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00500"/>
            <a:ext cx="1790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Earn and track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4BD046-024F-4B98-A0E0-DB406F05A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400550"/>
            <a:ext cx="1962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Qualifying delivered orders record commission.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88D7A2-0711-4554-A8F8-FC2D8664A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695950"/>
            <a:ext cx="62103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A0DCFE-B78F-49C4-9D6C-6185D7EE4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838825"/>
            <a:ext cx="560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C72A2E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C72A2E"/>
                </a:solidFill>
                <a:latin typeface="Avenir Next"/>
                <a:ea typeface="Avenir Next"/>
                <a:cs typeface="Avenir Next"/>
              </a:rPr>
              <a:t>Restaurant enrollment alone does not generate commission.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E007C0-6FF7-45E0-992B-7DCC2690A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FFFFFF">
                    <a:alpha val="60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>
                    <a:alpha val="60000"/>
                  </a:srgbClr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436035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FB9841-715B-404F-BA70-75BB3D0F1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00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953EB1-FE89-4754-B8B7-29555E9EC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47750"/>
            <a:ext cx="2381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8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HELP A LOCAL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28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RESTAURANT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28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GET READY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51DB1E-8046-4350-A509-7AE759EE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21717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 i="0">
                <a:solidFill>
                  <a:srgbClr val="D6DADC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 i="0">
                <a:solidFill>
                  <a:srgbClr val="D6DADC"/>
                </a:solidFill>
                <a:latin typeface="Avenir Next"/>
                <a:ea typeface="Avenir Next"/>
                <a:cs typeface="Avenir Next"/>
              </a:rPr>
              <a:t>Complete details and current documents make review easier.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8C464A-7141-440C-B103-7F48BC4FB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2076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9050" rIns="1143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ENROLLMENT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457694-8274-408E-B0AA-D49893DE5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66675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2400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Required business details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B46E02-77C9-49DE-877F-E40B63D11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4763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42351E-C154-4401-9416-E0F944279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428750"/>
            <a:ext cx="3476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Restaurant and registered business names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B9BBBC-AEA3-466C-92F9-C9467F744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752600"/>
            <a:ext cx="3476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997140-11C0-4D2F-B44F-F03FA72E6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00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AD6A9B-39DA-4710-BDB8-38944D407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152650"/>
            <a:ext cx="3476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Contact details and full address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85CBBE-E373-45BA-9231-1E631FB0E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476500"/>
            <a:ext cx="3476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90191B-228E-4F7F-A2CB-8F335B59E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9241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8F2519-4CA6-462F-A699-EBA6DE117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876550"/>
            <a:ext cx="3476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TIN and business structure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F21620-82A3-45E1-BECA-9B07A0282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200400"/>
            <a:ext cx="3476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7FFEC1-CD13-4868-8058-FB0F3633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480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A3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9288CC-C936-4537-B4C5-594DF40BC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600450"/>
            <a:ext cx="3476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Payout account name and account details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D2B2AE-A944-4542-8A60-7AF6D8C40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924300"/>
            <a:ext cx="3476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C57E63-5A64-42FD-A700-7B45BF2F3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371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8BDB8D-8A12-42D6-A063-744D12BBB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324350"/>
            <a:ext cx="3476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Enrollment authority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82A97F-AE75-45FC-B69A-5F521361B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648200"/>
            <a:ext cx="3476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2BF197-3D46-40ED-B291-56D1280F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666750"/>
            <a:ext cx="335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2400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Required documents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06051D-DBD9-4670-938B-B100B4594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371600"/>
            <a:ext cx="3448050" cy="12954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9EF763-8F62-4B5C-AA64-187137728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47825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C72A2E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C72A2E"/>
                </a:solidFill>
                <a:latin typeface="Avenir Next"/>
                <a:ea typeface="Avenir Next"/>
                <a:cs typeface="Avenir Next"/>
              </a:rPr>
              <a:t>VALID GOVERNMENT ID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379131-EF0F-4C4C-9366-DCFBE6D5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38350"/>
            <a:ext cx="2838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rPr>
              <a:t>A clear, current ID for the owner or authorized enrollee.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185C64-88C8-44A1-85FA-0694DD774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95600"/>
            <a:ext cx="3448050" cy="148590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6F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0450F7-BB40-47E4-A128-5A43A3870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813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138A64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138A64"/>
                </a:solidFill>
                <a:latin typeface="Avenir Next"/>
                <a:ea typeface="Avenir Next"/>
                <a:cs typeface="Avenir Next"/>
              </a:rPr>
              <a:t>BUSINESS REGISTRATION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389001-967C-4A59-98E9-9E34F1F14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71875"/>
            <a:ext cx="2838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rPr>
              <a:t>DTI, SEC, or CDA registration certificate, as applicable.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0230F2-BE55-48D7-B63B-538FF180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629150"/>
            <a:ext cx="3448050" cy="12954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7F3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4C140A-33BE-48F3-BEFA-D3B69BDF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87680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WHEN REPRESENTING THE OWNER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AAE0F2-A701-4B1B-B8D3-A6BF8B2BA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238750"/>
            <a:ext cx="2838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rPr>
              <a:t>Include an authorization letter, secretary's certificate, board resolution, or SPA.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A33C6C-A9EA-4B4D-9523-1B4CAE1A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8B9295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8B9295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703660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D2D2FA-FD98-42BD-BD79-7F88B2D7A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rPr>
              <a:t>YOUR WORKING SPACE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70395B-17E1-4F4E-BA60-D86617FCD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37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337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The Agent Dashboard keeps progress visible.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601A21-E397-46A8-9B75-6C9210DD6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525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rPr>
              <a:t>Four focused areas help you move from enrollment to commission tracking.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18EB75-EEF1-4553-91AA-3BDB28BF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43150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F6EDDF-5570-4ABE-8D6E-86C6F818E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352800"/>
            <a:ext cx="2209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26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6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AGENT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26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6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DASHBOARD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FCC7C4-2D39-4DFB-B888-38AC93CB8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rPr>
              <a:t>DASHBOARD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304DFC-6547-48A3-B664-E6C9CB5F5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304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rPr>
              <a:t>At-a-glance restaurants, orders, sales, and commission.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7DE913-A66A-4F7B-8725-865AC361A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F3B3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386879-A60F-46E8-A4D0-D60EE4997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005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F1A33A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F1A33A"/>
                </a:solidFill>
                <a:latin typeface="Avenir Next"/>
                <a:ea typeface="Avenir Next"/>
                <a:cs typeface="Avenir Next"/>
              </a:rPr>
              <a:t>RESTAURANTS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31C424-C3C5-4D22-8E9F-B07E6A923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00600"/>
            <a:ext cx="304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rPr>
              <a:t>Enrollment status, files, corrections, and restaurant details.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B92F05-8791-415B-B6ED-2D6328F67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1A3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BE0251-667C-4194-A324-140A83173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336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138A64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138A64"/>
                </a:solidFill>
                <a:latin typeface="Avenir Next"/>
                <a:ea typeface="Avenir Next"/>
                <a:cs typeface="Avenir Next"/>
              </a:rPr>
              <a:t>REPORTS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86BA3F-BB3A-4062-98B5-869992B45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33650"/>
            <a:ext cx="304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rPr>
              <a:t>Order references, rates, commission amounts, and status.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B1F4C0-CC14-457C-998B-46B6384D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24225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38A6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9FABFA-8208-4E21-96AC-C373BE029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005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HELP &amp; FAQ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1AF4A4-C84C-4175-8963-F1C377B30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00600"/>
            <a:ext cx="304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rPr>
              <a:t>Practical guidance plus direct support by email.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E16630-CF42-4798-93BC-0BF5BD29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591175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0242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CC6058-FEB6-406B-8D9A-362D769E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8B9295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8B9295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473266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202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E24A30-C5F3-4D5E-B2E6-49EA5EF02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76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FF8A84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8A84"/>
                </a:solidFill>
                <a:latin typeface="Avenir Next"/>
                <a:ea typeface="Avenir Next"/>
                <a:cs typeface="Avenir Next"/>
              </a:rPr>
              <a:t>AGENT PLAYBOOK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1BE8CA-2EF2-4FB4-88CD-D0FA0AE2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76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5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5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The best agents make the process easier for restaurant owners.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5DAFDB-DD84-4ABD-95FA-B8C50987F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FF8A84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8A84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61E1A4-30AE-411C-8A04-EB24E11F2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193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Set clear expectations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759EF7-4145-433D-B096-B0282741C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03835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 i="0">
                <a:solidFill>
                  <a:srgbClr val="C6CBCE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C6CBCE"/>
                </a:solidFill>
                <a:latin typeface="Avenir Next"/>
                <a:ea typeface="Avenir Next"/>
                <a:cs typeface="Avenir Next"/>
              </a:rPr>
              <a:t>Approval comes first. Earnings begin only after qualifying delivered orders.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7EA012-9EF5-4871-BE22-5A6CF6E1D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891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54B4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95B63C-D11F-4A1B-B28C-950A325A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FF8A84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8A84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B16C40-C3C5-4810-B313-FFB113194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099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Check every detail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22D30D-2BD2-4DFA-B2D4-79AFF6F7A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02895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 i="0">
                <a:solidFill>
                  <a:srgbClr val="C6CBCE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C6CBCE"/>
                </a:solidFill>
                <a:latin typeface="Avenir Next"/>
                <a:ea typeface="Avenir Next"/>
                <a:cs typeface="Avenir Next"/>
              </a:rPr>
              <a:t>Use accurate business, contact, address, and payout account information.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79D6F7-D6F1-489B-9D61-DC38F593B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891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54B4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52923D-7441-40B7-9F71-D1E038879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95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FF8A84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8A84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F4F8AF-CF08-4103-9681-3447CCE7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005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Follow the review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AB1BFB-AE6A-4CE3-A845-9A6E7A823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01955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 i="0">
                <a:solidFill>
                  <a:srgbClr val="C6CBCE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C6CBCE"/>
                </a:solidFill>
                <a:latin typeface="Avenir Next"/>
                <a:ea typeface="Avenir Next"/>
                <a:cs typeface="Avenir Next"/>
              </a:rPr>
              <a:t>Watch document statuses and help owners respond to admin remarks.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26E886-6E7D-402B-9C8D-40D59890C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891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54B4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E25521-C980-4FEA-865E-437507A06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101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FF8A84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8A84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E74EEA-490F-4D7A-A3A4-965CA7C5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911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Use the report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CCA4E6-EBAF-4455-BE52-11FB5D5EE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01015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 i="0">
                <a:solidFill>
                  <a:srgbClr val="C6CBCE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C6CBCE"/>
                </a:solidFill>
                <a:latin typeface="Avenir Next"/>
                <a:ea typeface="Avenir Next"/>
                <a:cs typeface="Avenir Next"/>
              </a:rPr>
              <a:t>Match questions to the restaurant, order number, date, and expected amount.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294D48-F7FF-407D-BB2D-F9E51CA0D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80060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a67ebd6851427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25025" y="4867275"/>
            <a:ext cx="1066800" cy="1066800"/>
          </a:xfrm>
          <a:prstGeom xmlns:a="http://schemas.openxmlformats.org/drawingml/2006/main" prst="ellipse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3957DF-E745-4543-B9FA-3B108FAF5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97205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b822962877419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34625" y="5038725"/>
            <a:ext cx="1066800" cy="1066800"/>
          </a:xfrm>
          <a:prstGeom xmlns:a="http://schemas.openxmlformats.org/drawingml/2006/main" prst="ellipse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3DDE85-1E1D-4AE6-B934-7991A3DF1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514350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307cdb32b146b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44225" y="5210175"/>
            <a:ext cx="1066800" cy="1066800"/>
          </a:xfrm>
          <a:prstGeom xmlns:a="http://schemas.openxmlformats.org/drawingml/2006/main" prst="ellipse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536824-C111-403F-9308-5E3CF2CD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FFFFFF">
                    <a:alpha val="60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>
                    <a:alpha val="60000"/>
                  </a:srgbClr>
                </a:solidFill>
                <a:latin typeface="Avenir Next"/>
                <a:ea typeface="Avenir Next"/>
                <a:cs typeface="Avenir Next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862489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937577-C85F-4651-BD5F-27FF83CD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086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585f968f114662"/>
          <a:stretch xmlns:a="http://schemas.openxmlformats.org/drawingml/2006/main"/>
        </p:blipFill>
        <p:spPr>
          <a:xfrm xmlns:a="http://schemas.openxmlformats.org/drawingml/2006/main">
            <a:off x="723900" y="552450"/>
            <a:ext cx="647700" cy="647700"/>
          </a:xfrm>
          <a:prstGeom xmlns:a="http://schemas.openxmlformats.org/drawingml/2006/main" prst="roundRect">
            <a:avLst>
              <a:gd name="adj" fmla="val 17647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E79368-EF3A-4002-B99A-E8F06295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55245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4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4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READY TO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4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4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BECOME A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4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4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PAHATUD AGENT?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73F890-BBA9-40F0-B107-12EE6C498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5048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Apply. Get approved. Start building your restaurant network.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D140FC-2965-4B2E-A73F-2908853B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67350"/>
            <a:ext cx="3124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9050" rIns="1143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rPr>
              <a:t>pahatud.com/agent/register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6A4C48-591E-4FE5-A337-5A785356D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007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Agent support: info@pahatud.com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F8D4F4-70F6-423A-A097-6DAE527E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47700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1E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e0ff40d76945e6"/>
          <a:stretch xmlns:a="http://schemas.openxmlformats.org/drawingml/2006/main"/>
        </p:blipFill>
        <p:spPr>
          <a:xfrm xmlns:a="http://schemas.openxmlformats.org/drawingml/2006/main">
            <a:off x="8286750" y="886883"/>
            <a:ext cx="2305050" cy="5122333"/>
          </a:xfrm>
          <a:prstGeom xmlns:a="http://schemas.openxmlformats.org/drawingml/2006/main" prst="roundRect">
            <a:avLst>
              <a:gd name="adj" fmla="val 6612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5D3953-ECEF-441F-BDAD-D96C84EB3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61975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Help more local restaurants become discoverable, order-ready, and connected to delivery.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D4AA58-0921-4265-A601-A0F332CD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8B9295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8B9295"/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103396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2026-09-21T07:29:54.3140000Z</dcterms:created>
  <dcterms:modified xsi:type="dcterms:W3CDTF">2026-09-21T07:29:54.3140000Z</dcterms:modified>
</coreProperties>
</file>