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3c7d49b2da4858" /><Relationship Type="http://schemas.openxmlformats.org/officeDocument/2006/relationships/extended-properties" Target="/docProps/app.xml" Id="Rcc8f759a5d2642fb" /><Relationship Type="http://schemas.openxmlformats.org/officeDocument/2006/relationships/officeDocument" Target="/ppt/presentation.xml" Id="R140f55b9204b4e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5a2d5c08b84419"/>
  </p:sldMasterIdLst>
  <p:notesMasterIdLst>
    <p:notesMasterId xmlns:r="http://schemas.openxmlformats.org/officeDocument/2006/relationships" r:id="Rb984b39a52354390"/>
  </p:notesMasterIdLst>
  <p:sldIdLst>
    <p:sldId xmlns:r="http://schemas.openxmlformats.org/officeDocument/2006/relationships" id="256" r:id="R209c96a8de0a4964"/>
    <p:sldId xmlns:r="http://schemas.openxmlformats.org/officeDocument/2006/relationships" id="257" r:id="R91bea95edf49451e"/>
    <p:sldId xmlns:r="http://schemas.openxmlformats.org/officeDocument/2006/relationships" id="258" r:id="R79c3a88cecde4744"/>
    <p:sldId xmlns:r="http://schemas.openxmlformats.org/officeDocument/2006/relationships" id="259" r:id="R99e613657f414e75"/>
    <p:sldId xmlns:r="http://schemas.openxmlformats.org/officeDocument/2006/relationships" id="260" r:id="R6fd0abf095014b24"/>
    <p:sldId xmlns:r="http://schemas.openxmlformats.org/officeDocument/2006/relationships" id="261" r:id="Rc323ca483ce2425c"/>
    <p:sldId xmlns:r="http://schemas.openxmlformats.org/officeDocument/2006/relationships" id="262" r:id="R3840d954fb704c86"/>
    <p:sldId xmlns:r="http://schemas.openxmlformats.org/officeDocument/2006/relationships" id="263" r:id="R5b4279f09a3e4c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18b19632584bee" /><Relationship Type="http://schemas.openxmlformats.org/officeDocument/2006/relationships/slideMaster" Target="/ppt/slideMasters/slideMaster1.xml" Id="Ra65a2d5c08b84419" /><Relationship Type="http://schemas.openxmlformats.org/officeDocument/2006/relationships/notesMaster" Target="/ppt/notesMasters/notesMaster1.xml" Id="Rb984b39a52354390" /><Relationship Type="http://schemas.openxmlformats.org/officeDocument/2006/relationships/presProps" Target="/ppt/presProps.xml" Id="Ra3fb59aa20b94927" /><Relationship Type="http://schemas.openxmlformats.org/officeDocument/2006/relationships/tableStyles" Target="/ppt/tableStyles.xml" Id="Rda12299a7b804581" /><Relationship Type="http://schemas.openxmlformats.org/officeDocument/2006/relationships/slide" Target="/ppt/slides/slide1.xml" Id="R209c96a8de0a4964" /><Relationship Type="http://schemas.openxmlformats.org/officeDocument/2006/relationships/slide" Target="/ppt/slides/slide2.xml" Id="R91bea95edf49451e" /><Relationship Type="http://schemas.openxmlformats.org/officeDocument/2006/relationships/slide" Target="/ppt/slides/slide3.xml" Id="R79c3a88cecde4744" /><Relationship Type="http://schemas.openxmlformats.org/officeDocument/2006/relationships/slide" Target="/ppt/slides/slide4.xml" Id="R99e613657f414e75" /><Relationship Type="http://schemas.openxmlformats.org/officeDocument/2006/relationships/slide" Target="/ppt/slides/slide5.xml" Id="R6fd0abf095014b24" /><Relationship Type="http://schemas.openxmlformats.org/officeDocument/2006/relationships/slide" Target="/ppt/slides/slide6.xml" Id="Rc323ca483ce2425c" /><Relationship Type="http://schemas.openxmlformats.org/officeDocument/2006/relationships/slide" Target="/ppt/slides/slide7.xml" Id="R3840d954fb704c86" /><Relationship Type="http://schemas.openxmlformats.org/officeDocument/2006/relationships/slide" Target="/ppt/slides/slide8.xml" Id="R5b4279f09a3e4c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be798fe0304c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c61d2f881744d0" /><Relationship Type="http://schemas.openxmlformats.org/officeDocument/2006/relationships/notesMaster" Target="/ppt/notesMasters/notesMaster1.xml" Id="R8ff40a8b456c4e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fa9cc9632b47d4" /><Relationship Type="http://schemas.openxmlformats.org/officeDocument/2006/relationships/notesMaster" Target="/ppt/notesMasters/notesMaster1.xml" Id="R0e0141d11fa44b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f5daead2c74112" /><Relationship Type="http://schemas.openxmlformats.org/officeDocument/2006/relationships/notesMaster" Target="/ppt/notesMasters/notesMaster1.xml" Id="Rde7a1341ecaa4d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ab1cc389ea4e7c" /><Relationship Type="http://schemas.openxmlformats.org/officeDocument/2006/relationships/notesMaster" Target="/ppt/notesMasters/notesMaster1.xml" Id="R5ccdd577b8c845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1a338e5ab34d15" /><Relationship Type="http://schemas.openxmlformats.org/officeDocument/2006/relationships/notesMaster" Target="/ppt/notesMasters/notesMaster1.xml" Id="R98d41f34ebe84b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c26561c9534172" /><Relationship Type="http://schemas.openxmlformats.org/officeDocument/2006/relationships/notesMaster" Target="/ppt/notesMasters/notesMaster1.xml" Id="R8f5c530c0db04c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03e4ad42a7495a" /><Relationship Type="http://schemas.openxmlformats.org/officeDocument/2006/relationships/notesMaster" Target="/ppt/notesMasters/notesMaster1.xml" Id="Rd8e8ff5c62034c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d36b07ca354950" /><Relationship Type="http://schemas.openxmlformats.org/officeDocument/2006/relationships/notesMaster" Target="/ppt/notesMasters/notesMaster1.xml" Id="R48c237cfb51c43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 overview based on resources/views/agent/auth/register.blade.php and resources/views/agent/help.blade.php. Food artwork and logo are existing Pahatud assets from public/images.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resources/views/agent/auth/register.blade.php, sections 'How the Agent Program works' and 'What you get as a Pahatud agent'. Illustration: public/images/partner-with-us.jpg.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resources/views/agent/auth/register.blade.php and resources/views/agent/dashboard.blade.php. Marketplace screenshot: public/images/app-preview/restaurants.png. Benefits describe portal features and commission opportunities, not guaranteed income.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app/Http/Controllers/Agent/RegistrationController.php and resources/views/agent/auth/register.blade.php. Required registration fields are name, email, mobile, password, password confirmation, and accepted terms. No application fee is stated on the registration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resources/views/agent/help.blade.php and app/Http/Controllers/Agent/RestaurantController.php. Restaurant logos are existing Pahatud partner assets in public/images/partners.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config/agent.php, resources/views/agent/help.blade.php, and app/Services/AgentCommissionService.php. The table shows the configured agent tiers of 20%, 25%, and 30%. The example starts with a hypothetical ₱200 Pahatud commission so it remains valid when restaurant commission rates vary.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resources/views/agent/dashboard.blade.php, resources/views/agent/reports/index.blade.php, and resources/views/agent/help.blade.php. Marketplace screenshot: public/images/app-preview/home.png. The current portal tracks payout status but does not offer self-service withdrawals.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routes/web.php, resources/views/agent/auth/register.blade.php, and resources/views/agent/help.blade.php. Support email: info@pahatud.com. Illustration: public/images/motor.png.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4507f23d742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e284598a164628" /><Relationship Type="http://schemas.openxmlformats.org/officeDocument/2006/relationships/slideLayout" Target="/ppt/slideLayouts/slideLayout1.xml" Id="R77d3f119a9974c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d3f119a9974c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d8ab22d52454e" /><Relationship Type="http://schemas.openxmlformats.org/officeDocument/2006/relationships/image" Target="/ppt/media/image.png" Id="Ra475157adc3f44b0" /><Relationship Type="http://schemas.openxmlformats.org/officeDocument/2006/relationships/image" Target="/ppt/media/image.jpeg" Id="R2cd7ef9f1f114850" /><Relationship Type="http://schemas.openxmlformats.org/officeDocument/2006/relationships/notesSlide" Target="/ppt/notesSlides/notesSlide1.xml" Id="Rb3a745df3c0342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33f2ac82748f2" /><Relationship Type="http://schemas.openxmlformats.org/officeDocument/2006/relationships/image" Target="/ppt/media/image2.jpeg" Id="Rc0d06f40e7854a1d" /><Relationship Type="http://schemas.openxmlformats.org/officeDocument/2006/relationships/notesSlide" Target="/ppt/notesSlides/notesSlide2.xml" Id="R61160a1715054f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8305fce6b4e09" /><Relationship Type="http://schemas.openxmlformats.org/officeDocument/2006/relationships/image" Target="/ppt/media/image2.png" Id="Rc54d4a4f1f814b91" /><Relationship Type="http://schemas.openxmlformats.org/officeDocument/2006/relationships/notesSlide" Target="/ppt/notesSlides/notesSlide3.xml" Id="R219e1a3c2a8c45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02fc00a2b4ba3" /><Relationship Type="http://schemas.openxmlformats.org/officeDocument/2006/relationships/notesSlide" Target="/ppt/notesSlides/notesSlide4.xml" Id="R4b0db40227fc4a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fa9d28b4c4071" /><Relationship Type="http://schemas.openxmlformats.org/officeDocument/2006/relationships/image" Target="/ppt/media/image3.jpeg" Id="R1d2b4cefd8e24866" /><Relationship Type="http://schemas.openxmlformats.org/officeDocument/2006/relationships/image" Target="/ppt/media/image4.jpeg" Id="Refa65fcaaa884a75" /><Relationship Type="http://schemas.openxmlformats.org/officeDocument/2006/relationships/image" Target="/ppt/media/image5.jpeg" Id="Ra060b35d416746de" /><Relationship Type="http://schemas.openxmlformats.org/officeDocument/2006/relationships/notesSlide" Target="/ppt/notesSlides/notesSlide5.xml" Id="Re03f8296eadf4d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8c4cf09784346" /><Relationship Type="http://schemas.openxmlformats.org/officeDocument/2006/relationships/notesSlide" Target="/ppt/notesSlides/notesSlide6.xml" Id="Rbf4de19558b74b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e236f81ea42fe" /><Relationship Type="http://schemas.openxmlformats.org/officeDocument/2006/relationships/image" Target="/ppt/media/image3.png" Id="R156bab2cf60d4554" /><Relationship Type="http://schemas.openxmlformats.org/officeDocument/2006/relationships/notesSlide" Target="/ppt/notesSlides/notesSlide7.xml" Id="Rf895df9bd48440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37895ed834360" /><Relationship Type="http://schemas.openxmlformats.org/officeDocument/2006/relationships/image" Target="/ppt/media/image6.jpeg" Id="R105605c46efa4185" /><Relationship Type="http://schemas.openxmlformats.org/officeDocument/2006/relationships/image" Target="/ppt/media/image4.png" Id="R95ed68c8dd5f4625" /><Relationship Type="http://schemas.openxmlformats.org/officeDocument/2006/relationships/notesSlide" Target="/ppt/notesSlides/notesSlide8.xml" Id="R732e51ac6d974e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CBF76-5F57-4823-935D-305089D4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-819150"/>
            <a:ext cx="6000750" cy="790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D4C58-497A-47AC-AB26-D2B4634D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90550"/>
            <a:ext cx="3857625" cy="56578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5157adc3f44b0"/>
          <a:stretch xmlns:a="http://schemas.openxmlformats.org/drawingml/2006/main"/>
        </p:blipFill>
        <p:spPr>
          <a:xfrm xmlns:a="http://schemas.openxmlformats.org/drawingml/2006/main">
            <a:off x="7848600" y="2004212"/>
            <a:ext cx="3400425" cy="281147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4E896-2F6C-44F3-B58D-2405C854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04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7ef9f1f1148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56197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1836D-2BF8-4B32-87B0-47F8AE9D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667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 AGENT PROGRAM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06A36-F03B-434F-8F18-41FF1782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600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1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Becoming a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1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1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9B92F-B807-429B-8343-ABFBDC01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202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How the role works, what you earn, and how to get started.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B47C8-D758-4416-A328-7D660BBC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30289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 i="0">
                <a:solidFill>
                  <a:srgbClr val="C92D2A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C92D2A"/>
                </a:solidFill>
                <a:latin typeface="Manrope"/>
                <a:ea typeface="Manrope"/>
                <a:cs typeface="Manrope"/>
              </a:rPr>
              <a:t>SIMPLE AGENT ORIENTATION</a:t>
            </a:r>
          </a:p>
        </p:txBody>
      </p:sp>
    </p:spTree>
    <p:extLst>
      <p:ext uri="{BB962C8B-B14F-4D97-AF65-F5344CB8AC3E}">
        <p14:creationId xmlns:p14="http://schemas.microsoft.com/office/powerpoint/2010/main" val="3672552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075CA-3E67-41CC-8A7D-BE195525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CFB40-3460-4069-9048-FB16EB23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The Pahatud agent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035EE-8F81-4F5C-A2A0-6DCEF0AF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653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You connect local restaurants to Pahatud and help them complete onboarding.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28770-BA30-4919-B017-AA9EF6EA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87663-584A-4EAF-8D93-34EE564C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38375"/>
            <a:ext cx="518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Introduce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7C558-9A94-436D-8DEC-6886C229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38425"/>
            <a:ext cx="518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Find restaurants that can benefit from online ordering and delivery.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EC551-2AB1-4345-A8DB-1E1A2C1A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E59A2F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59A2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D9064-F425-4B79-8596-512F7FD3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518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Guide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EB58B-D84D-4C9A-8500-E2BC2E97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76675"/>
            <a:ext cx="518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Help owners submit restaurant details, documents, and corrections.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1795D-02A3-4388-9B6F-A284517B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E9A8B-E324-41E3-8B8C-0895CEC8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14875"/>
            <a:ext cx="518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Follow progress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70DB1-B757-4D84-AA0B-6183D069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14925"/>
            <a:ext cx="518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Track approval and the qualifying orders that create commission.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80C194-7A33-4BDA-AFEF-C667DF61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6250"/>
            <a:ext cx="4000500" cy="5905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06f40e7854a1d"/>
          <a:stretch xmlns:a="http://schemas.openxmlformats.org/drawingml/2006/main"/>
        </p:blipFill>
        <p:spPr>
          <a:xfrm xmlns:a="http://schemas.openxmlformats.org/drawingml/2006/main">
            <a:off x="7715250" y="1399472"/>
            <a:ext cx="3333750" cy="405905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4DAFF-32E1-4EDF-813F-F8B0EFEB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166249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0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DD7940-A3D2-495C-8263-4C4E51D4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B0E85-4D20-4B57-B74C-6EF0D935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"/>
            <a:ext cx="1053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Benefits of being an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54B64-6358-46C8-921C-DD0C4A04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10534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The program gives you a clear way to grow a restaurant network and see its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BF9F9-DDB2-46EC-A690-5566A21A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276600" cy="4495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d4a4f1f814b91"/>
          <a:stretch xmlns:a="http://schemas.openxmlformats.org/drawingml/2006/main"/>
        </p:blipFill>
        <p:spPr>
          <a:xfrm xmlns:a="http://schemas.openxmlformats.org/drawingml/2006/main">
            <a:off x="1409700" y="1949450"/>
            <a:ext cx="1828800" cy="4064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198ED-0EEB-457A-907D-BF1DEC69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81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93A7D-0DD3-49D4-97CC-2D6C73BD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241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Earn from qualifying orders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2C565-08D1-4673-87F2-B6AAC608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9085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Your share starts at 20% of Pahatud's commission and can reach 30% as your approved restaurant network grows.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D1F75-2555-4475-B7C7-9FC1D0FB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81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41A37-9F75-4E2F-A45C-CEB918DD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241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Build your own restaurant network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80CFE-8ACB-4B14-A8D7-205F62DD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9085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Enroll restaurants from the portal and monitor each application's 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B6E18-8D2D-49E8-B8CF-5F2BF15E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71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00453-34C9-41F0-B1D0-DEB8913A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148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See your results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288CA-848F-4993-B63C-8A93C2A7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8160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Track orders, completed order value, total commission, and monthly commission.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89ADC-DB9E-45FF-AA11-A02E1BA9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64BED-F950-4BAF-8458-D5F44305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148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Support local businesses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EF38C2-666D-4A3C-AD1C-53C20D1E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8160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Help restaurants join the marketplace and connect with delivery customers.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A13616-11BD-49F0-A7F4-31DB6887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481080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7C00C3-D313-458C-A62C-80822865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AC89A-6B29-4881-8D68-B859D074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Agent application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8C444-6498-47C3-B292-D5A198ED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1059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Registration is simple, but Pahatud approval is required before portal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DFCE7-FA5F-4418-8C58-EA4D91EA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8382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40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40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FA895-63E3-4D1E-B879-6C6BFDAA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34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Open the registration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0F72D-86D8-44E7-A9D8-6C9545CA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Choose the Agent Program registration page on the Pahatud website.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A8A6B-DA08-4EFC-8F82-7AF38ECC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47900"/>
            <a:ext cx="8382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40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40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B7309-BF2E-4BA6-98F1-ABD5BB0E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62300"/>
            <a:ext cx="234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Enter your details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2A589-8571-4CFD-8671-C7850777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6240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Provide your full name, email, mobile number, and a password of at least eight characters.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73590-F958-4220-93EF-2D6ED90A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8382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40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40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C4A0B-2647-4906-A488-6D970BA2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234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Submit and check email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5D493-176D-42CC-9AFD-832FFC4D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6240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Accept the program terms and look for the registration confirmation.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A94F39-3B84-4143-86D4-89B17D80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47900"/>
            <a:ext cx="8382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40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0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88890-3195-4C7A-83C0-F0674A7C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62300"/>
            <a:ext cx="234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Wait for the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BCDAD2-C77B-4336-AF43-D582F3E3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6240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Pahatud emails the approval or decline decision. Approved agents can sign 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9FAC9-D0CC-4A9B-A2FF-1DE9F717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5DB38-5E9E-490F-9934-1CE30F63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43600"/>
            <a:ext cx="10325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No application fee. Account access begins after approval.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96AA4-A1A9-446D-B8E2-9F7BF4AB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66873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5D4248-7E66-472D-9637-D3B044E4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3FF5D-3D92-4BAB-AE6C-235E0BE1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Restaurant enrollment and approval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F7598-1E9C-4FA2-A7E2-459D2D38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1059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After your account is approved, your main job is helping restaurants complete the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C0F1E-404A-416D-8D5E-1E4B007A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3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What you submit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263EB-DE2A-4494-9EAC-1EB2FA55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06754-CB3A-4D13-9B28-F97A4315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1937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Business 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25523-A785-46C2-A8F3-9A376BD0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4324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Restaurant name, contacts, address, city, business structure, TIN, and payout details.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785B3-0D0F-4659-A312-12D3ADB6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E59A2F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59A2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D09B4-2CA0-407B-BE14-E23AC213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5762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Required documents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48D81-1777-43A7-A1AD-65F8E4C2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57675"/>
            <a:ext cx="4324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 valid government ID and the correct DTI, SEC, or CDA registration certificate.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C3B8D-6134-4F66-8619-9EB7DCFF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02FBB-0309-411A-8AA6-88B5B7B3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9587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Authorization when needed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289A3-1F22-42C4-A343-D133B4E4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95925"/>
            <a:ext cx="4324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 representative must include an authorization letter, secretary's certificate, board resolution, or SPA.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327C5-C918-4DCF-95F6-1CB9734D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57375"/>
            <a:ext cx="5067300" cy="4133850"/>
          </a:xfrm>
          <a:prstGeom xmlns:a="http://schemas.openxmlformats.org/drawingml/2006/main" prst="roundRect">
            <a:avLst>
              <a:gd name="adj" fmla="val 55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211FA-E4BB-4B83-9B2B-81F21E8F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47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22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Approval 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B2834-BCB3-4ED2-92C1-94C77A2A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19400"/>
            <a:ext cx="4171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 restaurant counts toward your commission tier only after Pahatud gives final approval.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0E7EC5-432C-4B7B-A1C1-B8214C0E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57650"/>
            <a:ext cx="4171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Missing files may be uploaded later. Approval waits until all required information and documents are complete, approved, and current.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A8A86-DF7D-4A93-8F4B-2F619581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197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b4cefd8e248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6600" y="5276850"/>
            <a:ext cx="742950" cy="742950"/>
          </a:xfrm>
          <a:prstGeom xmlns:a="http://schemas.openxmlformats.org/drawingml/2006/main" prst="ellipse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FA1E70-C70B-46E9-A828-C6D1DAF8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197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65fcaaa884a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5276850"/>
            <a:ext cx="742950" cy="742950"/>
          </a:xfrm>
          <a:prstGeom xmlns:a="http://schemas.openxmlformats.org/drawingml/2006/main" prst="ellipse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C28229-4EE5-467F-BE24-948DC5F5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0b35d416746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6400" y="5276850"/>
            <a:ext cx="742950" cy="742950"/>
          </a:xfrm>
          <a:prstGeom xmlns:a="http://schemas.openxmlformats.org/drawingml/2006/main" prst="ellipse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E21894-1503-42E6-BE01-35FEF068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908567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02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6C17A-C4D5-4066-A518-35850626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696B9-9AB4-4E52-8242-CAA7F240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Commission tiers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BFC70-3F1F-4224-A316-526161EF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1059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C8CDCF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C8CDCF"/>
                </a:solidFill>
                <a:latin typeface="DM Sans"/>
                <a:ea typeface="DM Sans"/>
                <a:cs typeface="DM Sans"/>
              </a:rPr>
              <a:t>Your approved restaurant count sets your share on each new qualifying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96EA6-C175-4623-A81F-4830758E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171950" cy="33528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2C0DE-9271-42AB-8980-620C1A0F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SIMPLE 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2206A-DE9D-41A9-9DD0-49BFE34B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3333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2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 commission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2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× agent share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2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= your commission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979DB-5849-4C6D-BD62-00E4C28E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Example: ₱200 × 20% = ₱40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429250" y="1924050"/>
          <a:ext xmlns:a="http://schemas.openxmlformats.org/drawingml/2006/main" cx="6057900" cy="2952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1581150"/>
                <a:gridCol w="2286000"/>
              </a:tblGrid>
              <a:tr h="66675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02426"/>
                          </a:solidFill>
                          <a:latin typeface="Manrope"/>
                          <a:ea typeface="Manrope"/>
                          <a:cs typeface="Manrope"/>
                        </a:rPr>
                        <a:t>Approved restaurants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02426"/>
                          </a:solidFill>
                          <a:latin typeface="Manrope"/>
                          <a:ea typeface="Manrope"/>
                          <a:cs typeface="Manrope"/>
                        </a:rPr>
                        <a:t>Agent share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02426"/>
                          </a:solidFill>
                          <a:latin typeface="Manrope"/>
                          <a:ea typeface="Manrope"/>
                          <a:cs typeface="Manrope"/>
                        </a:rPr>
                        <a:t>Example from ₱200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0–34</a:t>
                      </a:r>
                    </a:p>
                  </a:txBody>
                  <a:tcPr marL="91440" marR="91440" marT="45720" marB="45720" anchor="ctr">
                    <a:solidFill>
                      <a:srgbClr val="292F32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20%</a:t>
                      </a:r>
                    </a:p>
                  </a:txBody>
                  <a:tcPr marL="91440" marR="91440" marT="45720" marB="45720" anchor="ctr">
                    <a:solidFill>
                      <a:srgbClr val="292F32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₱40</a:t>
                      </a:r>
                    </a:p>
                  </a:txBody>
                  <a:tcPr marL="91440" marR="91440" marT="45720" marB="45720" anchor="ctr">
                    <a:solidFill>
                      <a:srgbClr val="292F32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35–49</a:t>
                      </a:r>
                    </a:p>
                  </a:txBody>
                  <a:tcPr marL="91440" marR="91440" marT="45720" marB="45720" anchor="ctr">
                    <a:solidFill>
                      <a:srgbClr val="292F32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25%</a:t>
                      </a:r>
                    </a:p>
                  </a:txBody>
                  <a:tcPr marL="91440" marR="91440" marT="45720" marB="45720" anchor="ctr">
                    <a:solidFill>
                      <a:srgbClr val="292F32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₱50</a:t>
                      </a:r>
                    </a:p>
                  </a:txBody>
                  <a:tcPr marL="91440" marR="91440" marT="45720" marB="45720" anchor="ctr">
                    <a:solidFill>
                      <a:srgbClr val="292F32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50 or more</a:t>
                      </a:r>
                    </a:p>
                  </a:txBody>
                  <a:tcPr marL="91440" marR="91440" marT="45720" marB="45720" anchor="ctr">
                    <a:solidFill>
                      <a:srgbClr val="31383B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8A84"/>
                          </a:solidFill>
                          <a:latin typeface="DM Sans"/>
                          <a:ea typeface="DM Sans"/>
                          <a:cs typeface="DM Sans"/>
                        </a:rPr>
                        <a:t>30%</a:t>
                      </a:r>
                    </a:p>
                  </a:txBody>
                  <a:tcPr marL="91440" marR="91440" marT="45720" marB="45720" anchor="ctr">
                    <a:solidFill>
                      <a:srgbClr val="31383B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8A84"/>
                          </a:solidFill>
                          <a:latin typeface="DM Sans"/>
                          <a:ea typeface="DM Sans"/>
                          <a:cs typeface="DM Sans"/>
                        </a:rPr>
                        <a:t>₱60</a:t>
                      </a:r>
                    </a:p>
                  </a:txBody>
                  <a:tcPr marL="91440" marR="91440" marT="45720" marB="45720" anchor="ctr">
                    <a:solidFill>
                      <a:srgbClr val="31383B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5F9C7-8C85-45A4-ABB4-22DAE86A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197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 i="0">
                <a:solidFill>
                  <a:srgbClr val="FF8A84"/>
                </a:solidFill>
                <a:latin typeface="Manrope"/>
                <a:ea typeface="Manrope"/>
                <a:cs typeface="Manrope"/>
              </a:defRPr>
            </a:pPr>
            <a:r>
              <a:rPr sz="1425" b="1" i="0">
                <a:solidFill>
                  <a:srgbClr val="FF8A84"/>
                </a:solidFill>
                <a:latin typeface="Manrope"/>
                <a:ea typeface="Manrope"/>
                <a:cs typeface="Manrope"/>
              </a:rPr>
              <a:t>Important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3662E-8BDF-4189-A333-E9FDD22C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581650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C8CDCF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C8CDCF"/>
                </a:solidFill>
                <a:latin typeface="DM Sans"/>
                <a:ea typeface="DM Sans"/>
                <a:cs typeface="DM Sans"/>
              </a:rPr>
              <a:t>Only Approved restaurants count. New tiers apply to future qualifying orders. Delivery fees are excluded, and cancelled, refunded, failed, or reversed orders do not earn commission.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07084-CE9D-446C-96AC-71F5A915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135511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6881F7-FA42-4323-85FA-0569C9DA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F42FB-4385-4239-90BC-0080B789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"/>
            <a:ext cx="689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3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What the Agent Dashboard tracks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91A65-CB70-4762-8F09-86DCAB6E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689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Your portal connects restaurant progress, order activity, and commission reporting.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1B6D3-D5E6-4B3E-AB29-D041F003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Approved restaurants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185DB-DA33-4CEE-84E6-338B7D7F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Partners currently counted toward your tier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39341-B204-4D97-841F-67AAAE72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5262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Current commission share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F7819-1571-4E97-8BA9-42660B32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6222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The tier rate used for new qualifying orders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AAB5B-AC93-481F-BCA6-3630D501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Orders generated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05C29-3C40-4002-8F80-DCAEAD26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Orders connected to your restaurant network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6AB9C-AD65-45CF-B7F6-F270B129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337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Completed order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F53EE-19E8-444C-898B-9348BD3C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433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Delivered order value recorded by the platform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5BD7F-FCB9-4C09-B613-6F36D07F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Total commission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7C2E5-C051-4AC7-BD00-0915BFFF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Earned commission across qualifying orders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AF61A-7444-49AD-999A-7E009C58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1487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This month's commission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D4CEF-E073-4609-B510-51C0AD87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32447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Commission activity for the current month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B343C-7A6B-4E17-9796-84E94C51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85800"/>
            <a:ext cx="3648075" cy="5524500"/>
          </a:xfrm>
          <a:prstGeom xmlns:a="http://schemas.openxmlformats.org/drawingml/2006/main" prst="roundRect">
            <a:avLst>
              <a:gd name="adj" fmla="val 6266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bab2cf60d4554"/>
          <a:stretch xmlns:a="http://schemas.openxmlformats.org/drawingml/2006/main"/>
        </p:blipFill>
        <p:spPr>
          <a:xfrm xmlns:a="http://schemas.openxmlformats.org/drawingml/2006/main">
            <a:off x="8723709" y="990600"/>
            <a:ext cx="1907381" cy="42386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E9137F-F0BE-49D6-9985-E450F0CE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91150"/>
            <a:ext cx="31718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C92D2A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C92D2A"/>
                </a:solidFill>
                <a:latin typeface="Manrope"/>
                <a:ea typeface="Manrope"/>
                <a:cs typeface="Manrope"/>
              </a:rPr>
              <a:t>Reports show pending, approved, paid, and reversed entries. Pahatud operations coordinates approved payouts.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93B06A-5F12-41CF-B90C-BE61AD97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799364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F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B637D-C831-4D00-81A9-0B211B3E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-266700"/>
            <a:ext cx="6286500" cy="7391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6033B-1535-4BC5-846A-133012AD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04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605c46efa41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5810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37A8A-B736-4D2D-A82F-EDEEC2A0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42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Your first 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7AF0A-1C44-4CAE-9F53-2B92351E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342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F21A3-F778-4AE4-B97F-AFC17BDC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2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Open the Pahatud Agent Program registration page.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FF1D5-51EE-4E37-AE3F-8E42CC16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342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407DC-1C4B-46AB-BA35-7DA621B4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909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Submit your details and wait for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7E068-7BC0-4DD7-B68A-1A5771FB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42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CB2C7-F3A0-4DD8-9E19-D171754B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19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Sign in and enroll your first restaurant.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05B03-913C-4ED4-9495-1D418D29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342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E5645-3183-4FC5-A0E3-D75BAB42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Check restaurant status and commission reports regularly.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2B586-327F-4146-A8FD-10900253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Agent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86B0A-D819-41AF-9F75-820DDE18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769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info@pahatud.com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d68c8dd5f4625"/>
          <a:stretch xmlns:a="http://schemas.openxmlformats.org/drawingml/2006/main"/>
        </p:blipFill>
        <p:spPr>
          <a:xfrm xmlns:a="http://schemas.openxmlformats.org/drawingml/2006/main">
            <a:off x="7524750" y="1681963"/>
            <a:ext cx="4133850" cy="3417873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2C657-63DE-4B4B-9FC1-CEAED372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1970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Approval comes first. Earnings begin only after qualifying delivered orders from approved restaurants.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C527D1-9AC7-41FD-BD8A-8FEAAAAA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963947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2026-09-29T08:18:35.8340000Z</dcterms:created>
  <dcterms:modified xsi:type="dcterms:W3CDTF">2026-09-29T08:18:35.8340000Z</dcterms:modified>
</coreProperties>
</file>