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6029ee1b26b4779" /><Relationship Type="http://schemas.openxmlformats.org/officeDocument/2006/relationships/extended-properties" Target="/docProps/app.xml" Id="R05bd4d6a1acb41ec" /><Relationship Type="http://schemas.openxmlformats.org/officeDocument/2006/relationships/officeDocument" Target="/ppt/presentation.xml" Id="Rbff0a45dc91e4c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5fcc9fdc5b4253"/>
  </p:sldMasterIdLst>
  <p:notesMasterIdLst>
    <p:notesMasterId xmlns:r="http://schemas.openxmlformats.org/officeDocument/2006/relationships" r:id="R11422ec7f7c2491a"/>
  </p:notesMasterIdLst>
  <p:sldIdLst>
    <p:sldId xmlns:r="http://schemas.openxmlformats.org/officeDocument/2006/relationships" id="256" r:id="R87058ac41baf4b94"/>
    <p:sldId xmlns:r="http://schemas.openxmlformats.org/officeDocument/2006/relationships" id="257" r:id="Rec9742b33b0646dd"/>
    <p:sldId xmlns:r="http://schemas.openxmlformats.org/officeDocument/2006/relationships" id="258" r:id="R76498128dc7e45f3"/>
    <p:sldId xmlns:r="http://schemas.openxmlformats.org/officeDocument/2006/relationships" id="259" r:id="Rfdbbbf9311064188"/>
    <p:sldId xmlns:r="http://schemas.openxmlformats.org/officeDocument/2006/relationships" id="260" r:id="R2b7f49e4cffe4c2e"/>
    <p:sldId xmlns:r="http://schemas.openxmlformats.org/officeDocument/2006/relationships" id="261" r:id="R61ab20d0afae448b"/>
    <p:sldId xmlns:r="http://schemas.openxmlformats.org/officeDocument/2006/relationships" id="262" r:id="R606e5b5727ef4884"/>
    <p:sldId xmlns:r="http://schemas.openxmlformats.org/officeDocument/2006/relationships" id="263" r:id="Rae6e344a4a5a4d0d"/>
    <p:sldId xmlns:r="http://schemas.openxmlformats.org/officeDocument/2006/relationships" id="264" r:id="R882749b8ae2740ea"/>
    <p:sldId xmlns:r="http://schemas.openxmlformats.org/officeDocument/2006/relationships" id="265" r:id="R7dc13ca274a240b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c8c977c93d42ac" /><Relationship Type="http://schemas.openxmlformats.org/officeDocument/2006/relationships/slideMaster" Target="/ppt/slideMasters/slideMaster1.xml" Id="Re45fcc9fdc5b4253" /><Relationship Type="http://schemas.openxmlformats.org/officeDocument/2006/relationships/notesMaster" Target="/ppt/notesMasters/notesMaster1.xml" Id="R11422ec7f7c2491a" /><Relationship Type="http://schemas.openxmlformats.org/officeDocument/2006/relationships/presProps" Target="/ppt/presProps.xml" Id="R7bb87dd827c94379" /><Relationship Type="http://schemas.openxmlformats.org/officeDocument/2006/relationships/tableStyles" Target="/ppt/tableStyles.xml" Id="R2c2c9678d24a4e81" /><Relationship Type="http://schemas.openxmlformats.org/officeDocument/2006/relationships/slide" Target="/ppt/slides/slide1.xml" Id="R87058ac41baf4b94" /><Relationship Type="http://schemas.openxmlformats.org/officeDocument/2006/relationships/slide" Target="/ppt/slides/slide2.xml" Id="Rec9742b33b0646dd" /><Relationship Type="http://schemas.openxmlformats.org/officeDocument/2006/relationships/slide" Target="/ppt/slides/slide3.xml" Id="R76498128dc7e45f3" /><Relationship Type="http://schemas.openxmlformats.org/officeDocument/2006/relationships/slide" Target="/ppt/slides/slide4.xml" Id="Rfdbbbf9311064188" /><Relationship Type="http://schemas.openxmlformats.org/officeDocument/2006/relationships/slide" Target="/ppt/slides/slide5.xml" Id="R2b7f49e4cffe4c2e" /><Relationship Type="http://schemas.openxmlformats.org/officeDocument/2006/relationships/slide" Target="/ppt/slides/slide6.xml" Id="R61ab20d0afae448b" /><Relationship Type="http://schemas.openxmlformats.org/officeDocument/2006/relationships/slide" Target="/ppt/slides/slide7.xml" Id="R606e5b5727ef4884" /><Relationship Type="http://schemas.openxmlformats.org/officeDocument/2006/relationships/slide" Target="/ppt/slides/slide8.xml" Id="Rae6e344a4a5a4d0d" /><Relationship Type="http://schemas.openxmlformats.org/officeDocument/2006/relationships/slide" Target="/ppt/slides/slide9.xml" Id="R882749b8ae2740ea" /><Relationship Type="http://schemas.openxmlformats.org/officeDocument/2006/relationships/slide" Target="/ppt/slides/slide10.xml" Id="R7dc13ca274a240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cdaf2c692f47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86a68db7d44c74" /><Relationship Type="http://schemas.openxmlformats.org/officeDocument/2006/relationships/notesMaster" Target="/ppt/notesMasters/notesMaster1.xml" Id="Re0d3011502f040b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175aa0df6a430e" /><Relationship Type="http://schemas.openxmlformats.org/officeDocument/2006/relationships/notesMaster" Target="/ppt/notesMasters/notesMaster1.xml" Id="R6ea95dd6b79642e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6cd75d54934e20" /><Relationship Type="http://schemas.openxmlformats.org/officeDocument/2006/relationships/notesMaster" Target="/ppt/notesMasters/notesMaster1.xml" Id="R7c0a565138e642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85fccc02b344d08" /><Relationship Type="http://schemas.openxmlformats.org/officeDocument/2006/relationships/notesMaster" Target="/ppt/notesMasters/notesMaster1.xml" Id="R404c578a1cc64b9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0605bf5a8784cdb" /><Relationship Type="http://schemas.openxmlformats.org/officeDocument/2006/relationships/notesMaster" Target="/ppt/notesMasters/notesMaster1.xml" Id="Rd51e31e108044b3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fe2284abc6e4fe4" /><Relationship Type="http://schemas.openxmlformats.org/officeDocument/2006/relationships/notesMaster" Target="/ppt/notesMasters/notesMaster1.xml" Id="Rab0ba07476834ab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323e8cd08e049e4" /><Relationship Type="http://schemas.openxmlformats.org/officeDocument/2006/relationships/notesMaster" Target="/ppt/notesMasters/notesMaster1.xml" Id="Re0ffd1966fb9432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debfd23029a42f6" /><Relationship Type="http://schemas.openxmlformats.org/officeDocument/2006/relationships/notesMaster" Target="/ppt/notesMasters/notesMaster1.xml" Id="Re08f4bdf647847d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a251927f55e4d15" /><Relationship Type="http://schemas.openxmlformats.org/officeDocument/2006/relationships/notesMaster" Target="/ppt/notesMasters/notesMaster1.xml" Id="R063899bbf19248d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17fc9c62bbc403f" /><Relationship Type="http://schemas.openxmlformats.org/officeDocument/2006/relationships/notesMaster" Target="/ppt/notesMasters/notesMaster1.xml" Id="R3c54e3aa118f47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resources/views/pages/about.blade.php and resources/views/pages/home.blade.php. Assets: public/images/logo-big.png, public/images/motor.png, public/images/app-preview/home.png.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resources/views/pages/about.blade.php; resources/views/pages/home.blade.php; AGENTS.md platform summary. Brand image: public/images/pahatud-logo-with-motor.jpg.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resources/views/pages/home.blade.php; routes/api.php checkout coupon routes; app/Http/Controllers/Api/User/Cart/CheckoutController.php. Screenshot: public/images/app-preview/restaurants.png.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routes/web.php restaurant, flower-store, and booking routes; resources/views/pages/flower/view.blade.php; resources/views/pages/booking/view.blade.php; checkout and customer profile routes. Assets are existing Pahatud files under public/uploads and public/images.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resources/views/merchant/partials/documentation.blade.php and merchant routes in routes/web.php. Illustration: public/images/partner-with-us.jpg.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routes/rider.php; app/Services/RiderOfferDispatcher.php; resources/views/agent/dashboard.blade.php; app/Services/AgentCommissionService.php; admin routes in routes/web.php. Screenshot: public/images/app-preview/order-tracking.png.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Diagram synthesized from current customer, merchant, rider, agent, and admin capabilities in routes/web.php, routes/api.php, routes/rider.php, resources/views/pages/home.blade.php, resources/views/merchant/partials/documentation.blade.php, and resources/views/agent/dashboard.blade.php.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app/Services/AgentCommissionService.php; app/Services/RiderCommissionService.php; app/Services/RiderOfferDispatcher.php; app/Model/Cart.php; resources/views/merchant/pages/reports/today.blade.php. No financial totals or forecasts are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Current-capability sources: routes/web.php, routes/api.php, routes/rider.php, resources/views/pages/home.blade.php, resources/views/merchant/partials/documentation.blade.php, resources/views/agent/dashboard.blade.php. Growth priorities are strategic opportunities, not promises or forecasts. No traction or financial metrics were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resources/views/pages/about.blade.php, resources/views/pages/home.blade.php, and resources/views/merchant/partials/documentation.blade.php for contact details. Background: public/uploads/user/29/banner/2021-04-10-banner-burgerjoint.jpg. Logo: public/images/logo-big.png.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f819492b6e4ee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c09c41703f4efc" /><Relationship Type="http://schemas.openxmlformats.org/officeDocument/2006/relationships/slideLayout" Target="/ppt/slideLayouts/slideLayout1.xml" Id="R5c5d9ba743424b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5d9ba743424b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1ccd2524234900" /><Relationship Type="http://schemas.openxmlformats.org/officeDocument/2006/relationships/image" Target="/ppt/media/image.png" Id="R6ee0a2bf42d04030" /><Relationship Type="http://schemas.openxmlformats.org/officeDocument/2006/relationships/image" Target="/ppt/media/image.jpeg" Id="Rbaac9ecb9c27455b" /><Relationship Type="http://schemas.openxmlformats.org/officeDocument/2006/relationships/image" Target="/ppt/media/image2.png" Id="Rabc4f401481e460c" /><Relationship Type="http://schemas.openxmlformats.org/officeDocument/2006/relationships/notesSlide" Target="/ppt/notesSlides/notesSlide1.xml" Id="R21ccb750bfa8494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08795cfab646e7" /><Relationship Type="http://schemas.openxmlformats.org/officeDocument/2006/relationships/image" Target="/ppt/media/image2.jpeg" Id="Rd7720030ae464686" /><Relationship Type="http://schemas.openxmlformats.org/officeDocument/2006/relationships/notesSlide" Target="/ppt/notesSlides/notesSlide2.xml" Id="R530de8e449dd469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8e6051de6f4742" /><Relationship Type="http://schemas.openxmlformats.org/officeDocument/2006/relationships/image" Target="/ppt/media/image3.png" Id="R49e590f728184dd4" /><Relationship Type="http://schemas.openxmlformats.org/officeDocument/2006/relationships/notesSlide" Target="/ppt/notesSlides/notesSlide3.xml" Id="R58e6d6ebc24c43d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45a56b9e8c4a01" /><Relationship Type="http://schemas.openxmlformats.org/officeDocument/2006/relationships/image" Target="/ppt/media/image3.jpeg" Id="R8675ac3ba7b04563" /><Relationship Type="http://schemas.openxmlformats.org/officeDocument/2006/relationships/image" Target="/ppt/media/image4.png" Id="R8463c6ab292b4e0a" /><Relationship Type="http://schemas.openxmlformats.org/officeDocument/2006/relationships/image" Target="/ppt/media/image4.jpeg" Id="R97c40b5929274869" /><Relationship Type="http://schemas.openxmlformats.org/officeDocument/2006/relationships/notesSlide" Target="/ppt/notesSlides/notesSlide4.xml" Id="Rb2b7d53dd1e7471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d7914bfdef43bd" /><Relationship Type="http://schemas.openxmlformats.org/officeDocument/2006/relationships/image" Target="/ppt/media/image5.jpeg" Id="R8f925fe3985b4532" /><Relationship Type="http://schemas.openxmlformats.org/officeDocument/2006/relationships/notesSlide" Target="/ppt/notesSlides/notesSlide5.xml" Id="R8fc72b34ea8a49c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8071170c214452" /><Relationship Type="http://schemas.openxmlformats.org/officeDocument/2006/relationships/image" Target="/ppt/media/image5.png" Id="Rd6aadb780f434e6b" /><Relationship Type="http://schemas.openxmlformats.org/officeDocument/2006/relationships/notesSlide" Target="/ppt/notesSlides/notesSlide6.xml" Id="R37ae0d9c4442406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60f59365944784" /><Relationship Type="http://schemas.openxmlformats.org/officeDocument/2006/relationships/notesSlide" Target="/ppt/notesSlides/notesSlide7.xml" Id="Rdf73600e75644b5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3d885097934b9d" /><Relationship Type="http://schemas.openxmlformats.org/officeDocument/2006/relationships/notesSlide" Target="/ppt/notesSlides/notesSlide8.xml" Id="R4f380fc5da9848a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274ca3c5e8495e" /><Relationship Type="http://schemas.openxmlformats.org/officeDocument/2006/relationships/notesSlide" Target="/ppt/notesSlides/notesSlide9.xml" Id="R585556d9965b4e8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27e31d678c406b" /><Relationship Type="http://schemas.openxmlformats.org/officeDocument/2006/relationships/image" Target="/ppt/media/image6.jpeg" Id="R2093a7a5867f41d7" /><Relationship Type="http://schemas.openxmlformats.org/officeDocument/2006/relationships/image" Target="/ppt/media/image7.jpeg" Id="R36aa0f7231254e94" /><Relationship Type="http://schemas.openxmlformats.org/officeDocument/2006/relationships/notesSlide" Target="/ppt/notesSlides/notesSlide10.xml" Id="Rc65a21b776f6479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F3B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C0BAE0-D5E1-4DFB-93D6-4858F707F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-1600200"/>
            <a:ext cx="7239000" cy="9353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9E07DE-EFF7-4ACD-97CD-68A582088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3850"/>
            <a:ext cx="2857500" cy="6096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e0a2bf42d04030"/>
          <a:srcRect xmlns:a="http://schemas.openxmlformats.org/drawingml/2006/main" l="2488" t="0" r="24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86775" y="542925"/>
            <a:ext cx="2419350" cy="5657850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ac9ecb9c27455b"/>
          <a:srcRect xmlns:a="http://schemas.openxmlformats.org/drawingml/2006/main" l="0" t="14000" r="0" b="14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495300"/>
            <a:ext cx="2743200" cy="9144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87F5E9-AA10-4B25-B478-A89A3068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6572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72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472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What Pahatud Really 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7BA0E7-F101-4827-824A-315E8B898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52800"/>
            <a:ext cx="59245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2025" b="0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A customer and investor overview of Pahatud's local commerce and delivery platform.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c4f401481e460c"/>
          <a:stretch xmlns:a="http://schemas.openxmlformats.org/drawingml/2006/main"/>
        </p:blipFill>
        <p:spPr>
          <a:xfrm xmlns:a="http://schemas.openxmlformats.org/drawingml/2006/main">
            <a:off x="1750911" y="4838700"/>
            <a:ext cx="1889329" cy="15621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AED20E-75B8-402E-B5CE-0566D03FF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724525"/>
            <a:ext cx="24193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28575" rIns="1143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1" i="0">
                <a:solidFill>
                  <a:srgbClr val="C92D2A"/>
                </a:solidFill>
                <a:latin typeface="Manrope"/>
                <a:ea typeface="Manrope"/>
                <a:cs typeface="Manrope"/>
              </a:defRPr>
            </a:pPr>
            <a:r>
              <a:rPr sz="1200" b="1" i="0">
                <a:solidFill>
                  <a:srgbClr val="C92D2A"/>
                </a:solidFill>
                <a:latin typeface="Manrope"/>
                <a:ea typeface="Manrope"/>
                <a:cs typeface="Manrope"/>
              </a:rPr>
              <a:t>READY, SET, DELIVERED</a:t>
            </a:r>
          </a:p>
        </p:txBody>
      </p:sp>
    </p:spTree>
    <p:extLst>
      <p:ext uri="{BB962C8B-B14F-4D97-AF65-F5344CB8AC3E}">
        <p14:creationId xmlns:p14="http://schemas.microsoft.com/office/powerpoint/2010/main" val="687637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4CBB3C-2385-44C5-8B97-022EA3B19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F3E398-9F4D-47FB-92E0-AC64AC604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"/>
            <a:ext cx="6248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7000"/>
              </a:lnSpc>
              <a:buNone/>
              <a:defRPr sz="345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345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A local delivery marketplace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E8AC5F-2606-4A7C-B041-1FBA8D3DF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23950"/>
            <a:ext cx="6248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Pahatud connects customers with neighborhood restaurants and merchants, then coordinates the people and tools needed to complete delivery.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51DE04-24ED-43EB-9D68-A9FF6A66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581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40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240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Pahatud means “to request to deliver.”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B7D613-E30C-48A3-AAE0-EAD4CE0DF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35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85730A-D3F4-4589-90C6-284B46E2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71800"/>
            <a:ext cx="521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87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For customers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1067E7-E3B2-48A8-9CEB-25AC000E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71850"/>
            <a:ext cx="5219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Discover local choices, place orders, use discounts, and follow delivery from the mobile experience.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2569E9-98B3-4B4B-B482-6641F2780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386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 i="0">
                <a:solidFill>
                  <a:srgbClr val="E59A2F"/>
                </a:solidFill>
                <a:latin typeface="Manrope"/>
                <a:ea typeface="Manrope"/>
                <a:cs typeface="Manrope"/>
              </a:defRPr>
            </a:pPr>
            <a:r>
              <a:rPr sz="1350" b="1" i="0">
                <a:solidFill>
                  <a:srgbClr val="E59A2F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37A181-D9EE-4ABF-96B9-BA6C18FB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00525"/>
            <a:ext cx="521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87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For local businesses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8791BF-108A-42E9-865B-4C39C905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00575"/>
            <a:ext cx="5219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Publish products, manage locations and orders, run promotions, and review sales and commission.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9819D5-D6BA-4C25-AB47-E1EE7A7BF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673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 i="0">
                <a:solidFill>
                  <a:srgbClr val="188761"/>
                </a:solidFill>
                <a:latin typeface="Manrope"/>
                <a:ea typeface="Manrope"/>
                <a:cs typeface="Manrope"/>
              </a:defRPr>
            </a:pPr>
            <a:r>
              <a:rPr sz="1350" b="1" i="0">
                <a:solidFill>
                  <a:srgbClr val="188761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294DFA-3810-4D94-BF27-2DECE739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429250"/>
            <a:ext cx="521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87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For the local network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AE76CF-C945-43DC-9A3C-223B53F68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829300"/>
            <a:ext cx="5219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Coordinate riders, agents, merchant applications, support, and operational reporting.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CCF30E-FD0F-4445-B2CC-9AA0AB6F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52450"/>
            <a:ext cx="4267200" cy="558165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8F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720030ae464686"/>
          <a:srcRect xmlns:a="http://schemas.openxmlformats.org/drawingml/2006/main" l="31" t="0" r="3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86650" y="914400"/>
            <a:ext cx="3771900" cy="25146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ECA2F7-F00D-497F-98F0-BD7CFAE51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909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55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255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Davao-born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753141-FA5C-42A8-B820-8AFE93E3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362450"/>
            <a:ext cx="31623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725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Built around the daily needs of Davao customers, restaurants, merchants, riders, and local entrepreneurs.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E3ACC0-6D16-4235-A36A-4FF50470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75" b="1" i="0">
                <a:solidFill>
                  <a:srgbClr val="8D9295"/>
                </a:solidFill>
                <a:latin typeface="Manrope"/>
                <a:ea typeface="Manrope"/>
                <a:cs typeface="Manrope"/>
              </a:defRPr>
            </a:pPr>
            <a:r>
              <a:rPr sz="975" b="1" i="0">
                <a:solidFill>
                  <a:srgbClr val="8D9295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238752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5DB9B2-8FFD-4B4E-A291-42EFE5E8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9EFC73-9CC4-4FE6-95AD-59C588A51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"/>
            <a:ext cx="10591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7000"/>
              </a:lnSpc>
              <a:buNone/>
              <a:defRPr sz="345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345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The customer experience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532174-B182-4D5E-B862-0526CB4E0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23950"/>
            <a:ext cx="10591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One simple journey from local discovery to delivery at the door.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E1C8A9-492C-41B9-9531-9B7D2C59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3162300" cy="45910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e590f728184dd4"/>
          <a:srcRect xmlns:a="http://schemas.openxmlformats.org/drawingml/2006/main" l="0" t="4690" r="0" b="46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6825" y="1838325"/>
            <a:ext cx="2076450" cy="41814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D41798-C5B6-4DC9-82F2-0D7070791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885950"/>
            <a:ext cx="5524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4A61E7-C121-45FB-91E5-2404CA5F5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866900"/>
            <a:ext cx="156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210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Choose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48B819-EAE5-4D9B-BBE5-8E943D81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876425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Browse nearby restaurants and see delivery estimates and fees.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432C07-CA74-42AF-93F7-537D7B798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295525"/>
            <a:ext cx="0" cy="600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D8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838E89-EBE1-42A3-BD29-60BAEAA44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52750"/>
            <a:ext cx="5524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4B9421-C549-4EA6-88D6-3909692E1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933700"/>
            <a:ext cx="156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210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Order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A702B9-162F-468F-908F-A06144FCA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43225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Select products, quantities, add-ons, address, and payment method.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6A82A3-9D8D-455B-8244-7F5F8A2D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362325"/>
            <a:ext cx="0" cy="600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D8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D3A36E-37A3-4BC5-87AF-962BE1B6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19550"/>
            <a:ext cx="5524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65FF76-2483-43BF-B5F0-20160BD3D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000500"/>
            <a:ext cx="156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210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Save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99059D-5AB0-49E0-B9BC-8ED212B3C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010025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Apply available coupon discounts when an order qualifies.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A5FC75-DDC3-444F-9B4F-854977B78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429125"/>
            <a:ext cx="0" cy="600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D8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F55ABF-008B-442C-A64B-F25598A6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086350"/>
            <a:ext cx="5524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876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7DFD32-937E-4597-B1AF-2CDFDC2E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067300"/>
            <a:ext cx="156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210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Track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C7EB35-BA82-4B99-9134-29EAF3C77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076825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Follow the order and delivery status until it reaches the customer.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182A80-C1B8-4D32-A6F3-4207570A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962650"/>
            <a:ext cx="662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 i="1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275" b="0" i="1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Convenient cash on delivery is promoted in the current customer experience.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C97AD2-1F57-4D17-BF2B-5F411F76E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75" b="1" i="0">
                <a:solidFill>
                  <a:srgbClr val="8D9295"/>
                </a:solidFill>
                <a:latin typeface="Manrope"/>
                <a:ea typeface="Manrope"/>
                <a:cs typeface="Manrope"/>
              </a:defRPr>
            </a:pPr>
            <a:r>
              <a:rPr sz="975" b="1" i="0">
                <a:solidFill>
                  <a:srgbClr val="8D9295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583518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83E4FA-1CD6-4463-B1D0-66972C262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69C004-041B-491E-82D4-703B37A5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"/>
            <a:ext cx="10591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7000"/>
              </a:lnSpc>
              <a:buNone/>
              <a:defRPr sz="345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345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More than restaurant ordering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1178A6-F93E-446B-AFD1-DA03D43C5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23950"/>
            <a:ext cx="10591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The platform already supports several ways for local customers to request products and delivery.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D265E3-F8BA-4C13-91D4-3DFC4C36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162300" cy="2609850"/>
          </a:xfrm>
          <a:prstGeom xmlns:a="http://schemas.openxmlformats.org/drawingml/2006/main" prst="roundRect">
            <a:avLst>
              <a:gd name="adj" fmla="val 8759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75ac3ba7b04563"/>
          <a:srcRect xmlns:a="http://schemas.openxmlformats.org/drawingml/2006/main" l="0" t="9416" r="0" b="94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00" y="1790700"/>
            <a:ext cx="2933700" cy="2381250"/>
          </a:xfrm>
          <a:prstGeom xmlns:a="http://schemas.openxmlformats.org/drawingml/2006/main" prst="roundRect">
            <a:avLst>
              <a:gd name="adj" fmla="val 640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FB9961-3814-408D-9159-35FEDCD3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316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210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Food and restaurants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B5392E-B553-40BC-88EF-E2860225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Local restaurant discovery, menu ordering, cart, checkout, discounts, and order history.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3DAC96-80FE-4B4E-8379-FECB46B5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676400"/>
            <a:ext cx="3162300" cy="2609850"/>
          </a:xfrm>
          <a:prstGeom xmlns:a="http://schemas.openxmlformats.org/drawingml/2006/main" prst="roundRect">
            <a:avLst>
              <a:gd name="adj" fmla="val 8759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63c6ab292b4e0a"/>
          <a:srcRect xmlns:a="http://schemas.openxmlformats.org/drawingml/2006/main" l="0" t="9416" r="0" b="94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43400" y="1790700"/>
            <a:ext cx="2933700" cy="2381250"/>
          </a:xfrm>
          <a:prstGeom xmlns:a="http://schemas.openxmlformats.org/drawingml/2006/main" prst="roundRect">
            <a:avLst>
              <a:gd name="adj" fmla="val 6400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26D1E7-F3E8-46C8-9E09-2C7C6F4BA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552950"/>
            <a:ext cx="316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210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Flowers and gifts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95EF22-5E21-4436-B338-91C0E8115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0673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A dedicated flower-store experience supports local florists and same-day delivery offers.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E9EB0B-356B-4819-B0D5-965E784C1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76400"/>
            <a:ext cx="3162300" cy="2609850"/>
          </a:xfrm>
          <a:prstGeom xmlns:a="http://schemas.openxmlformats.org/drawingml/2006/main" prst="roundRect">
            <a:avLst>
              <a:gd name="adj" fmla="val 8759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c40b5929274869"/>
          <a:srcRect xmlns:a="http://schemas.openxmlformats.org/drawingml/2006/main" l="0" t="9416" r="0" b="94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86700" y="1790700"/>
            <a:ext cx="2933700" cy="2381250"/>
          </a:xfrm>
          <a:prstGeom xmlns:a="http://schemas.openxmlformats.org/drawingml/2006/main" prst="roundRect">
            <a:avLst>
              <a:gd name="adj" fmla="val 6400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2155C0-AF70-4391-9CCC-DA96785B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552950"/>
            <a:ext cx="316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210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Delivery requests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741B4E-459D-4CA0-89D8-F1F30FCA8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0673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Booking routes and rider workflows support customer requests beyond standard restaurant orders.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A12AF4-0894-47B9-BFF4-FAB938DD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75" b="1" i="0">
                <a:solidFill>
                  <a:srgbClr val="8D9295"/>
                </a:solidFill>
                <a:latin typeface="Manrope"/>
                <a:ea typeface="Manrope"/>
                <a:cs typeface="Manrope"/>
              </a:defRPr>
            </a:pPr>
            <a:r>
              <a:rPr sz="975" b="1" i="0">
                <a:solidFill>
                  <a:srgbClr val="8D9295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458037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0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F68CFD-8EBC-48CA-8D55-D2364E038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C57286-5457-4A94-9A35-675FF9EF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"/>
            <a:ext cx="10725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7000"/>
              </a:lnSpc>
              <a:buNone/>
              <a:defRPr sz="345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345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A practical operating system for merchants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F8E55B-D4EA-4E58-8DDA-FE29A569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23950"/>
            <a:ext cx="10725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Pahatud gives restaurants a way to join the marketplace and run daily commerce from one dashboard.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324672-92EC-4EE8-A947-29ABD496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3657600" cy="462915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925fe3985b4532"/>
          <a:stretch xmlns:a="http://schemas.openxmlformats.org/drawingml/2006/main"/>
        </p:blipFill>
        <p:spPr>
          <a:xfrm xmlns:a="http://schemas.openxmlformats.org/drawingml/2006/main">
            <a:off x="952500" y="2069967"/>
            <a:ext cx="3124200" cy="3803916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D5AFA9-4F9B-43B4-B5AD-935FF875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193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20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ADAAEA-F14A-4A85-8C5A-FCA1736F7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62200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202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Get ready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712655-A7F8-4773-A010-6B3BEE1D9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47975"/>
            <a:ext cx="285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Maintain business profile, branch addresses, contacts, and payout details.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65E766-ED83-4A83-8588-F18D127C3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193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20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B7BC07-D69A-4FA0-BDAE-FA14188CA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62200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202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Build the menu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E2D746-F705-40B1-9C21-06A959190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47975"/>
            <a:ext cx="285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Add products, prices, categories, availability, and add-ons.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75C294-467B-4FDA-8AAE-4D62CB554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1148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20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B50CB5-5B90-4472-85B4-6A3967C9F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57700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202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Run orders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88C117-E3EB-4D87-8FE7-2335E876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943475"/>
            <a:ext cx="285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Review new orders, prepare items, and follow delivery status.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EB84E5-F665-4CCA-8DE7-F4621823B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148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 i="0">
                <a:solidFill>
                  <a:srgbClr val="188761"/>
                </a:solidFill>
                <a:latin typeface="Manrope"/>
                <a:ea typeface="Manrope"/>
                <a:cs typeface="Manrope"/>
              </a:defRPr>
            </a:pPr>
            <a:r>
              <a:rPr sz="1200" b="1" i="0">
                <a:solidFill>
                  <a:srgbClr val="188761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81798B-77D4-4996-95A8-3453590D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457700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202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Learn and improve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E253F0-21FC-4475-8F60-6AD68C8C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943475"/>
            <a:ext cx="285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Review sales, commission, discounts, net amount, vouchers, and coupons.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E56541-A6BE-4D65-B933-287CC768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75" b="1" i="0">
                <a:solidFill>
                  <a:srgbClr val="8D9295"/>
                </a:solidFill>
                <a:latin typeface="Manrope"/>
                <a:ea typeface="Manrope"/>
                <a:cs typeface="Manrope"/>
              </a:defRPr>
            </a:pPr>
            <a:r>
              <a:rPr sz="975" b="1" i="0">
                <a:solidFill>
                  <a:srgbClr val="8D9295"/>
                </a:solidFill>
                <a:latin typeface="Manrope"/>
                <a:ea typeface="Manrope"/>
                <a:cs typeface="Manrop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7182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5B2BF4-1A26-44F2-BA47-8733B5ABA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43B934-F704-429E-854B-750B353B2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"/>
            <a:ext cx="10591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7000"/>
              </a:lnSpc>
              <a:buNone/>
              <a:defRPr sz="345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345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The operating network behind each order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CE38B6-0622-4AA9-A040-464F240D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23950"/>
            <a:ext cx="10591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Riders, agents, and Pahatud operations turn marketplace demand into completed local delivery.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DDE21F-7B24-4BAC-B123-05188CFC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300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25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225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Rider operations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21AD0A-D888-4954-9B86-60F0F192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33718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650" b="0" i="0">
                <a:solidFill>
                  <a:srgbClr val="202426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202426"/>
                </a:solidFill>
                <a:latin typeface="DM Sans"/>
                <a:ea typeface="DM Sans"/>
                <a:cs typeface="DM Sans"/>
              </a:rPr>
              <a:t>Nearby job offers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650" b="0" i="0">
                <a:solidFill>
                  <a:srgbClr val="202426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202426"/>
                </a:solidFill>
                <a:latin typeface="DM Sans"/>
                <a:ea typeface="DM Sans"/>
                <a:cs typeface="DM Sans"/>
              </a:rPr>
              <a:t>Route and delivery events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650" b="0" i="0">
                <a:solidFill>
                  <a:srgbClr val="202426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202426"/>
                </a:solidFill>
                <a:latin typeface="DM Sans"/>
                <a:ea typeface="DM Sans"/>
                <a:cs typeface="DM Sans"/>
              </a:rPr>
              <a:t>Pickup and customer verification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650" b="0" i="0">
                <a:solidFill>
                  <a:srgbClr val="202426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202426"/>
                </a:solidFill>
                <a:latin typeface="DM Sans"/>
                <a:ea typeface="DM Sans"/>
                <a:cs typeface="DM Sans"/>
              </a:rPr>
              <a:t>COD, proof, wallet, and earnings tools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642673-23CF-4C7E-8604-6F128496C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10075"/>
            <a:ext cx="337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D8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7E94F5-038C-4208-8405-153A798C0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8200"/>
            <a:ext cx="321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250" b="1" i="0">
                <a:solidFill>
                  <a:srgbClr val="188761"/>
                </a:solidFill>
                <a:latin typeface="Manrope"/>
                <a:ea typeface="Manrope"/>
                <a:cs typeface="Manrope"/>
              </a:defRPr>
            </a:pPr>
            <a:r>
              <a:rPr sz="2250" b="1" i="0">
                <a:solidFill>
                  <a:srgbClr val="188761"/>
                </a:solidFill>
                <a:latin typeface="Manrope"/>
                <a:ea typeface="Manrope"/>
                <a:cs typeface="Manrope"/>
              </a:rPr>
              <a:t>Agent growth program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A17C15-7E42-4576-85F2-B5B34FCD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3505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Agents enroll restaurants, help complete document review, monitor approval, and earn a share of Pahatud's commission on qualifying delivered orders.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2EBD72-756D-445D-B60B-562E0332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562100"/>
            <a:ext cx="3181350" cy="4743450"/>
          </a:xfrm>
          <a:prstGeom xmlns:a="http://schemas.openxmlformats.org/drawingml/2006/main" prst="roundRect">
            <a:avLst>
              <a:gd name="adj" fmla="val 7186"/>
            </a:avLst>
          </a:prstGeom>
          <a:solidFill xmlns:a="http://schemas.openxmlformats.org/drawingml/2006/main">
            <a:srgbClr val="FFF8F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aadb780f434e6b"/>
          <a:srcRect xmlns:a="http://schemas.openxmlformats.org/drawingml/2006/main" l="0" t="4801" r="0" b="48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67350" y="1752600"/>
            <a:ext cx="2152650" cy="43243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3EA391-9157-4F49-8312-CE39387D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038350"/>
            <a:ext cx="2895600" cy="3352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043C70-6B7C-4358-BD9B-D98A58D2A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00300"/>
            <a:ext cx="2209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232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Pahatud operations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9F0BFC-A6BD-4D7F-87B6-257186302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52800"/>
            <a:ext cx="22098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75" b="0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Approves applications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75" b="0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Coordinates support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75" b="0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Monitors orders and bookings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75" b="0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Reviews reports and payouts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5110EB-7304-4B8A-A624-F68308DF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75" b="1" i="0">
                <a:solidFill>
                  <a:srgbClr val="8D9295"/>
                </a:solidFill>
                <a:latin typeface="Manrope"/>
                <a:ea typeface="Manrope"/>
                <a:cs typeface="Manrope"/>
              </a:defRPr>
            </a:pPr>
            <a:r>
              <a:rPr sz="975" b="1" i="0">
                <a:solidFill>
                  <a:srgbClr val="8D9295"/>
                </a:solidFill>
                <a:latin typeface="Manrope"/>
                <a:ea typeface="Manrope"/>
                <a:cs typeface="Manrop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1023650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91BAA3-20AA-4F69-B7EF-B2A5E9309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F1684B-1A9D-49F4-90F2-A65D04BCD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"/>
            <a:ext cx="10591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7000"/>
              </a:lnSpc>
              <a:buNone/>
              <a:defRPr sz="345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345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A stronger network creates more value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2EAE59-D865-4E46-95BF-0B4314377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23950"/>
            <a:ext cx="10591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More local supply creates more customer choice. More orders create more value for merchants, riders, agents, and Pahatud.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1E6649-A6A1-4931-A350-037ACDC74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581275"/>
            <a:ext cx="1638300" cy="1638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251BAE-A584-49F1-8A33-7987994E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670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PAHATUD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C7F89E-CCF4-4A8A-AD3C-C8F73BC56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66900"/>
            <a:ext cx="2933700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D34AEC-F9ED-43E6-A834-18D9D47B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14550"/>
            <a:ext cx="2438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CUSTOMERS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9DC80E-25B8-47BA-ACF6-B7DBDB5D3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57450"/>
            <a:ext cx="2438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425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Choice, convenience, discounts, and delivery tracking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AB93A9-4AD5-41E7-8D90-511E3B67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24350"/>
            <a:ext cx="2933700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4DECFE-37B8-4B0D-8148-E89DA58D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0"/>
            <a:ext cx="2438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MERCHANTS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EE5909-15B5-4D3C-948D-E0067D0C0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14900"/>
            <a:ext cx="2438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425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Digital storefront, orders, promotions, and reporting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F62D4B-F7B6-4937-B84B-AAC7A630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866900"/>
            <a:ext cx="2933700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F762A3-5EE3-40CB-925F-DA45CB65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14550"/>
            <a:ext cx="2438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RIDERS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47540A-F4B9-4F0F-A54C-CB7042633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57450"/>
            <a:ext cx="2438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425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Delivery offers, routing, earnings, and service proof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4BA72F-7972-4562-B90A-9EE56C086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324350"/>
            <a:ext cx="2933700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CD003B-DA94-436C-B9A9-016A2938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572000"/>
            <a:ext cx="2438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1" i="0">
                <a:solidFill>
                  <a:srgbClr val="188761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188761"/>
                </a:solidFill>
                <a:latin typeface="Manrope"/>
                <a:ea typeface="Manrope"/>
                <a:cs typeface="Manrope"/>
              </a:rPr>
              <a:t>AGENTS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B60535-1ABF-4304-B241-ACBB01B6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914900"/>
            <a:ext cx="2438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425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Merchant enrollment, guidance, and network growth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57DF31-DAB5-45AE-8E29-11801291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524125"/>
            <a:ext cx="1562100" cy="714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F3B3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ED4AFF-2AA1-4EC4-8D2F-F42CC7442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219575"/>
            <a:ext cx="1562100" cy="10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59A2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342B9C-463F-4FE4-891D-4D4C5FF73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81350"/>
            <a:ext cx="1524000" cy="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A70B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78213A-D5EA-4462-A51B-41FD8BD6C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171950"/>
            <a:ext cx="1524000" cy="800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8876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3A771A-229D-4F7A-A8D2-0EC12881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162550"/>
            <a:ext cx="438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57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The same platform coordinates demand, local supply, delivery, and merchant growth.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789F9E-E186-4967-9A26-25A015DC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75" b="1" i="0">
                <a:solidFill>
                  <a:srgbClr val="8D9295"/>
                </a:solidFill>
                <a:latin typeface="Manrope"/>
                <a:ea typeface="Manrope"/>
                <a:cs typeface="Manrope"/>
              </a:defRPr>
            </a:pPr>
            <a:r>
              <a:rPr sz="975" b="1" i="0">
                <a:solidFill>
                  <a:srgbClr val="8D9295"/>
                </a:solidFill>
                <a:latin typeface="Manrope"/>
                <a:ea typeface="Manrope"/>
                <a:cs typeface="Manrop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629541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E939DA-6252-4B5C-8ACD-60137161A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6BDD48-0023-4AC8-9638-2667558A8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"/>
            <a:ext cx="10591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7000"/>
              </a:lnSpc>
              <a:buNone/>
              <a:defRPr sz="345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345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How value and revenue move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CCE80C-A14E-4667-9F82-DC52DA47F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23950"/>
            <a:ext cx="10591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Pahatud's current transaction mechanics connect revenue to completed marketplace activity.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7583B6-D6FF-45B8-8FDB-553548ECA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42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A97201-C270-4AFD-9A58-06940DCD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79070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210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Customer transaction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7D6554-5D32-4B7D-9D74-43183FB71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790700"/>
            <a:ext cx="3943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The customer pays for products, applies any discount, and pays the calculated delivery fee.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D804A8-BCDD-432B-9109-B4B44DEF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781175"/>
            <a:ext cx="25908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D14F21-5BB3-47B6-87C1-499527379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1914525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125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ORDER VALUE + DELIVERY FEE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070FA0-DC00-4CBC-BC74-0484E5F61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9A2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42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12B1C7-0138-432B-81E3-6955B4E3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14325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210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Merchant commission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3E4938-44DA-409F-8635-FE915CA20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43250"/>
            <a:ext cx="3943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Pahatud records an agreed commission percentage on the eligible product subtotal of delivered orders.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8C2607-EF68-4ED5-8C29-3A91D1DE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33725"/>
            <a:ext cx="25908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95805E-BFDA-4098-9053-E983E4E7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267075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 i="0">
                <a:solidFill>
                  <a:srgbClr val="E59A2F"/>
                </a:solidFill>
                <a:latin typeface="Manrope"/>
                <a:ea typeface="Manrope"/>
                <a:cs typeface="Manrope"/>
              </a:defRPr>
            </a:pPr>
            <a:r>
              <a:rPr sz="1125" b="1" i="0">
                <a:solidFill>
                  <a:srgbClr val="E59A2F"/>
                </a:solidFill>
                <a:latin typeface="Manrope"/>
                <a:ea typeface="Manrope"/>
                <a:cs typeface="Manrope"/>
              </a:rPr>
              <a:t>TRANSACTION-LINKED PLATFORM REVENUE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25FB79-8C01-4843-9C36-55A428D28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876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42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CC08D7-53B8-4FF9-8608-15E5C701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49580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210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Delivery commission and incentives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6115BC-EFEC-4822-807D-CA8BB3C1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495800"/>
            <a:ext cx="3943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The rider workflow records a platform commission on delivery earnings. Qualifying merchant commission can also fund agent incentives.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2741BA-FD78-4BB0-8103-6F5033EE8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486275"/>
            <a:ext cx="25908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E3F4EE-3A79-4467-B0DC-0748E5B85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4619625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 i="0">
                <a:solidFill>
                  <a:srgbClr val="188761"/>
                </a:solidFill>
                <a:latin typeface="Manrope"/>
                <a:ea typeface="Manrope"/>
                <a:cs typeface="Manrope"/>
              </a:defRPr>
            </a:pPr>
            <a:r>
              <a:rPr sz="1125" b="1" i="0">
                <a:solidFill>
                  <a:srgbClr val="188761"/>
                </a:solidFill>
                <a:latin typeface="Manrope"/>
                <a:ea typeface="Manrope"/>
                <a:cs typeface="Manrope"/>
              </a:rPr>
              <a:t>DELIVERY ECONOMICS + NETWORK GROWTH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952446-B956-4BD8-82B4-8FE74C113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48375"/>
            <a:ext cx="1004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 i="1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200" b="0" i="1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Rates are configurable and should be confirmed in commercial agreements. This slide explains the mechanics, not historical financial performance.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593122-748E-4497-B307-C7CD9958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75" b="1" i="0">
                <a:solidFill>
                  <a:srgbClr val="8D9295"/>
                </a:solidFill>
                <a:latin typeface="Manrope"/>
                <a:ea typeface="Manrope"/>
                <a:cs typeface="Manrope"/>
              </a:defRPr>
            </a:pPr>
            <a:r>
              <a:rPr sz="975" b="1" i="0">
                <a:solidFill>
                  <a:srgbClr val="8D9295"/>
                </a:solidFill>
                <a:latin typeface="Manrope"/>
                <a:ea typeface="Manrope"/>
                <a:cs typeface="Manrop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980674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0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0DE7A4-6AFB-43C7-9962-08B2996C0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C73AB6-F1BD-43CD-ABC6-A57B67D7A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"/>
            <a:ext cx="10591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7000"/>
              </a:lnSpc>
              <a:buNone/>
              <a:defRPr sz="345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345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The investor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E2BED0-F6D1-4A38-A5FE-94E0B1EE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23950"/>
            <a:ext cx="10591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The opportunity is to scale a working local marketplace foundation, then prove repeatable demand and healthy unit economics.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B70E58-EB0E-4832-8989-6B550C510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325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2325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What already exists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29E3FB-57A2-4D46-8F29-3A46C22EA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935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125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B6DB03-FEAD-4B4A-B17B-3E50CD5E9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81250"/>
            <a:ext cx="434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202426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202426"/>
                </a:solidFill>
                <a:latin typeface="DM Sans"/>
                <a:ea typeface="DM Sans"/>
                <a:cs typeface="DM Sans"/>
              </a:rPr>
              <a:t>Customer ordering and delivery tracking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90287E-8E91-42FF-A045-B398E95FF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125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4CC8E1-CBCE-494B-868B-F92302216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38475"/>
            <a:ext cx="434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202426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202426"/>
                </a:solidFill>
                <a:latin typeface="DM Sans"/>
                <a:ea typeface="DM Sans"/>
                <a:cs typeface="DM Sans"/>
              </a:rPr>
              <a:t>Merchant onboarding and operations dashboard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E22C0E-D75C-4384-8CC1-73146ACE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125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FFD76E-6AAE-4ED9-92F8-1D1B1527A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95700"/>
            <a:ext cx="434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202426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202426"/>
                </a:solidFill>
                <a:latin typeface="DM Sans"/>
                <a:ea typeface="DM Sans"/>
                <a:cs typeface="DM Sans"/>
              </a:rPr>
              <a:t>Rider onboarding, dispatch, proof, COD, and wallet flows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F0C2C2-CCBE-4370-AADB-B987CCC4E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9102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125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34AE4F-A265-44BD-BAD9-33CCE5C1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52925"/>
            <a:ext cx="434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202426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202426"/>
                </a:solidFill>
                <a:latin typeface="DM Sans"/>
                <a:ea typeface="DM Sans"/>
                <a:cs typeface="DM Sans"/>
              </a:rPr>
              <a:t>Agent-led restaurant acquisition and commission reporting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D3D08B-BADF-485A-902B-C79C27A6D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125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05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62CD55-0407-4C90-B139-0010123A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10150"/>
            <a:ext cx="434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202426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202426"/>
                </a:solidFill>
                <a:latin typeface="DM Sans"/>
                <a:ea typeface="DM Sans"/>
                <a:cs typeface="DM Sans"/>
              </a:rPr>
              <a:t>Food, flower-store, coupon, voucher, and booking capabilities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1E5E94-1B39-4F3B-871E-DD30B4C4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95450"/>
            <a:ext cx="5219700" cy="44196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202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157AB7-0526-4276-B618-6FC240B36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955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32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232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Investment priorities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A76A95-9FFE-4C2A-BFD6-62A69C2B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19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F43A39-0ABA-412A-89A7-91785F77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7622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57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Merchant density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94681C-B29E-4607-AEE1-5C2A6571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762250"/>
            <a:ext cx="2019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D7DADD"/>
                </a:solidFill>
                <a:latin typeface="DM Sans"/>
                <a:ea typeface="DM Sans"/>
                <a:cs typeface="DM Sans"/>
              </a:defRPr>
            </a:pPr>
            <a:r>
              <a:rPr sz="1350" b="0" i="0">
                <a:solidFill>
                  <a:srgbClr val="D7DADD"/>
                </a:solidFill>
                <a:latin typeface="DM Sans"/>
                <a:ea typeface="DM Sans"/>
                <a:cs typeface="DM Sans"/>
              </a:rPr>
              <a:t>Add strong local supply in focused service areas.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20585D-138B-4BE8-B3F0-A334BB3C9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5623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5B789C-96DA-461E-B1B8-3E52C96B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5052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57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Customer frequency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C25A7E-593D-40CF-B3D6-A346736D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505200"/>
            <a:ext cx="2019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D7DADD"/>
                </a:solidFill>
                <a:latin typeface="DM Sans"/>
                <a:ea typeface="DM Sans"/>
                <a:cs typeface="DM Sans"/>
              </a:defRPr>
            </a:pPr>
            <a:r>
              <a:rPr sz="1350" b="0" i="0">
                <a:solidFill>
                  <a:srgbClr val="D7DADD"/>
                </a:solidFill>
                <a:latin typeface="DM Sans"/>
                <a:ea typeface="DM Sans"/>
                <a:cs typeface="DM Sans"/>
              </a:rPr>
              <a:t>Improve repeat ordering, offers, and retention.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20D71A-6250-4167-B05B-3A0EA71F6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3053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02A3E0-0087-4E55-9772-0037CCE62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248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57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Delivery reliability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A6D7CC-A157-46B1-906E-6ABC38A56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248150"/>
            <a:ext cx="2019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D7DADD"/>
                </a:solidFill>
                <a:latin typeface="DM Sans"/>
                <a:ea typeface="DM Sans"/>
                <a:cs typeface="DM Sans"/>
              </a:defRPr>
            </a:pPr>
            <a:r>
              <a:rPr sz="1350" b="0" i="0">
                <a:solidFill>
                  <a:srgbClr val="D7DADD"/>
                </a:solidFill>
                <a:latin typeface="DM Sans"/>
                <a:ea typeface="DM Sans"/>
                <a:cs typeface="DM Sans"/>
              </a:rPr>
              <a:t>Strengthen rider availability, support, and service quality.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87974A-D329-4C9C-A647-7B27362C4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0482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87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29FFC8-B041-41F5-AB33-F3CCEAE9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9911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57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Measurement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2F907B-0C75-40B2-BABC-5BBBC8A46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991100"/>
            <a:ext cx="2019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D7DADD"/>
                </a:solidFill>
                <a:latin typeface="DM Sans"/>
                <a:ea typeface="DM Sans"/>
                <a:cs typeface="DM Sans"/>
              </a:defRPr>
            </a:pPr>
            <a:r>
              <a:rPr sz="1350" b="0" i="0">
                <a:solidFill>
                  <a:srgbClr val="D7DADD"/>
                </a:solidFill>
                <a:latin typeface="DM Sans"/>
                <a:ea typeface="DM Sans"/>
                <a:cs typeface="DM Sans"/>
              </a:rPr>
              <a:t>Track acquisition cost, order frequency, contribution margin, and cohort retention.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97E03E-5ABA-4B0F-8636-56CDC5BB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1982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 i="1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200" b="0" i="1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Investor diligence should add verified traction, financial history, market size, and fundraising terms.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5E3AF4-51F3-4765-9228-7A8D76202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75" b="1" i="0">
                <a:solidFill>
                  <a:srgbClr val="8D9295"/>
                </a:solidFill>
                <a:latin typeface="Manrope"/>
                <a:ea typeface="Manrope"/>
                <a:cs typeface="Manrope"/>
              </a:defRPr>
            </a:pPr>
            <a:r>
              <a:rPr sz="975" b="1" i="0">
                <a:solidFill>
                  <a:srgbClr val="8D9295"/>
                </a:solidFill>
                <a:latin typeface="Manrope"/>
                <a:ea typeface="Manrope"/>
                <a:cs typeface="Manrop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843276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202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93a7a5867f41d7"/>
          <a:srcRect xmlns:a="http://schemas.openxmlformats.org/drawingml/2006/main" l="22222" t="0" r="222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85ADF1-C814-4B0A-A692-0CFA5F62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C">
              <a:alpha val="86667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aa0f7231254e94"/>
          <a:srcRect xmlns:a="http://schemas.openxmlformats.org/drawingml/2006/main" l="0" t="13493" r="0" b="134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523875"/>
            <a:ext cx="2705100" cy="9144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69FC10-A118-4984-A41B-954B8E2C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28800"/>
            <a:ext cx="78486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97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397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Pahatud makes local commerce easier to discover, operate, and deliver.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1A6A24-C8C1-4D60-8D17-95F2819A4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814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 i="0">
                <a:solidFill>
                  <a:srgbClr val="FF7068"/>
                </a:solidFill>
                <a:latin typeface="Manrope"/>
                <a:ea typeface="Manrope"/>
                <a:cs typeface="Manrope"/>
              </a:defRPr>
            </a:pPr>
            <a:r>
              <a:rPr sz="1800" b="1" i="0">
                <a:solidFill>
                  <a:srgbClr val="FF7068"/>
                </a:solidFill>
                <a:latin typeface="Manrope"/>
                <a:ea typeface="Manrope"/>
                <a:cs typeface="Manrope"/>
              </a:rPr>
              <a:t>For customers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7108F2-A625-49DE-A8C9-A8832025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38650"/>
            <a:ext cx="3086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Discover local favorites and order through the PahatudFood app.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77006B-A054-4BBD-BAE0-C68E212D5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9814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 i="0">
                <a:solidFill>
                  <a:srgbClr val="FF7068"/>
                </a:solidFill>
                <a:latin typeface="Manrope"/>
                <a:ea typeface="Manrope"/>
                <a:cs typeface="Manrope"/>
              </a:defRPr>
            </a:pPr>
            <a:r>
              <a:rPr sz="1800" b="1" i="0">
                <a:solidFill>
                  <a:srgbClr val="FF7068"/>
                </a:solidFill>
                <a:latin typeface="Manrope"/>
                <a:ea typeface="Manrope"/>
                <a:cs typeface="Manrope"/>
              </a:rPr>
              <a:t>For partners and investors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BF0322-E172-4DAA-91A8-791831877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38650"/>
            <a:ext cx="3981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Help build a stronger local marketplace with more merchants, reliable delivery, and measurable growth.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7562FC-98B4-4B2D-A889-B2908985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000500"/>
            <a:ext cx="264795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DB5662-7FAD-434E-8960-B4C16ECBF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400550"/>
            <a:ext cx="2152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65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65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www.pahatud.com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65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65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info@pahatud.com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05FD5B-647B-4A27-BB57-3F045132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007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202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Ready, set, delivered.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00BE9E-1670-42EA-BFE6-6406785BA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75" b="1" i="0">
                <a:solidFill>
                  <a:srgbClr val="FFFFFF">
                    <a:alpha val="65098"/>
                  </a:srgbClr>
                </a:solidFill>
                <a:latin typeface="Manrope"/>
                <a:ea typeface="Manrope"/>
                <a:cs typeface="Manrope"/>
              </a:defRPr>
            </a:pPr>
            <a:r>
              <a:rPr sz="975" b="1" i="0">
                <a:solidFill>
                  <a:srgbClr val="FFFFFF">
                    <a:alpha val="65098"/>
                  </a:srgbClr>
                </a:solidFill>
                <a:latin typeface="Manrope"/>
                <a:ea typeface="Manrope"/>
                <a:cs typeface="Manrop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557712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2026-09-29T12:59:07.0900000Z</dcterms:created>
  <dcterms:modified xsi:type="dcterms:W3CDTF">2026-09-29T12:59:07.0900000Z</dcterms:modified>
</coreProperties>
</file>