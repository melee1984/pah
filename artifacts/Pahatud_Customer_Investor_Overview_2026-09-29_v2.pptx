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8ba89ad4c24716" /><Relationship Type="http://schemas.openxmlformats.org/officeDocument/2006/relationships/extended-properties" Target="/docProps/app.xml" Id="R54ed06eefab14f2b" /><Relationship Type="http://schemas.openxmlformats.org/officeDocument/2006/relationships/officeDocument" Target="/ppt/presentation.xml" Id="R21af5fbb526b45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6bd96a01374e61"/>
  </p:sldMasterIdLst>
  <p:notesMasterIdLst>
    <p:notesMasterId xmlns:r="http://schemas.openxmlformats.org/officeDocument/2006/relationships" r:id="R9eda671c9d364e22"/>
  </p:notesMasterIdLst>
  <p:sldIdLst>
    <p:sldId xmlns:r="http://schemas.openxmlformats.org/officeDocument/2006/relationships" id="256" r:id="Refb1c9a01deb4160"/>
    <p:sldId xmlns:r="http://schemas.openxmlformats.org/officeDocument/2006/relationships" id="257" r:id="R1bf80fdd975945eb"/>
    <p:sldId xmlns:r="http://schemas.openxmlformats.org/officeDocument/2006/relationships" id="258" r:id="Re74fc6f55bf04fd1"/>
    <p:sldId xmlns:r="http://schemas.openxmlformats.org/officeDocument/2006/relationships" id="259" r:id="R947e185b49a04147"/>
    <p:sldId xmlns:r="http://schemas.openxmlformats.org/officeDocument/2006/relationships" id="260" r:id="R72df79b671454da3"/>
    <p:sldId xmlns:r="http://schemas.openxmlformats.org/officeDocument/2006/relationships" id="261" r:id="Rab3385c29e894950"/>
    <p:sldId xmlns:r="http://schemas.openxmlformats.org/officeDocument/2006/relationships" id="262" r:id="Rc20b4086d3e14aba"/>
    <p:sldId xmlns:r="http://schemas.openxmlformats.org/officeDocument/2006/relationships" id="263" r:id="Re8d09c255e634d71"/>
    <p:sldId xmlns:r="http://schemas.openxmlformats.org/officeDocument/2006/relationships" id="264" r:id="R640cf6e560614fdf"/>
    <p:sldId xmlns:r="http://schemas.openxmlformats.org/officeDocument/2006/relationships" id="265" r:id="Rc9cd8cdfd2d641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f24e046fa84b38" /><Relationship Type="http://schemas.openxmlformats.org/officeDocument/2006/relationships/slideMaster" Target="/ppt/slideMasters/slideMaster1.xml" Id="R7a6bd96a01374e61" /><Relationship Type="http://schemas.openxmlformats.org/officeDocument/2006/relationships/notesMaster" Target="/ppt/notesMasters/notesMaster1.xml" Id="R9eda671c9d364e22" /><Relationship Type="http://schemas.openxmlformats.org/officeDocument/2006/relationships/presProps" Target="/ppt/presProps.xml" Id="Rf2cb04c91f574d96" /><Relationship Type="http://schemas.openxmlformats.org/officeDocument/2006/relationships/tableStyles" Target="/ppt/tableStyles.xml" Id="R90697a4e15e441a1" /><Relationship Type="http://schemas.openxmlformats.org/officeDocument/2006/relationships/slide" Target="/ppt/slides/slide1.xml" Id="Refb1c9a01deb4160" /><Relationship Type="http://schemas.openxmlformats.org/officeDocument/2006/relationships/slide" Target="/ppt/slides/slide2.xml" Id="R1bf80fdd975945eb" /><Relationship Type="http://schemas.openxmlformats.org/officeDocument/2006/relationships/slide" Target="/ppt/slides/slide3.xml" Id="Re74fc6f55bf04fd1" /><Relationship Type="http://schemas.openxmlformats.org/officeDocument/2006/relationships/slide" Target="/ppt/slides/slide4.xml" Id="R947e185b49a04147" /><Relationship Type="http://schemas.openxmlformats.org/officeDocument/2006/relationships/slide" Target="/ppt/slides/slide5.xml" Id="R72df79b671454da3" /><Relationship Type="http://schemas.openxmlformats.org/officeDocument/2006/relationships/slide" Target="/ppt/slides/slide6.xml" Id="Rab3385c29e894950" /><Relationship Type="http://schemas.openxmlformats.org/officeDocument/2006/relationships/slide" Target="/ppt/slides/slide7.xml" Id="Rc20b4086d3e14aba" /><Relationship Type="http://schemas.openxmlformats.org/officeDocument/2006/relationships/slide" Target="/ppt/slides/slide8.xml" Id="Re8d09c255e634d71" /><Relationship Type="http://schemas.openxmlformats.org/officeDocument/2006/relationships/slide" Target="/ppt/slides/slide9.xml" Id="R640cf6e560614fdf" /><Relationship Type="http://schemas.openxmlformats.org/officeDocument/2006/relationships/slide" Target="/ppt/slides/slide10.xml" Id="Rc9cd8cdfd2d641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427c23f82c4f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f3b82d74fe4cbe" /><Relationship Type="http://schemas.openxmlformats.org/officeDocument/2006/relationships/notesMaster" Target="/ppt/notesMasters/notesMaster1.xml" Id="R36af36c91f8445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a463c556eb475d" /><Relationship Type="http://schemas.openxmlformats.org/officeDocument/2006/relationships/notesMaster" Target="/ppt/notesMasters/notesMaster1.xml" Id="Rb257b21b83a744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004482936947ae" /><Relationship Type="http://schemas.openxmlformats.org/officeDocument/2006/relationships/notesMaster" Target="/ppt/notesMasters/notesMaster1.xml" Id="Ra9237c16dce440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357b46133249c0" /><Relationship Type="http://schemas.openxmlformats.org/officeDocument/2006/relationships/notesMaster" Target="/ppt/notesMasters/notesMaster1.xml" Id="Reffdea60028e43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22180ff9034e6b" /><Relationship Type="http://schemas.openxmlformats.org/officeDocument/2006/relationships/notesMaster" Target="/ppt/notesMasters/notesMaster1.xml" Id="Rd9c9fd6414c244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5f966fd7f3462b" /><Relationship Type="http://schemas.openxmlformats.org/officeDocument/2006/relationships/notesMaster" Target="/ppt/notesMasters/notesMaster1.xml" Id="R34d4eec7f4254e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343c70532a4c36" /><Relationship Type="http://schemas.openxmlformats.org/officeDocument/2006/relationships/notesMaster" Target="/ppt/notesMasters/notesMaster1.xml" Id="Rf0685da7dd7f4a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138e68cc164b0b" /><Relationship Type="http://schemas.openxmlformats.org/officeDocument/2006/relationships/notesMaster" Target="/ppt/notesMasters/notesMaster1.xml" Id="R934140c3c0f4409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3b8d50ef664da5" /><Relationship Type="http://schemas.openxmlformats.org/officeDocument/2006/relationships/notesMaster" Target="/ppt/notesMasters/notesMaster1.xml" Id="Ra775f03991e645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74609901e542c5" /><Relationship Type="http://schemas.openxmlformats.org/officeDocument/2006/relationships/notesMaster" Target="/ppt/notesMasters/notesMaster1.xml" Id="R4f544bb8072d4d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resources/views/pages/about.blade.php and resources/views/pages/home.blade.php. Assets: public/images/logo-big.png, public/images/motor.png, public/images/app-preview/home.png.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resources/views/pages/about.blade.php; resources/views/pages/home.blade.php; AGENTS.md platform summary. Brand image: public/images/pahatud-logo-with-motor.jpg.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resources/views/pages/home.blade.php; routes/api.php checkout coupon routes; app/Http/Controllers/Api/User/Cart/CheckoutController.php. Screenshot: public/images/app-preview/restaurants.png.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routes/web.php restaurant, flower-store, and booking routes; resources/views/pages/flower/view.blade.php; resources/views/pages/booking/view.blade.php; checkout and customer profile routes. Assets are existing Pahatud files under public/uploads and public/images.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resources/views/merchant/partials/documentation.blade.php and merchant routes in routes/web.php. Illustration: public/images/partner-with-us.jpg.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routes/rider.php; app/Services/RiderOfferDispatcher.php; resources/views/agent/dashboard.blade.php; app/Services/AgentCommissionService.php; admin routes in routes/web.php. Screenshot: public/images/app-preview/order-tracking.png.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 synthesized from current customer, merchant, rider, agent, and admin capabilities in routes/web.php, routes/api.php, routes/rider.php, resources/views/pages/home.blade.php, resources/views/merchant/partials/documentation.blade.php, and resources/views/agent/dashboard.blade.php.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app/Services/AgentCommissionService.php; app/Services/RiderCommissionService.php; app/Services/RiderOfferDispatcher.php; app/Model/Cart.php; resources/views/merchant/pages/reports/today.blade.php. No financial totals or forecasts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Current-capability sources: routes/web.php, routes/api.php, routes/rider.php, resources/views/pages/home.blade.php, resources/views/merchant/partials/documentation.blade.php, resources/views/agent/dashboard.blade.php. Growth priorities are strategic opportunities, not promises or forecasts. No traction or financial metrics were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resources/views/pages/about.blade.php, resources/views/pages/home.blade.php, and resources/views/merchant/partials/documentation.blade.php for contact details. Background: public/uploads/user/29/banner/2021-04-10-banner-burgerjoint.jpg. Logo: public/images/logo-big.png.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2ee12e713e4a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6de70977554da8" /><Relationship Type="http://schemas.openxmlformats.org/officeDocument/2006/relationships/slideLayout" Target="/ppt/slideLayouts/slideLayout1.xml" Id="Rb01dc4eb78f04d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1dc4eb78f04d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49c9a4b0b4c51" /><Relationship Type="http://schemas.openxmlformats.org/officeDocument/2006/relationships/image" Target="/ppt/media/image.png" Id="R3a1f5cea9608441b" /><Relationship Type="http://schemas.openxmlformats.org/officeDocument/2006/relationships/image" Target="/ppt/media/image.jpeg" Id="Rcd990cd82d3c4b86" /><Relationship Type="http://schemas.openxmlformats.org/officeDocument/2006/relationships/image" Target="/ppt/media/image2.png" Id="Rfcb15372a28242d8" /><Relationship Type="http://schemas.openxmlformats.org/officeDocument/2006/relationships/notesSlide" Target="/ppt/notesSlides/notesSlide1.xml" Id="R8a6de34dfd9445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f9489dc564fad" /><Relationship Type="http://schemas.openxmlformats.org/officeDocument/2006/relationships/image" Target="/ppt/media/image2.jpeg" Id="R5b933b4609ed4d52" /><Relationship Type="http://schemas.openxmlformats.org/officeDocument/2006/relationships/notesSlide" Target="/ppt/notesSlides/notesSlide2.xml" Id="R9d31f3206ecc4a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48a88c0afe44bd" /><Relationship Type="http://schemas.openxmlformats.org/officeDocument/2006/relationships/image" Target="/ppt/media/image3.png" Id="R76854126afd24694" /><Relationship Type="http://schemas.openxmlformats.org/officeDocument/2006/relationships/notesSlide" Target="/ppt/notesSlides/notesSlide3.xml" Id="R6b9a389dc5a542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f338748004124" /><Relationship Type="http://schemas.openxmlformats.org/officeDocument/2006/relationships/image" Target="/ppt/media/image3.jpeg" Id="Ra5cef4d35afb4c5d" /><Relationship Type="http://schemas.openxmlformats.org/officeDocument/2006/relationships/image" Target="/ppt/media/image4.png" Id="R9d4a4becc3a842f6" /><Relationship Type="http://schemas.openxmlformats.org/officeDocument/2006/relationships/image" Target="/ppt/media/image4.jpeg" Id="Rf3770c7099ac41e3" /><Relationship Type="http://schemas.openxmlformats.org/officeDocument/2006/relationships/notesSlide" Target="/ppt/notesSlides/notesSlide4.xml" Id="R9ac9de44902d4c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ea55379ce458f" /><Relationship Type="http://schemas.openxmlformats.org/officeDocument/2006/relationships/image" Target="/ppt/media/image5.jpeg" Id="Ra4554c98c251464a" /><Relationship Type="http://schemas.openxmlformats.org/officeDocument/2006/relationships/notesSlide" Target="/ppt/notesSlides/notesSlide5.xml" Id="R22f31404f2a943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f534dd6854c70" /><Relationship Type="http://schemas.openxmlformats.org/officeDocument/2006/relationships/image" Target="/ppt/media/image5.png" Id="R7f5d8ecd36e94da9" /><Relationship Type="http://schemas.openxmlformats.org/officeDocument/2006/relationships/notesSlide" Target="/ppt/notesSlides/notesSlide6.xml" Id="R820c4810221243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59896d83b4197" /><Relationship Type="http://schemas.openxmlformats.org/officeDocument/2006/relationships/notesSlide" Target="/ppt/notesSlides/notesSlide7.xml" Id="R6390321a60b148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f6706d30f498c" /><Relationship Type="http://schemas.openxmlformats.org/officeDocument/2006/relationships/notesSlide" Target="/ppt/notesSlides/notesSlide8.xml" Id="R8fb1bf450cd747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143b4f0bd4981" /><Relationship Type="http://schemas.openxmlformats.org/officeDocument/2006/relationships/notesSlide" Target="/ppt/notesSlides/notesSlide9.xml" Id="R768b183f79d34cc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3a60adfc484d9f" /><Relationship Type="http://schemas.openxmlformats.org/officeDocument/2006/relationships/image" Target="/ppt/media/image6.jpeg" Id="R1af19d57a406438a" /><Relationship Type="http://schemas.openxmlformats.org/officeDocument/2006/relationships/image" Target="/ppt/media/image7.jpeg" Id="Rad80bd9b78ee4af4" /><Relationship Type="http://schemas.openxmlformats.org/officeDocument/2006/relationships/notesSlide" Target="/ppt/notesSlides/notesSlide10.xml" Id="Rf7b3f186f21e4f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F3B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EC2288-296D-4ED0-89D1-8123D640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-1600200"/>
            <a:ext cx="7239000" cy="9353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9BFD4B-1133-4C5D-A8AF-893CE554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3850"/>
            <a:ext cx="2857500" cy="6096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1f5cea9608441b"/>
          <a:srcRect xmlns:a="http://schemas.openxmlformats.org/drawingml/2006/main" l="2488" t="0" r="24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86775" y="542925"/>
            <a:ext cx="2419350" cy="5657850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990cd82d3c4b86"/>
          <a:srcRect xmlns:a="http://schemas.openxmlformats.org/drawingml/2006/main" l="0" t="14000" r="0" b="14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495300"/>
            <a:ext cx="2743200" cy="9144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7319E-AEA5-45B3-AFF7-D43FFE1B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6572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7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47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What Pahatud Really 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29675-9F88-42E4-965F-7B586093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59245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2025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A customer and investor overview of Pahatud's local commerce and delivery platform.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b15372a28242d8"/>
          <a:stretch xmlns:a="http://schemas.openxmlformats.org/drawingml/2006/main"/>
        </p:blipFill>
        <p:spPr>
          <a:xfrm xmlns:a="http://schemas.openxmlformats.org/drawingml/2006/main">
            <a:off x="1750911" y="4838700"/>
            <a:ext cx="1889329" cy="15621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E23D72-DDC3-4A16-A766-326B6D23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724525"/>
            <a:ext cx="24193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28575" rIns="1143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 i="0">
                <a:solidFill>
                  <a:srgbClr val="C92D2A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C92D2A"/>
                </a:solidFill>
                <a:latin typeface="Manrope"/>
                <a:ea typeface="Manrope"/>
                <a:cs typeface="Manrope"/>
              </a:rPr>
              <a:t>READY, SET, DELIVERED</a:t>
            </a:r>
          </a:p>
        </p:txBody>
      </p:sp>
    </p:spTree>
    <p:extLst>
      <p:ext uri="{BB962C8B-B14F-4D97-AF65-F5344CB8AC3E}">
        <p14:creationId xmlns:p14="http://schemas.microsoft.com/office/powerpoint/2010/main" val="5010950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E4D576-7E6D-46F2-9870-8A4F4DB1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2FADA-F887-4619-AF31-19290EF1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"/>
            <a:ext cx="6248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7000"/>
              </a:lnSpc>
              <a:buNone/>
              <a:def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A local delivery marketplace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8CAE6-FA42-4849-B441-4BAC23F3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6248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Pahatud connects customers with neighborhood restaurants and merchants, then coordinates the people and tools needed to complete delivery.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E5B5C3-F898-44C6-86D9-82AFA3DC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81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4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24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Pahatud means “to request to deliver.”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E3229-6072-458F-8757-6E27F36A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DD6C39-3C5A-471C-90A4-F08B29FA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71800"/>
            <a:ext cx="521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For customers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C10F6D-7DCC-4D4D-AB0E-C906AFC3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71850"/>
            <a:ext cx="521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Discover local choices, place orders, use discounts, and follow delivery from the mobile experience.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47DE7-03C8-4EB4-A7FE-DFE07B8B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386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 i="0">
                <a:solidFill>
                  <a:srgbClr val="E59A2F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E59A2F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F407BB-FDAB-41DE-8F70-EAF09BE3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00525"/>
            <a:ext cx="521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For local businesses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EB5831-BC85-421D-A536-C633B483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00575"/>
            <a:ext cx="521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Publish products, manage locations and orders, run promotions, and review sales and commission.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DDABC3-C494-4C61-AFB7-96B186EF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 i="0">
                <a:solidFill>
                  <a:srgbClr val="188761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188761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2252B1-9344-4D47-BDCF-39A28C60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429250"/>
            <a:ext cx="521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For the local network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01CA8E-F9EC-4A97-8725-B43117C5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829300"/>
            <a:ext cx="521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Coordinate riders, agents, merchant applications, support, and operational reporting.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216720-30B0-4F16-8078-0C77CF64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2450"/>
            <a:ext cx="4267200" cy="558165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8F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933b4609ed4d52"/>
          <a:srcRect xmlns:a="http://schemas.openxmlformats.org/drawingml/2006/main" l="31" t="0" r="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6650" y="914400"/>
            <a:ext cx="3771900" cy="25146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5E9C7E-EC7C-48D6-9D9C-0073FABC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909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5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Davao-born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13DE66-B718-4203-B8EC-67A54A29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62450"/>
            <a:ext cx="31623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72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Built around the daily needs of Davao customers, restaurants, merchants, riders, and local entrepreneurs.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6545CD-3C4D-4DF1-811B-CE0F8407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333635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53938A-2E1D-46C5-88E1-937DA6F5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FC4E0-EE1F-458F-9922-B439D953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"/>
            <a:ext cx="1059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7000"/>
              </a:lnSpc>
              <a:buNone/>
              <a:def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The customer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8924C6-17DD-4085-8242-75F10C6D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10591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One simple journey from local discovery to delivery at the door.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3A9CDB-697F-4275-8C2E-6A2BFD49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3162300" cy="45910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854126afd24694"/>
          <a:srcRect xmlns:a="http://schemas.openxmlformats.org/drawingml/2006/main" l="0" t="4690" r="0" b="46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6825" y="1838325"/>
            <a:ext cx="2076450" cy="41814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9C4697-B0AC-4D28-A57B-D3FF3D91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85950"/>
            <a:ext cx="5524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94F695-1546-43B2-A3BB-1519707B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86690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Choose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57F58C-B835-490F-AE96-DD738E3D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7642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Browse nearby restaurants and see delivery estimates and fees.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94B4F-C765-4D1B-AB75-D37437B5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95525"/>
            <a:ext cx="0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D8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8FC1BD-EAE4-461C-B47C-67D87C6A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52750"/>
            <a:ext cx="5524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66E71E-CA48-4C0D-AD6F-FE9E563A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93370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Order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3D96E2-3DDC-45F9-B087-E4DAD5CB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4322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Select products, quantities, add-ons, address, and payment method.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11B199-633D-462C-8EE3-D1F13174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362325"/>
            <a:ext cx="0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D8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B79338-D516-468D-B475-F78BEAB2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19550"/>
            <a:ext cx="5524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6269E6-EA6D-4AB4-9A77-80DF02C2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00050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Save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5495E9-95D7-42CF-A330-9C8FC849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1002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Apply available coupon discounts when an order qualifies.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3B5B26-3303-435F-AA26-D047AB6E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429125"/>
            <a:ext cx="0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D8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A83194-1F5E-4645-9F4E-64A06390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086350"/>
            <a:ext cx="5524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876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402D81-1753-4375-98EA-AE4A6224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06730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Track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8B8C25-117F-4E97-9FBB-0C7F6C3E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7682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Follow the order and delivery status until it reaches the customer.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384227-2099-4AFC-AA1A-6E2F0303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962650"/>
            <a:ext cx="662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 i="1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275" b="0" i="1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Convenient cash on delivery is promoted in the current customer experience.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0CA8EE-4FB1-485B-9EC9-A440BE92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505700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F63444-CFDF-4394-A134-F7D85ACD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00674A-C624-4B26-BB49-1915027B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"/>
            <a:ext cx="1059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7000"/>
              </a:lnSpc>
              <a:buNone/>
              <a:def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More than restaurant ordering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74D0E5-9716-4E20-A81D-329512ED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10591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The platform already supports several ways for local customers to request products and delivery.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3842AB-9B36-4B66-AB79-05A35A89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162300" cy="2609850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cef4d35afb4c5d"/>
          <a:srcRect xmlns:a="http://schemas.openxmlformats.org/drawingml/2006/main" l="0" t="9416" r="0" b="94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1790700"/>
            <a:ext cx="2933700" cy="2381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0C8BE-1C89-4CB0-BF45-1DCB1E83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Food and restaurants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DB9988-FDE6-4AAB-A173-53D78D04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Local restaurant discovery, menu ordering, cart, checkout, discounts, and order history.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BFEDEC-7321-4E06-BFFC-8568A12C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76400"/>
            <a:ext cx="3162300" cy="2609850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4a4becc3a842f6"/>
          <a:srcRect xmlns:a="http://schemas.openxmlformats.org/drawingml/2006/main" l="0" t="9416" r="0" b="94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3400" y="1790700"/>
            <a:ext cx="2933700" cy="2381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A03711-3829-47E4-85B8-036AB8C0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5529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Flowers and gifts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77B202-CD9B-4E51-A60B-DCD6B6A3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673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A dedicated flower-store experience supports local florists and same-day delivery offers.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1EDFD4-FF67-4C03-8E82-EF99D57E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76400"/>
            <a:ext cx="3162300" cy="2609850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770c7099ac41e3"/>
          <a:srcRect xmlns:a="http://schemas.openxmlformats.org/drawingml/2006/main" l="0" t="9416" r="0" b="94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86700" y="1790700"/>
            <a:ext cx="2933700" cy="2381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75F763-022B-4CF6-9324-A597898E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529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Delivery requests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5DC164-4CA7-49FF-A53F-8A979556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0673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Booking routes and rider workflows support customer requests beyond standard restaurant orders.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C83BD9-E157-441A-9BE8-054E14E8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454627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0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C37939-50E1-41E5-8EC9-BCAB2A81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477BC-3C71-4986-9739-17BE031D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"/>
            <a:ext cx="10725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7000"/>
              </a:lnSpc>
              <a:buNone/>
              <a:def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A practical operating system for merchants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A52382-1D7D-43D7-9CF3-FBD64514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10725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Pahatud gives restaurants a way to join the marketplace and run daily commerce from one dashboard.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15FD8C-EFEB-4BA1-98C9-5454A0F8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3657600" cy="46291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554c98c251464a"/>
          <a:stretch xmlns:a="http://schemas.openxmlformats.org/drawingml/2006/main"/>
        </p:blipFill>
        <p:spPr>
          <a:xfrm xmlns:a="http://schemas.openxmlformats.org/drawingml/2006/main">
            <a:off x="952500" y="2069967"/>
            <a:ext cx="3124200" cy="380391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42E94-B2AE-4BF7-BA21-57A95D3F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193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47229-3153-4416-8B20-E52690A0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6220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0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Get ready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197E0-F2C3-4355-8CAF-6175AB96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47975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Maintain business profile, branch addresses, contacts, and payout details.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1E21D-1CAC-490E-A91E-D8E2D256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193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EF0E9D-7207-4D93-BA30-1D1F1E41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6220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0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Build the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76558D-2D09-42A1-8A2A-8FFF3D70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47975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Add products, prices, categories, availability, and add-ons.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3F5041-C30A-48C9-BFE1-EC948FE0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14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FE774D-479C-42F0-9448-00D470F1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5770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0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Run orders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616646-0E05-4B54-B759-850C6CD7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43475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Review new orders, prepare items, and follow delivery status.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62A814-06FD-41EA-8918-6664B14A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14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188761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188761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9A23DE-5BB0-472C-BD05-8E8D0206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5770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0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Learn and improve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70BFC7-47EA-4523-8B90-11CF78A5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943475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Review sales, commission, discounts, net amount, vouchers, and coupons.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547BB5-131C-4FEB-AD41-68EAADE3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955465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B8B006-48FA-43F4-888F-E9BB8C79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43C51-B8E4-4992-8CAD-5F058418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"/>
            <a:ext cx="1059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7000"/>
              </a:lnSpc>
              <a:buNone/>
              <a:def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The operating network behind each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476F54-843E-41CF-8E83-3296D809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10591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Riders, agents, and Pahatud operations turn marketplace demand into completed local delivery.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265806-4B4E-4D38-BBCE-1B5F5578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225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Rider operations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3AC77-054C-49C0-A614-EF3D2E40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33718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650" b="0" i="0">
                <a:solidFill>
                  <a:srgbClr val="202426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202426"/>
                </a:solidFill>
                <a:latin typeface="DM Sans"/>
                <a:ea typeface="DM Sans"/>
                <a:cs typeface="DM Sans"/>
              </a:rPr>
              <a:t>Nearby job offers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650" b="0" i="0">
                <a:solidFill>
                  <a:srgbClr val="202426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202426"/>
                </a:solidFill>
                <a:latin typeface="DM Sans"/>
                <a:ea typeface="DM Sans"/>
                <a:cs typeface="DM Sans"/>
              </a:rPr>
              <a:t>Route and delivery events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650" b="0" i="0">
                <a:solidFill>
                  <a:srgbClr val="202426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202426"/>
                </a:solidFill>
                <a:latin typeface="DM Sans"/>
                <a:ea typeface="DM Sans"/>
                <a:cs typeface="DM Sans"/>
              </a:rPr>
              <a:t>Pickup and customer verification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650" b="0" i="0">
                <a:solidFill>
                  <a:srgbClr val="202426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202426"/>
                </a:solidFill>
                <a:latin typeface="DM Sans"/>
                <a:ea typeface="DM Sans"/>
                <a:cs typeface="DM Sans"/>
              </a:rPr>
              <a:t>COD, proof, wallet, and earnings tools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56AB96-05D8-47F3-A896-208313BE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0075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D8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73BFD7-2296-434B-A105-2059BFC4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 i="0">
                <a:solidFill>
                  <a:srgbClr val="188761"/>
                </a:solidFill>
                <a:latin typeface="Manrope"/>
                <a:ea typeface="Manrope"/>
                <a:cs typeface="Manrope"/>
              </a:defRPr>
            </a:pPr>
            <a:r>
              <a:rPr sz="2250" b="1" i="0">
                <a:solidFill>
                  <a:srgbClr val="188761"/>
                </a:solidFill>
                <a:latin typeface="Manrope"/>
                <a:ea typeface="Manrope"/>
                <a:cs typeface="Manrope"/>
              </a:rPr>
              <a:t>Agent growth program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017E1-380E-4266-89A3-56476D85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3505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Agents enroll restaurants, help complete document review, monitor approval, and earn a share of Pahatud's commission on qualifying delivered orders.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1A0C95-E982-4DD8-8BB8-8628D246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62100"/>
            <a:ext cx="3181350" cy="4743450"/>
          </a:xfrm>
          <a:prstGeom xmlns:a="http://schemas.openxmlformats.org/drawingml/2006/main" prst="roundRect">
            <a:avLst>
              <a:gd name="adj" fmla="val 7186"/>
            </a:avLst>
          </a:prstGeom>
          <a:solidFill xmlns:a="http://schemas.openxmlformats.org/drawingml/2006/main">
            <a:srgbClr val="FFF8F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5d8ecd36e94da9"/>
          <a:srcRect xmlns:a="http://schemas.openxmlformats.org/drawingml/2006/main" l="0" t="4801" r="0" b="48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67350" y="1752600"/>
            <a:ext cx="2152650" cy="43243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28C2D1-CADA-4EBF-A3AC-631B6906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38350"/>
            <a:ext cx="2895600" cy="3352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92356D-592B-49ED-A7A1-2DEA9310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00300"/>
            <a:ext cx="2209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3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Pahatud operations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BC09F1-65E9-4980-A50D-AA67A2E7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52800"/>
            <a:ext cx="2209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75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Approves applications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Coordinates support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Monitors orders and bookings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Reviews reports and payouts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639420-5B2D-4E73-A2BB-75BF9596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327041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57B056-9CD5-4A38-80BD-8611B3ED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F18012-1823-435C-B51C-9D0265BA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"/>
            <a:ext cx="1059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7000"/>
              </a:lnSpc>
              <a:buNone/>
              <a:def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A stronger network creates more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559A50-9696-4BAB-9A71-4FD08A0B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10591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More local supply creates more customer choice. More orders create more value for merchants, riders, agents, and Pahatud.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6FEB8-F986-4A41-B53A-E23A34E0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81275"/>
            <a:ext cx="1638300" cy="1638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BF65C-25EC-4CB9-B80D-A3E1E68B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670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PAHATUD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112503-DC38-49F3-A0D0-177A71A3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66900"/>
            <a:ext cx="29337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C29B41-D40C-49B8-A173-C7606ED1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14550"/>
            <a:ext cx="2438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CUSTOMERS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34B627-DD67-47CE-8B0C-4097F636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2438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42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Choice, convenience, discounts, and delivery tracking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937F5-908B-408D-A5B9-7CA5EFD9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29337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86AD2C-AD40-4913-B75F-0EA58D8D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2438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MERCHANTS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AAF067-6B59-4C6C-A642-F6FE2A47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2438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42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Digital storefront, orders, promotions, and reporting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43025D-0744-4B46-864A-4E9B59DE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66900"/>
            <a:ext cx="29337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F2C68F-58AD-4B72-B5DB-302E1DAF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14550"/>
            <a:ext cx="2438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RIDERS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92E58E-2424-477C-98EA-DC86D428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57450"/>
            <a:ext cx="2438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42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Delivery offers, routing, earnings, and service proof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56D88C-6C63-4D4B-B1C7-7440051B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24350"/>
            <a:ext cx="29337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1E932C-39B8-42D0-93C6-615F3814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72000"/>
            <a:ext cx="2438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 i="0">
                <a:solidFill>
                  <a:srgbClr val="188761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188761"/>
                </a:solidFill>
                <a:latin typeface="Manrope"/>
                <a:ea typeface="Manrope"/>
                <a:cs typeface="Manrope"/>
              </a:rPr>
              <a:t>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5C800B-6BB7-4146-B981-07A3BF10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914900"/>
            <a:ext cx="2438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42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Merchant enrollment, guidance, and network growth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E7F767-757F-4386-94EF-949BE24E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24125"/>
            <a:ext cx="1562100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F3B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60A8FB-D9B1-46B6-A277-9B450EBF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219575"/>
            <a:ext cx="156210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59A2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59E31D-B1D1-4E32-8E26-22985229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81350"/>
            <a:ext cx="152400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70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86F6E6-399C-4132-9F83-AB5E21A4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71950"/>
            <a:ext cx="152400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8876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66531C-320C-4E2D-BED1-BF3B311C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6255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5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The same platform coordinates demand, local supply, delivery, and merchant growth.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2E0F63-7F57-4EFB-A20F-D6A2EEB7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521505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42B334-834F-4DC4-AA96-B5ABB30A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60ECF-47E5-47B9-822F-3D333C2B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"/>
            <a:ext cx="1059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7000"/>
              </a:lnSpc>
              <a:buNone/>
              <a:def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How value and revenue move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DF016D-B955-4FD5-905D-E6CB483D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10591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Pahatud's current transaction mechanics connect revenue to completed marketplace activity.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A15825-107F-4D8C-B9EA-EC899EC9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4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3910A-4D6B-4674-B639-C43454F2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7907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Customer transaction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014D1-D554-41F2-8F40-7F88B760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90700"/>
            <a:ext cx="3943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The customer pays for products, applies any discount, and pays the calculated delivery fee.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8DD60D-6709-4597-A407-322827DA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81175"/>
            <a:ext cx="25908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F77048-F9DF-41C0-864B-92DD5886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91452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ORDER VALUE + DELIVERY FEE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84F129-D18F-484B-93AF-E4E1BF02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4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F2EF43-406D-459B-8DE0-9CA9B7A5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4325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Merchant commission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73FB4A-2136-4F95-8FEC-2F26ED90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43250"/>
            <a:ext cx="3943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Pahatud records an agreed commission percentage on the eligible product subtotal of delivered orders.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B79DCD-C956-49A2-AD37-B27D227D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33725"/>
            <a:ext cx="25908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8D889B-BFA2-402A-8E2D-83AEAF5D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2670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 i="0">
                <a:solidFill>
                  <a:srgbClr val="E59A2F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E59A2F"/>
                </a:solidFill>
                <a:latin typeface="Manrope"/>
                <a:ea typeface="Manrope"/>
                <a:cs typeface="Manrope"/>
              </a:rPr>
              <a:t>TRANSACTION-LINKED PLATFORM REVENUE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FA2207-D98D-4315-9AE8-25360248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876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4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826D86-1D4C-45E4-B744-6110461D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958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Delivery commission and incentives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65A336-ED9F-4F38-9102-84C10604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95800"/>
            <a:ext cx="3943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The rider workflow records a platform commission on delivery earnings. Qualifying merchant commission can also fund agent incentives.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3762D7-985B-42C0-A0B9-A3E32285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86275"/>
            <a:ext cx="25908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D40D7C-E266-4130-84B2-119E7A08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61962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 i="0">
                <a:solidFill>
                  <a:srgbClr val="188761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188761"/>
                </a:solidFill>
                <a:latin typeface="Manrope"/>
                <a:ea typeface="Manrope"/>
                <a:cs typeface="Manrope"/>
              </a:rPr>
              <a:t>DELIVERY ECONOMICS + NETWORK GROWTH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553B72-47E4-4E6A-8C8F-1F21A5CC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48375"/>
            <a:ext cx="1004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 i="1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200" b="0" i="1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Rates are configurable and should be confirmed in commercial agreements. This slide explains the mechanics, not historical financial performance.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39B3A6-A974-4B29-82EC-5EFD6252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709551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0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BCB68D-ED0D-408E-951C-E0C15FA4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E2339-225C-40B7-97B3-A5D10BF7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"/>
            <a:ext cx="1059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7000"/>
              </a:lnSpc>
              <a:buNone/>
              <a:def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The investor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28B9B-A046-42E6-9622-72C7FC60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10591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The opportunity is to scale a working local marketplace foundation, then prove repeatable demand and healthy unit economics.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951467-A999-4D64-A528-D18DAFEC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32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232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What already exists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CD296-32CF-4A0F-BA7F-B11A2A5F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764434-E033-4D37-97B7-515BD58D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81250"/>
            <a:ext cx="434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202426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202426"/>
                </a:solidFill>
                <a:latin typeface="DM Sans"/>
                <a:ea typeface="DM Sans"/>
                <a:cs typeface="DM Sans"/>
              </a:rPr>
              <a:t>Customer ordering and delivery tracking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096F1E-1DD6-40D6-9160-F0985CDC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AA95B-5E0A-4474-91BA-560AAB10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38475"/>
            <a:ext cx="434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202426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202426"/>
                </a:solidFill>
                <a:latin typeface="DM Sans"/>
                <a:ea typeface="DM Sans"/>
                <a:cs typeface="DM Sans"/>
              </a:rPr>
              <a:t>Merchant onboarding and operations 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080E79-542F-4294-B511-F4B2F046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AF7DC5-548F-411D-8DE8-7F75A707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95700"/>
            <a:ext cx="434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202426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202426"/>
                </a:solidFill>
                <a:latin typeface="DM Sans"/>
                <a:ea typeface="DM Sans"/>
                <a:cs typeface="DM Sans"/>
              </a:rPr>
              <a:t>Rider onboarding, dispatch, proof, COD, and wallet flows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410A95-9455-45A4-8FBA-68DCD169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10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0C53EF-6FFE-495A-BD96-34F65AE9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52925"/>
            <a:ext cx="434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202426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202426"/>
                </a:solidFill>
                <a:latin typeface="DM Sans"/>
                <a:ea typeface="DM Sans"/>
                <a:cs typeface="DM Sans"/>
              </a:rPr>
              <a:t>Agent-led restaurant acquisition and commission reporting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4AE46D-A038-45E3-B568-23DB7DD8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F71E1C-8568-4C2E-AA95-BE28E23C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10150"/>
            <a:ext cx="434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202426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202426"/>
                </a:solidFill>
                <a:latin typeface="DM Sans"/>
                <a:ea typeface="DM Sans"/>
                <a:cs typeface="DM Sans"/>
              </a:rPr>
              <a:t>Food, flower-store, coupon, voucher, and booking capabilities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CC602E-828F-4EB0-9284-74BD74E2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95450"/>
            <a:ext cx="5219700" cy="44196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202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A9447E-4B46-43DF-A9DE-0EDD97BF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955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3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3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Investment priorities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2AFE4A-9FD7-492D-9172-0487E1F3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19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5C6502-0BAB-4607-84A2-81708EB7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62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57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Merchant density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A2F805-F76A-4A92-B43A-58610E4E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0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D7DADD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D7DADD"/>
                </a:solidFill>
                <a:latin typeface="DM Sans"/>
                <a:ea typeface="DM Sans"/>
                <a:cs typeface="DM Sans"/>
              </a:rPr>
              <a:t>Add strong local supply in focused service areas.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523884-B211-44D4-BBCF-81D74798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62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B17AD4-5733-4334-9ECD-56B98215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052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57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Customer frequency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E646B4-957E-49F6-8DB4-241379EA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05200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D7DADD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D7DADD"/>
                </a:solidFill>
                <a:latin typeface="DM Sans"/>
                <a:ea typeface="DM Sans"/>
                <a:cs typeface="DM Sans"/>
              </a:rPr>
              <a:t>Improve repeat ordering, offers, and retention.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7FF204-4785-4E9D-8554-5E416C95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05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FC7748-AB23-4CA5-A7B2-93C5C31F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48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57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Delivery reliability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1C7558-AC92-4D5D-9937-D11227F4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48150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D7DADD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D7DADD"/>
                </a:solidFill>
                <a:latin typeface="DM Sans"/>
                <a:ea typeface="DM Sans"/>
                <a:cs typeface="DM Sans"/>
              </a:rPr>
              <a:t>Strengthen rider availability, support, and service quality.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CE17C2-925E-4D6B-8392-5A6CEFC7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48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7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0034C3-0451-4A65-ABB3-A30206A3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91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57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Measurement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E9BF48-A105-480F-9337-7AD67F1E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91100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D7DADD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D7DADD"/>
                </a:solidFill>
                <a:latin typeface="DM Sans"/>
                <a:ea typeface="DM Sans"/>
                <a:cs typeface="DM Sans"/>
              </a:rPr>
              <a:t>Track acquisition cost, order frequency, contribution margin, and cohort retention.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E3CF5E-37F7-4614-BBBC-FF8ABB5D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982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 i="1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200" b="0" i="1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Investor diligence should add verified traction, financial history, market size, and fundraising terms.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61BBD5-B333-4BCA-9852-0E463244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205518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02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f19d57a406438a"/>
          <a:srcRect xmlns:a="http://schemas.openxmlformats.org/drawingml/2006/main" l="22222" t="0" r="222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E6E70E-E4AF-4C30-9E91-E57F64E6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C">
              <a:alpha val="86667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80bd9b78ee4af4"/>
          <a:srcRect xmlns:a="http://schemas.openxmlformats.org/drawingml/2006/main" l="0" t="13493" r="0" b="134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523875"/>
            <a:ext cx="2705100" cy="914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9CB491-42A1-44A4-B6DC-4711FBDB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7848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97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397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Pahatud makes local commerce easier to discover, operate, and deliver.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DAE040-5ED0-4348-A29F-CECFA49A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 i="0">
                <a:solidFill>
                  <a:srgbClr val="FF7068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FF7068"/>
                </a:solidFill>
                <a:latin typeface="Manrope"/>
                <a:ea typeface="Manrope"/>
                <a:cs typeface="Manrope"/>
              </a:rPr>
              <a:t>For customers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F139C-64B5-4CBE-9A2B-4565FC23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3086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Discover local favorites and order through the PahatudFood app.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78570D-2A50-477E-B8C9-B9531EC2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814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 i="0">
                <a:solidFill>
                  <a:srgbClr val="FF7068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FF7068"/>
                </a:solidFill>
                <a:latin typeface="Manrope"/>
                <a:ea typeface="Manrope"/>
                <a:cs typeface="Manrope"/>
              </a:rPr>
              <a:t>For partners and investors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2ACB3-BCB5-471F-8CC5-E6B2400A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38650"/>
            <a:ext cx="3981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Help build a stronger local marketplace with more merchants, reliable delivery, and measurable growth.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542056-A2F0-47D6-AF94-04255938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00500"/>
            <a:ext cx="26479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7BAF6A-3234-4EFC-98A8-3CB20A60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00550"/>
            <a:ext cx="2152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6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www.pahatud.com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6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info@pahatud.com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07D3D9-F896-4D5C-8EAB-78CD6A5E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0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Ready, set, delivered.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A4F974-3435-4D03-A71A-2D9E76F9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1" i="0">
                <a:solidFill>
                  <a:srgbClr val="FFFFFF">
                    <a:alpha val="65098"/>
                  </a:srgbClr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FFFFFF">
                    <a:alpha val="65098"/>
                  </a:srgbClr>
                </a:solidFill>
                <a:latin typeface="Manrope"/>
                <a:ea typeface="Manrope"/>
                <a:cs typeface="Manrop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777388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2026-09-29T12:58:23.5000000Z</dcterms:created>
  <dcterms:modified xsi:type="dcterms:W3CDTF">2026-09-29T12:58:23.5000000Z</dcterms:modified>
</coreProperties>
</file>