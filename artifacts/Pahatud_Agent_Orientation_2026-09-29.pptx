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9b0ba6e0244543" /><Relationship Type="http://schemas.openxmlformats.org/officeDocument/2006/relationships/extended-properties" Target="/docProps/app.xml" Id="Ref86e4e7aa7244d9" /><Relationship Type="http://schemas.openxmlformats.org/officeDocument/2006/relationships/officeDocument" Target="/ppt/presentation.xml" Id="R955e5f1ebed844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917bd117a14bf2"/>
  </p:sldMasterIdLst>
  <p:notesMasterIdLst>
    <p:notesMasterId xmlns:r="http://schemas.openxmlformats.org/officeDocument/2006/relationships" r:id="R3de828e02a44405f"/>
  </p:notesMasterIdLst>
  <p:sldIdLst>
    <p:sldId xmlns:r="http://schemas.openxmlformats.org/officeDocument/2006/relationships" id="256" r:id="R08dc9850471b4c30"/>
    <p:sldId xmlns:r="http://schemas.openxmlformats.org/officeDocument/2006/relationships" id="257" r:id="R8b6f8df0b23c449c"/>
    <p:sldId xmlns:r="http://schemas.openxmlformats.org/officeDocument/2006/relationships" id="258" r:id="R00c731587403411e"/>
    <p:sldId xmlns:r="http://schemas.openxmlformats.org/officeDocument/2006/relationships" id="259" r:id="Rf9e9fd28186b4303"/>
    <p:sldId xmlns:r="http://schemas.openxmlformats.org/officeDocument/2006/relationships" id="260" r:id="Rac0138d94b8a4c9b"/>
    <p:sldId xmlns:r="http://schemas.openxmlformats.org/officeDocument/2006/relationships" id="261" r:id="R7d054da83da14d50"/>
    <p:sldId xmlns:r="http://schemas.openxmlformats.org/officeDocument/2006/relationships" id="262" r:id="Rad706a68125a40a0"/>
    <p:sldId xmlns:r="http://schemas.openxmlformats.org/officeDocument/2006/relationships" id="263" r:id="R85420f7b23fa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4f7ac2cd0e48f6" /><Relationship Type="http://schemas.openxmlformats.org/officeDocument/2006/relationships/slideMaster" Target="/ppt/slideMasters/slideMaster1.xml" Id="Rf0917bd117a14bf2" /><Relationship Type="http://schemas.openxmlformats.org/officeDocument/2006/relationships/notesMaster" Target="/ppt/notesMasters/notesMaster1.xml" Id="R3de828e02a44405f" /><Relationship Type="http://schemas.openxmlformats.org/officeDocument/2006/relationships/presProps" Target="/ppt/presProps.xml" Id="Rb87f39eb85d24ba5" /><Relationship Type="http://schemas.openxmlformats.org/officeDocument/2006/relationships/tableStyles" Target="/ppt/tableStyles.xml" Id="R67e063a1db464706" /><Relationship Type="http://schemas.openxmlformats.org/officeDocument/2006/relationships/slide" Target="/ppt/slides/slide1.xml" Id="R08dc9850471b4c30" /><Relationship Type="http://schemas.openxmlformats.org/officeDocument/2006/relationships/slide" Target="/ppt/slides/slide2.xml" Id="R8b6f8df0b23c449c" /><Relationship Type="http://schemas.openxmlformats.org/officeDocument/2006/relationships/slide" Target="/ppt/slides/slide3.xml" Id="R00c731587403411e" /><Relationship Type="http://schemas.openxmlformats.org/officeDocument/2006/relationships/slide" Target="/ppt/slides/slide4.xml" Id="Rf9e9fd28186b4303" /><Relationship Type="http://schemas.openxmlformats.org/officeDocument/2006/relationships/slide" Target="/ppt/slides/slide5.xml" Id="Rac0138d94b8a4c9b" /><Relationship Type="http://schemas.openxmlformats.org/officeDocument/2006/relationships/slide" Target="/ppt/slides/slide6.xml" Id="R7d054da83da14d50" /><Relationship Type="http://schemas.openxmlformats.org/officeDocument/2006/relationships/slide" Target="/ppt/slides/slide7.xml" Id="Rad706a68125a40a0" /><Relationship Type="http://schemas.openxmlformats.org/officeDocument/2006/relationships/slide" Target="/ppt/slides/slide8.xml" Id="R85420f7b23fa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46668c0dc46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691cfd3b0424d" /><Relationship Type="http://schemas.openxmlformats.org/officeDocument/2006/relationships/notesMaster" Target="/ppt/notesMasters/notesMaster1.xml" Id="R2e0fabd2144e45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301848793443b9" /><Relationship Type="http://schemas.openxmlformats.org/officeDocument/2006/relationships/notesMaster" Target="/ppt/notesMasters/notesMaster1.xml" Id="R8ce57d810df1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900ccc285c4922" /><Relationship Type="http://schemas.openxmlformats.org/officeDocument/2006/relationships/notesMaster" Target="/ppt/notesMasters/notesMaster1.xml" Id="Ra64babe8e6eb47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9afc5fd52a4f90" /><Relationship Type="http://schemas.openxmlformats.org/officeDocument/2006/relationships/notesMaster" Target="/ppt/notesMasters/notesMaster1.xml" Id="Re639dd912339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6bbd9fae274f67" /><Relationship Type="http://schemas.openxmlformats.org/officeDocument/2006/relationships/notesMaster" Target="/ppt/notesMasters/notesMaster1.xml" Id="R5b40aa8da94a4e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62235e1f34ce6" /><Relationship Type="http://schemas.openxmlformats.org/officeDocument/2006/relationships/notesMaster" Target="/ppt/notesMasters/notesMaster1.xml" Id="Raa5d834f4a5746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a4d8c875ea470b" /><Relationship Type="http://schemas.openxmlformats.org/officeDocument/2006/relationships/notesMaster" Target="/ppt/notesMasters/notesMaster1.xml" Id="Red432d0327c140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e23d54bea44f76" /><Relationship Type="http://schemas.openxmlformats.org/officeDocument/2006/relationships/notesMaster" Target="/ppt/notesMasters/notesMaster1.xml" Id="R32dbe1286c5347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Program overview based on resources/views/agent/auth/register.blade.php and resources/views/agent/help.blade.php. Food artwork and logo are existing Pahatud assets from public/images.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resources/views/agent/auth/register.blade.php, sections 'How the Agent Program works' and 'What you get as a Pahatud agent'. Illustration: public/images/partner-with-us.jpg.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resources/views/agent/auth/register.blade.php and resources/views/agent/dashboard.blade.php. Marketplace screenshot: public/images/app-preview/restaurants.png. Benefits describe portal features and commission opportunities, not guaranteed income.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app/Http/Controllers/Agent/RegistrationController.php and resources/views/agent/auth/register.blade.php. Required registration fields are name, email, mobile, password, password confirmation, and accepted terms. No application fee is stated on the registration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resources/views/agent/help.blade.php and app/Http/Controllers/Agent/RestaurantController.php. Restaurant logos are existing Pahatud partner assets in public/images/partners.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config/agent.php, resources/views/agent/help.blade.php, and app/Services/AgentCommissionService.php. The table shows the configured agent tiers of 20%, 25%, and 30%. The example starts with a hypothetical ₱200 Pahatud commission so it remains valid when restaurant commission rates vary.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resources/views/agent/dashboard.blade.php, resources/views/agent/reports/index.blade.php, and resources/views/agent/help.blade.php. Marketplace screenshot: public/images/app-preview/home.png. The current portal tracks payout status but does not offer self-service withdrawals.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routes/web.php, resources/views/agent/auth/register.blade.php, and resources/views/agent/help.blade.php. Support email: info@pahatud.com. Illustration: public/images/motor.png.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6a1a297d94f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dc624682ad48ff" /><Relationship Type="http://schemas.openxmlformats.org/officeDocument/2006/relationships/slideLayout" Target="/ppt/slideLayouts/slideLayout1.xml" Id="Rec31ed1aa99d4c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31ed1aa99d4c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9932b08b44f51" /><Relationship Type="http://schemas.openxmlformats.org/officeDocument/2006/relationships/image" Target="/ppt/media/image.png" Id="R91b25f2949304717" /><Relationship Type="http://schemas.openxmlformats.org/officeDocument/2006/relationships/image" Target="/ppt/media/image.jpeg" Id="R3541e798e4c44d1a" /><Relationship Type="http://schemas.openxmlformats.org/officeDocument/2006/relationships/notesSlide" Target="/ppt/notesSlides/notesSlide1.xml" Id="R48b7394142494d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a98b5d95947dd" /><Relationship Type="http://schemas.openxmlformats.org/officeDocument/2006/relationships/image" Target="/ppt/media/image2.jpeg" Id="R2aeedfbf0f8c4151" /><Relationship Type="http://schemas.openxmlformats.org/officeDocument/2006/relationships/notesSlide" Target="/ppt/notesSlides/notesSlide2.xml" Id="Rd93b609e5a6d45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6dbdd737a469c" /><Relationship Type="http://schemas.openxmlformats.org/officeDocument/2006/relationships/image" Target="/ppt/media/image2.png" Id="R6092b7b57d6043e6" /><Relationship Type="http://schemas.openxmlformats.org/officeDocument/2006/relationships/notesSlide" Target="/ppt/notesSlides/notesSlide3.xml" Id="R67aab7030bf9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d09e95e734a14" /><Relationship Type="http://schemas.openxmlformats.org/officeDocument/2006/relationships/notesSlide" Target="/ppt/notesSlides/notesSlide4.xml" Id="Rc9f080aea52f4a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d3fc5813b4d24" /><Relationship Type="http://schemas.openxmlformats.org/officeDocument/2006/relationships/image" Target="/ppt/media/image3.jpeg" Id="R4d0e71baae2948e9" /><Relationship Type="http://schemas.openxmlformats.org/officeDocument/2006/relationships/image" Target="/ppt/media/image4.jpeg" Id="R16b05c53010e4cc9" /><Relationship Type="http://schemas.openxmlformats.org/officeDocument/2006/relationships/image" Target="/ppt/media/image5.jpeg" Id="Rd24bfaeb650f4a78" /><Relationship Type="http://schemas.openxmlformats.org/officeDocument/2006/relationships/notesSlide" Target="/ppt/notesSlides/notesSlide5.xml" Id="R79b0ebc1fd504f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9a48bcfc44afd" /><Relationship Type="http://schemas.openxmlformats.org/officeDocument/2006/relationships/notesSlide" Target="/ppt/notesSlides/notesSlide6.xml" Id="R020e2d1f3b89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c7fdb9adf4c7f" /><Relationship Type="http://schemas.openxmlformats.org/officeDocument/2006/relationships/image" Target="/ppt/media/image3.png" Id="Rae4fd1b08aa84547" /><Relationship Type="http://schemas.openxmlformats.org/officeDocument/2006/relationships/notesSlide" Target="/ppt/notesSlides/notesSlide7.xml" Id="R4fea30f2f44044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8a88569154043" /><Relationship Type="http://schemas.openxmlformats.org/officeDocument/2006/relationships/image" Target="/ppt/media/image6.jpeg" Id="R8f8d4f0886b64ddc" /><Relationship Type="http://schemas.openxmlformats.org/officeDocument/2006/relationships/image" Target="/ppt/media/image4.png" Id="R60077b00965f4958" /><Relationship Type="http://schemas.openxmlformats.org/officeDocument/2006/relationships/notesSlide" Target="/ppt/notesSlides/notesSlide8.xml" Id="Rebc00fda960642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65B2D-F4B0-4572-B55C-DA882738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-819150"/>
            <a:ext cx="6000750" cy="790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5F6DF-4F5D-4D28-B472-9B8635BC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90550"/>
            <a:ext cx="3857625" cy="56578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25f2949304717"/>
          <a:stretch xmlns:a="http://schemas.openxmlformats.org/drawingml/2006/main"/>
        </p:blipFill>
        <p:spPr>
          <a:xfrm xmlns:a="http://schemas.openxmlformats.org/drawingml/2006/main">
            <a:off x="7848600" y="2004212"/>
            <a:ext cx="3400425" cy="28114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089DB-88DC-475A-8B24-2BB7BE1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1e798e4c44d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56197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8A2A9-C3C9-43F1-A25F-16D16C62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6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F9868-F7F8-489D-82A6-2478CAA2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600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Becoming 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1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40ED8-E9DD-4087-BC2F-FCE64A70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025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How the role works, what you earn, and how to get started.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CD4D0-8E18-428B-8E1C-E86C275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00700"/>
            <a:ext cx="30289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28575" rIns="1143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275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SIMPLE AGENT ORIENTATION</a:t>
            </a:r>
          </a:p>
        </p:txBody>
      </p:sp>
    </p:spTree>
    <p:extLst>
      <p:ext uri="{BB962C8B-B14F-4D97-AF65-F5344CB8AC3E}">
        <p14:creationId xmlns:p14="http://schemas.microsoft.com/office/powerpoint/2010/main" val="651701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02696-B7FC-45E2-8D7C-E203592C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22504-0876-48B8-826A-18E2824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The Pahatud agent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9ECCE-13A6-44A4-A2CE-2004B8FF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653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 connect local restaurants to Pahatud and help them complete onboarding.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46121-753B-454F-89EA-679E08B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37F07-D6DC-4125-A7BD-2940B14C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3837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Introduce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7CE30-F9BE-4062-9EB7-17A83EB3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3842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Find restaurants that can benefit from online ordering and delivery.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A3A40-5FA9-4A61-AFE5-24986F9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FAB6A-2327-4821-A185-B6450EFF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549FD-83ED-49AF-B2F3-BB60EB23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7667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Help owners submit restaurant details, documents, and corrections.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1DFB4-B25E-41ED-A5AA-AC78638F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BE2BD-E09D-426A-A4A1-D94490A2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14875"/>
            <a:ext cx="518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Follow progress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8B767-E898-48E5-ACB1-9B84E4F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14925"/>
            <a:ext cx="5181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Track approval and the qualifying orders that create commission.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ADBC5-AA19-48D0-93D6-6089853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"/>
            <a:ext cx="4000500" cy="5905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edfbf0f8c4151"/>
          <a:stretch xmlns:a="http://schemas.openxmlformats.org/drawingml/2006/main"/>
        </p:blipFill>
        <p:spPr>
          <a:xfrm xmlns:a="http://schemas.openxmlformats.org/drawingml/2006/main">
            <a:off x="7715250" y="1399472"/>
            <a:ext cx="3333750" cy="405905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3EDB6-E3D8-4EF6-BEAF-9DD1FBF4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7641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0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BD448C-90CB-49D7-B7D0-173FB600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5F043-043C-4BFA-B1EA-6EA97A24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Benefits of being an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88D1B-9F0F-4D28-A134-6201B511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3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program gives you a clear way to grow a restaurant network and see its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974FC-6145-4FF7-B8E8-E100258E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276600" cy="4495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b7b57d6043e6"/>
          <a:stretch xmlns:a="http://schemas.openxmlformats.org/drawingml/2006/main"/>
        </p:blipFill>
        <p:spPr>
          <a:xfrm xmlns:a="http://schemas.openxmlformats.org/drawingml/2006/main">
            <a:off x="1409700" y="1949450"/>
            <a:ext cx="1828800" cy="4064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D5E6F-93B8-4B5D-AD49-8E6A40D4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B546E-CF25-4228-8669-C2A51C68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Earn from qualifying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2CC66-8B6A-4406-A891-AEB3DE18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Your share starts at 20% of Pahatud's commission and can reach 30% as your approved restaurant network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C352F-4720-40AC-846D-E73B4A63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812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3FD66-6598-45F3-AE4E-2559BE44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24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Build your own restaurant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B14E7-0625-4CAA-B41D-0216C144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9085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Enroll restaurants from the portal and monitor each application's 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1E7B5-CC91-427F-91B5-DF1CB115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7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F40B5F-6235-4A80-BF00-9C281328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See your results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E3DEC-D20C-4898-82BF-83124F7A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Track orders, completed order value, total commission, and monthly commission.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0DA9F-0307-4B05-B23F-E84E4AC1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8778B-4226-467F-A89A-302B1D75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9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Support local businesses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6D551-D5D2-47B3-92D2-67954F15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81600"/>
            <a:ext cx="3000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Help restaurants join the marketplace and connect with delivery customers.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282319-64E1-4B81-8526-310E335F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5430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0F406-8792-4888-9873-2DC8F3D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1587A-57BB-42E1-BA68-29DA4F2A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Agent application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92CD9-AE59-411E-A424-9C503679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Registration is simple, but Pahatud approval is required before portal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BACDC-7F7E-4851-901E-78958BF0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3DCAF-827F-4743-94FE-0CC3BD5F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Open the registration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030D-3D2C-4D3A-9A5F-74FF4C6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Choose the Agent Program registration page on the Pahatud website.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E6288-3FCC-4A9C-8BE6-ECD3FD2C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29089-FBC8-4527-B1BC-CAB3A582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Enter your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EDFC0-A6E3-41CB-9953-3F4EA1D1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Provide your full name, email, mobile number, and a password of at least eight characters.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7E7F8-DFE8-4333-9ABB-88AA016E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CD10-E54C-4D75-86F5-208B9A4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Submit and check email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200A6-116D-4F3D-9DB7-5532BC2E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Accept the program terms and look for the registration confirmation.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D8519-95D9-4D9C-BA05-1FE82F44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838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40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0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68D4E-FBA7-4026-842A-22F66E82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62300"/>
            <a:ext cx="2343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Wait for the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F1BA4-9005-4D35-81BF-5FE2A83A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62400"/>
            <a:ext cx="2343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0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Pahatud emails the approval or decline decision. Approved agents can sign 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29424-AB93-432C-94F8-4742C3A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02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093B7-3C09-4D85-8012-1A6B88CE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10325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 application fee. Account access begins after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B04A67-C979-49DB-B9C8-0C9B9C84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47169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89346B-024D-44EE-9531-6F3EE37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7DEF4-95D3-465E-95AB-609E05CF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Restaurant enrollment and approval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1F032-77A0-4501-BBD9-897ACABA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After your account is approved, your main job is helping restaurants complete the review.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CBB73-6804-45CD-9CDD-C8AECCFD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325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What you submit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E30A9-75AF-42AD-BCCC-1D637DCA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B4583-6694-4FF5-A3A0-2FFF3833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Business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A8E5A-F701-43EF-828D-B7202953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1942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Restaurant name, contacts, address, city, business structure, TIN, and payout details.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961AF-9E9D-4078-BC20-3872977D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59A2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58442-EE32-4437-AEBA-310F0FBE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5762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Required documents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D25F6-1ACA-4EE2-8425-DAE7E59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4324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valid government ID and the correct DTI, SEC, or CDA registration certificate.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B1080-9DA6-4751-8FD6-08721A2F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188761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3CD24-5B6C-49A0-A4B8-2D589E1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95875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Authorization when needed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9ACB3-3DF3-4BF2-8AE1-F0C7A4EF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95925"/>
            <a:ext cx="4324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A representative must include an authorization letter, secretary's certificate, board resolution, or SPA.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5606D-A5CC-462B-BA1E-98A720FE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5067300" cy="4133850"/>
          </a:xfrm>
          <a:prstGeom xmlns:a="http://schemas.openxmlformats.org/drawingml/2006/main" prst="roundRect">
            <a:avLst>
              <a:gd name="adj" fmla="val 55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26B32-7AEB-4379-96FB-EC756476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225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Approval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8C773-9FF4-49F9-B310-9FD8CB8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4171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21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 restaurant counts toward your commission tier only after Pahatud gives final approval.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35CBC-2AC1-4514-B64D-92AFF4CB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57650"/>
            <a:ext cx="4171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57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Missing files may be uploaded later. Approval waits until all required information and documents are complete, approved, and current.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67156-6DA7-4420-8AEB-42A148A9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e71baae2948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66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D1CEE-488E-4FC5-8828-AE4C5B84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05c53010e4c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0E8E3-5B98-462B-B8E4-1705696C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bfaeb650f4a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6400" y="5276850"/>
            <a:ext cx="742950" cy="742950"/>
          </a:xfrm>
          <a:prstGeom xmlns:a="http://schemas.openxmlformats.org/drawingml/2006/main" prst="ellipse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A4E7D9-2CEF-4C95-9238-B537DF2B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6640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1EEDC-9967-4731-98EF-C20D03D6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60764B-1DF7-4E37-8999-80DEC368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1059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Commission tiers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4FFA9-1FCD-415C-8270-80D79E52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1059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C8CDCF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C8CDCF"/>
                </a:solidFill>
                <a:latin typeface="DM Sans"/>
                <a:ea typeface="DM Sans"/>
                <a:cs typeface="DM Sans"/>
              </a:rPr>
              <a:t>Your approved restaurant count sets your share on each new qualifying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13E3A-A94D-452B-970C-654CEE14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7195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9B69B-7A89-402D-9CAD-AB336532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SIMPLE 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117545-2D98-42E8-8767-D2EC2FB0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3333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Pahatud commission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9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× agent tier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9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= agent commission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C1899-8115-46CF-A127-B9CECF0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Example: ₱200 × 20% = ₱40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5429250" y="1924050"/>
          <a:ext xmlns:a="http://schemas.openxmlformats.org/drawingml/2006/main" cx="60579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1581150"/>
                <a:gridCol w="2286000"/>
              </a:tblGrid>
              <a:tr h="66675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02426"/>
                          </a:solidFill>
                          <a:latin typeface="Manrope"/>
                          <a:ea typeface="Manrope"/>
                          <a:cs typeface="Manrope"/>
                        </a:rPr>
                        <a:t>Approved restaurants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02426"/>
                          </a:solidFill>
                          <a:latin typeface="Manrope"/>
                          <a:ea typeface="Manrope"/>
                          <a:cs typeface="Manrope"/>
                        </a:rPr>
                        <a:t>Agent share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02426"/>
                          </a:solidFill>
                          <a:latin typeface="Manrope"/>
                          <a:ea typeface="Manrope"/>
                          <a:cs typeface="Manrope"/>
                        </a:rPr>
                        <a:t>Example from ₱200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0–34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₱40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35–49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25%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₱50</a:t>
                      </a:r>
                    </a:p>
                  </a:txBody>
                  <a:tcPr marL="91440" marR="91440" marT="45720" marB="45720" anchor="ctr">
                    <a:solidFill>
                      <a:srgbClr val="292F32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50 or more</a:t>
                      </a:r>
                    </a:p>
                  </a:txBody>
                  <a:tcPr marL="91440" marR="91440" marT="45720" marB="45720" anchor="ctr">
                    <a:solidFill>
                      <a:srgbClr val="31383B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8A84"/>
                          </a:solidFill>
                          <a:latin typeface="DM Sans"/>
                          <a:ea typeface="DM Sans"/>
                          <a:cs typeface="DM Sans"/>
                        </a:rPr>
                        <a:t>30%</a:t>
                      </a:r>
                    </a:p>
                  </a:txBody>
                  <a:tcPr marL="91440" marR="91440" marT="45720" marB="45720" anchor="ctr">
                    <a:solidFill>
                      <a:srgbClr val="31383B"/>
                    </a:solidFill>
                  </a:tcPr>
                </a:tc>
                <a:tc>
                  <a:txBody>
                    <a:bodyPr wrap="square" lIns="95250" tIns="76200" rIns="95250" bIns="762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8A84"/>
                          </a:solidFill>
                          <a:latin typeface="DM Sans"/>
                          <a:ea typeface="DM Sans"/>
                          <a:cs typeface="DM Sans"/>
                        </a:rPr>
                        <a:t>₱60</a:t>
                      </a:r>
                    </a:p>
                  </a:txBody>
                  <a:tcPr marL="91440" marR="91440" marT="45720" marB="45720" anchor="ctr">
                    <a:solidFill>
                      <a:srgbClr val="31383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EE589-1329-4D80-B010-1C22D281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8A84"/>
                </a:solidFill>
                <a:latin typeface="Manrope"/>
                <a:ea typeface="Manrope"/>
                <a:cs typeface="Manrope"/>
              </a:defRPr>
            </a:pPr>
            <a:r>
              <a:rPr sz="1425" b="1" i="0">
                <a:solidFill>
                  <a:srgbClr val="FF8A84"/>
                </a:solidFill>
                <a:latin typeface="Manrope"/>
                <a:ea typeface="Manrope"/>
                <a:cs typeface="Manrope"/>
              </a:rPr>
              <a:t>Important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46FE9-4611-4CAC-A2B0-65159F5B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81650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C8CDCF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C8CDCF"/>
                </a:solidFill>
                <a:latin typeface="DM Sans"/>
                <a:ea typeface="DM Sans"/>
                <a:cs typeface="DM Sans"/>
              </a:rPr>
              <a:t>Only Approved restaurants count. New tiers apply to future qualifying orders. Delivery fees are excluded, and cancelled, refunded, failed, or reversed orders do not earn commission.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BD317-FF49-4EA8-8F2C-662207FC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3671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91818-95E9-4826-B405-58F3BE38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3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F0E36-1C88-440E-8B76-16201B4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"/>
            <a:ext cx="758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36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What the Agent Dashboard tracks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81DDB-2CA3-43AC-B75E-5CCDC87F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725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Your portal connects restaurant progress, order activity, and commission reporting.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91549-04E1-46DB-8275-903BBA3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Approved restaurants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F78A2-29C7-4FF4-B1D0-C45BE402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Partners currently counted toward your 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3F38D-965B-4E51-9444-EB8557C7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5262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Current commission share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7E422-E429-4194-9CA9-DFFD7C7B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6222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The tier rate used for new qualifying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8A43A-507E-48D3-86E3-4934023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Orders generated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5F3D9-CD9D-4751-99ED-5E432745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Orders connected to your restaurant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D49A4-9145-4B94-B705-6FACD98B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Completed order 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507E0-1FF4-459D-9514-330F59FF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433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Delivered order value recorded by the platform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FAC2F-44E7-4F3A-A53E-F7F3D4FC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Total commission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82A810-A4F6-49FB-A8A7-7D559915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Earned commission across qualifying 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D0422-A0A0-4E5A-9394-0BDAA18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714875"/>
            <a:ext cx="2724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8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This month's commission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3F6AD-EA6E-4A56-8063-F80A618A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24475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defRPr>
            </a:pPr>
            <a:r>
              <a:rPr sz="1350" b="0" i="0">
                <a:solidFill>
                  <a:srgbClr val="62696D"/>
                </a:solidFill>
                <a:latin typeface="DM Sans"/>
                <a:ea typeface="DM Sans"/>
                <a:cs typeface="DM Sans"/>
              </a:rPr>
              <a:t>Commission activity for the current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A53BC-3E2D-45C1-9AC0-96DF0574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85800"/>
            <a:ext cx="4191000" cy="5524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fd1b08aa84547"/>
          <a:stretch xmlns:a="http://schemas.openxmlformats.org/drawingml/2006/main"/>
        </p:blipFill>
        <p:spPr>
          <a:xfrm xmlns:a="http://schemas.openxmlformats.org/drawingml/2006/main">
            <a:off x="8274844" y="8763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3A1748-DBA4-4BCB-8D27-2FBF092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72125"/>
            <a:ext cx="331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 i="0">
                <a:solidFill>
                  <a:srgbClr val="C92D2A"/>
                </a:solidFill>
                <a:latin typeface="Manrope"/>
                <a:ea typeface="Manrope"/>
                <a:cs typeface="Manrope"/>
              </a:defRPr>
            </a:pPr>
            <a:r>
              <a:rPr sz="1350" b="1" i="0">
                <a:solidFill>
                  <a:srgbClr val="C92D2A"/>
                </a:solidFill>
                <a:latin typeface="Manrope"/>
                <a:ea typeface="Manrope"/>
                <a:cs typeface="Manrope"/>
              </a:rPr>
              <a:t>Reports show pending, approved, paid, and reversed entries. Pahatud operations coordinates approved payouts.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2DDAF-DE1A-4744-910D-CF58DC42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8D9295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3232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F3B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54302-5C6D-4026-993F-94E48BB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-266700"/>
            <a:ext cx="6286500" cy="7391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5336-B929-400A-BBB5-E97C9EB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04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d4f0886b64dd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" y="581025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6F4B65-473F-4E42-8694-04451157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Your first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26E1D-D025-4576-8012-D6085E7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1E40C-0C6A-4152-98F2-9948BAAD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Open the Pahatud Agent Program registration page.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D2A0F-481B-4E6F-BBB0-4E8D8D82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60797-1BDE-48EB-986A-FC969191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Submit your details and wait for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3071E1-B5F3-4FF8-937C-D7792B52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42C6B-E744-4E56-8C06-73F04265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9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Sign in and enroll your first restaurant.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0E26E-367B-4931-BCA5-BFF77509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42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defRPr>
            </a:pPr>
            <a:r>
              <a:rPr sz="1500" b="1" i="0">
                <a:solidFill>
                  <a:srgbClr val="EF3B35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05950-E635-4AB1-87CA-A5863A9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6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Check restaurant status and commission reports regularly.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C8876-5C1B-40F2-8813-9B593063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Agent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29EBB-17DA-4C6F-93DF-A7ADB1C2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769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 i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info@pahatud.com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77b00965f4958"/>
          <a:stretch xmlns:a="http://schemas.openxmlformats.org/drawingml/2006/main"/>
        </p:blipFill>
        <p:spPr>
          <a:xfrm xmlns:a="http://schemas.openxmlformats.org/drawingml/2006/main">
            <a:off x="7524750" y="1681963"/>
            <a:ext cx="4133850" cy="341787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29F1A-8E45-4D48-BD35-E9D5B22A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197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defRPr>
            </a:pPr>
            <a:r>
              <a:rPr sz="1650" b="1" i="0">
                <a:solidFill>
                  <a:srgbClr val="202426"/>
                </a:solidFill>
                <a:latin typeface="Manrope"/>
                <a:ea typeface="Manrope"/>
                <a:cs typeface="Manrope"/>
              </a:rPr>
              <a:t>Approval comes first. Earnings begin only after qualifying delivered orders from approved restaurants.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50B21-464E-4857-ACDC-FEF3620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defRPr>
            </a:pPr>
            <a:r>
              <a:rPr sz="1050" b="1" i="0">
                <a:solidFill>
                  <a:srgbClr val="FFFFFF">
                    <a:alpha val="60000"/>
                  </a:srgbClr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8311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2026-09-29T08:17:17.7050000Z</dcterms:created>
  <dcterms:modified xsi:type="dcterms:W3CDTF">2026-09-29T08:17:17.7050000Z</dcterms:modified>
</coreProperties>
</file>